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workshop-added/ppt/slideMasters/slideMaster1.xml" ContentType="application/vnd.openxmlformats-officedocument.presentationml.slideMaster+xml"/>
  <Override PartName="/ppt/workshop-added/ppt/slideMasters/theme/theme2.xml" ContentType="application/vnd.openxmlformats-officedocument.theme+xml"/>
  <Override PartName="/ppt/workshop-added/ppt/slideLayouts/slideLayout1.xml" ContentType="application/vnd.openxmlformats-officedocument.presentationml.slideLayout+xml"/>
  <Override PartName="/ppt/workshop-added/ppt/slideLayouts/slideLayout2.xml" ContentType="application/vnd.openxmlformats-officedocument.presentationml.slideLayout+xml"/>
  <Override PartName="/ppt/workshop-added/ppt/slideLayouts/slideLayout3.xml" ContentType="application/vnd.openxmlformats-officedocument.presentationml.slideLayout+xml"/>
  <Override PartName="/ppt/workshop-added/ppt/slideLayouts/slideLayout4.xml" ContentType="application/vnd.openxmlformats-officedocument.presentationml.slideLayout+xml"/>
  <Override PartName="/ppt/workshop-added/ppt/slideLayouts/slideLayout5.xml" ContentType="application/vnd.openxmlformats-officedocument.presentationml.slideLayout+xml"/>
  <Override PartName="/ppt/workshop-added/ppt/slideLayouts/slideLayout6.xml" ContentType="application/vnd.openxmlformats-officedocument.presentationml.slideLayout+xml"/>
  <Override PartName="/ppt/workshop-added/ppt/slideLayouts/slideLayout7.xml" ContentType="application/vnd.openxmlformats-officedocument.presentationml.slideLayout+xml"/>
  <Override PartName="/ppt/workshop-added/ppt/slideLayouts/slideLayout8.xml" ContentType="application/vnd.openxmlformats-officedocument.presentationml.slideLayout+xml"/>
  <Override PartName="/ppt/workshop-added/ppt/slideLayouts/slideLayout9.xml" ContentType="application/vnd.openxmlformats-officedocument.presentationml.slideLayout+xml"/>
  <Override PartName="/ppt/workshop-added/ppt/slideLayouts/slideLayout10.xml" ContentType="application/vnd.openxmlformats-officedocument.presentationml.slideLayout+xml"/>
  <Override PartName="/ppt/workshop-added/ppt/notesMasters/notesMaster1.xml" ContentType="application/vnd.openxmlformats-officedocument.presentationml.notesMaster+xml"/>
  <Override PartName="/ppt/workshop-added/ppt/notesMasters/theme/theme3.xml" ContentType="application/vnd.openxmlformats-officedocument.theme+xml"/>
  <Override PartName="/ppt/slides/slide16.xml" ContentType="application/vnd.openxmlformats-officedocument.presentationml.slide+xml"/>
  <Override PartName="/ppt/workshop-added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workshop-added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workshop-added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workshop-added/ppt/notesSlides/notesSlide4.xml" ContentType="application/vnd.openxmlformats-officedocument.presentationml.notesSlide+xml"/>
  <Override PartName="/ppt/slides/slide20.xml" ContentType="application/vnd.openxmlformats-officedocument.presentationml.slide+xml"/>
  <Override PartName="/ppt/workshop-added/ppt/notesSlides/notesSlide5.xml" ContentType="application/vnd.openxmlformats-officedocument.presentationml.notesSlide+xml"/>
  <Override PartName="/ppt/slides/slide21.xml" ContentType="application/vnd.openxmlformats-officedocument.presentationml.slide+xml"/>
  <Override PartName="/ppt/workshop-added/ppt/notesSlides/notesSlide6.xml" ContentType="application/vnd.openxmlformats-officedocument.presentationml.notesSlide+xml"/>
  <Override PartName="/ppt/slides/slide22.xml" ContentType="application/vnd.openxmlformats-officedocument.presentationml.slide+xml"/>
  <Override PartName="/ppt/workshop-added/ppt/notesSlides/notesSlide7.xml" ContentType="application/vnd.openxmlformats-officedocument.presentationml.notesSlide+xml"/>
  <Override PartName="/ppt/slides/slide23.xml" ContentType="application/vnd.openxmlformats-officedocument.presentationml.slide+xml"/>
  <Override PartName="/ppt/workshop-added/ppt/notesSlides/notesSlide8.xml" ContentType="application/vnd.openxmlformats-officedocument.presentationml.notesSlide+xml"/>
  <Override PartName="/ppt/slides/slide24.xml" ContentType="application/vnd.openxmlformats-officedocument.presentationml.slide+xml"/>
  <Override PartName="/ppt/workshop-added/ppt/notesSlides/notesSlide9.xml" ContentType="application/vnd.openxmlformats-officedocument.presentationml.notesSlide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4"/>
  </p:sldMasterIdLst>
  <p:notesMasterIdLst>
    <p:notesMasterId r:id="rId20"/>
  </p:notesMasterIdLst>
  <p:sldIdLst>
    <p:sldId id="256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3" r:id="rId15"/>
    <p:sldId id="264" r:id="rId16"/>
    <p:sldId id="269" r:id="rId17"/>
    <p:sldId id="270" r:id="rId18"/>
    <p:sldId id="271" r:id="rId19"/>
    <p:sldId id="272" r:id="rIdWorkshopAppend1"/>
    <p:sldId id="273" r:id="rIdWorkshopAppend2"/>
    <p:sldId id="274" r:id="rIdWorkshopAppend3"/>
    <p:sldId id="275" r:id="rIdWorkshopAppend4"/>
    <p:sldId id="276" r:id="rIdWorkshopAppend5"/>
    <p:sldId id="277" r:id="rIdWorkshopAppend6"/>
    <p:sldId id="278" r:id="rIdWorkshopAppend7"/>
    <p:sldId id="279" r:id="rIdWorkshopAppend8"/>
    <p:sldId id="280" r:id="rIdWorkshopAppend9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4123" autoAdjust="0"/>
  </p:normalViewPr>
  <p:slideViewPr>
    <p:cSldViewPr snapToGrid="0">
      <p:cViewPr varScale="1">
        <p:scale>
          <a:sx n="59" d="100"/>
          <a:sy n="59" d="100"/>
        </p:scale>
        <p:origin x="87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4.xml" /><ns0:Relationship Id="rId13" Type="http://schemas.openxmlformats.org/officeDocument/2006/relationships/slide" Target="slides/slide9.xml" /><ns0:Relationship Id="rId18" Type="http://schemas.openxmlformats.org/officeDocument/2006/relationships/slide" Target="slides/slide14.xml" /><ns0:Relationship Id="rId3" Type="http://schemas.openxmlformats.org/officeDocument/2006/relationships/customXml" Target="customXml/item3.xml" /><ns0:Relationship Id="rId21" Type="http://schemas.openxmlformats.org/officeDocument/2006/relationships/presProps" Target="presProps.xml" /><ns0:Relationship Id="rId7" Type="http://schemas.openxmlformats.org/officeDocument/2006/relationships/slide" Target="slides/slide3.xml" /><ns0:Relationship Id="rId12" Type="http://schemas.openxmlformats.org/officeDocument/2006/relationships/slide" Target="slides/slide8.xml" /><ns0:Relationship Id="rId17" Type="http://schemas.openxmlformats.org/officeDocument/2006/relationships/slide" Target="slides/slide13.xml" /><ns0:Relationship Id="rId25" Type="http://schemas.microsoft.com/office/2016/11/relationships/changesInfo" Target="changesInfos/changesInfo1.xml" /><ns0:Relationship Id="rId2" Type="http://schemas.openxmlformats.org/officeDocument/2006/relationships/customXml" Target="customXml/item2.xml" /><ns0:Relationship Id="rId16" Type="http://schemas.openxmlformats.org/officeDocument/2006/relationships/slide" Target="slides/slide12.xml" /><ns0:Relationship Id="rId20" Type="http://schemas.openxmlformats.org/officeDocument/2006/relationships/notesMaster" Target="notesMasters/notesMaster1.xml" /><ns0:Relationship Id="rId1" Type="http://schemas.openxmlformats.org/officeDocument/2006/relationships/customXml" Target="customXml/item1.xml" /><ns0:Relationship Id="rId6" Type="http://schemas.openxmlformats.org/officeDocument/2006/relationships/slide" Target="slides/slide2.xml" /><ns0:Relationship Id="rId11" Type="http://schemas.openxmlformats.org/officeDocument/2006/relationships/slide" Target="slides/slide7.xml" /><ns0:Relationship Id="rId24" Type="http://schemas.openxmlformats.org/officeDocument/2006/relationships/tableStyles" Target="tableStyles.xml" /><ns0:Relationship Id="rId5" Type="http://schemas.openxmlformats.org/officeDocument/2006/relationships/slide" Target="slides/slide1.xml" /><ns0:Relationship Id="rId15" Type="http://schemas.openxmlformats.org/officeDocument/2006/relationships/slide" Target="slides/slide11.xml" /><ns0:Relationship Id="rId23" Type="http://schemas.openxmlformats.org/officeDocument/2006/relationships/theme" Target="theme/theme1.xml" /><ns0:Relationship Id="rId10" Type="http://schemas.openxmlformats.org/officeDocument/2006/relationships/slide" Target="slides/slide6.xml" /><ns0:Relationship Id="rId19" Type="http://schemas.openxmlformats.org/officeDocument/2006/relationships/slide" Target="slides/slide15.xml" /><ns0:Relationship Id="rId4" Type="http://schemas.openxmlformats.org/officeDocument/2006/relationships/slideMaster" Target="slideMasters/slideMaster1.xml" /><ns0:Relationship Id="rId9" Type="http://schemas.openxmlformats.org/officeDocument/2006/relationships/slide" Target="slides/slide5.xml" /><ns0:Relationship Id="rId14" Type="http://schemas.openxmlformats.org/officeDocument/2006/relationships/slide" Target="slides/slide10.xml" /><ns0:Relationship Id="rId22" Type="http://schemas.openxmlformats.org/officeDocument/2006/relationships/viewProps" Target="viewProps.xml" /><ns0:Relationship Id="rIdWorkshopAppend1" Type="http://schemas.openxmlformats.org/officeDocument/2006/relationships/slide" Target="slides/slide16.xml" /><ns0:Relationship Id="rIdWorkshopAppend2" Type="http://schemas.openxmlformats.org/officeDocument/2006/relationships/slide" Target="slides/slide17.xml" /><ns0:Relationship Id="rIdWorkshopAppend3" Type="http://schemas.openxmlformats.org/officeDocument/2006/relationships/slide" Target="slides/slide18.xml" /><ns0:Relationship Id="rIdWorkshopAppend4" Type="http://schemas.openxmlformats.org/officeDocument/2006/relationships/slide" Target="slides/slide19.xml" /><ns0:Relationship Id="rIdWorkshopAppend5" Type="http://schemas.openxmlformats.org/officeDocument/2006/relationships/slide" Target="slides/slide20.xml" /><ns0:Relationship Id="rIdWorkshopAppend6" Type="http://schemas.openxmlformats.org/officeDocument/2006/relationships/slide" Target="slides/slide21.xml" /><ns0:Relationship Id="rIdWorkshopAppend7" Type="http://schemas.openxmlformats.org/officeDocument/2006/relationships/slide" Target="slides/slide22.xml" /><ns0:Relationship Id="rIdWorkshopAppend8" Type="http://schemas.openxmlformats.org/officeDocument/2006/relationships/slide" Target="slides/slide23.xml" /><ns0:Relationship Id="rIdWorkshopAppend9" Type="http://schemas.openxmlformats.org/officeDocument/2006/relationships/slide" Target="slides/slide24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ZHANG CHENGXUAN#" userId="bc09c046-22b4-4d2e-bb5d-e10b71ffa20e" providerId="ADAL" clId="{07C073B6-2437-4798-992A-9745D913CA01}"/>
    <pc:docChg chg="undo custSel addSld modSld">
      <pc:chgData name="#ZHANG CHENGXUAN#" userId="bc09c046-22b4-4d2e-bb5d-e10b71ffa20e" providerId="ADAL" clId="{07C073B6-2437-4798-992A-9745D913CA01}" dt="2024-09-11T05:10:06.658" v="266" actId="1076"/>
      <pc:docMkLst>
        <pc:docMk/>
      </pc:docMkLst>
      <pc:sldChg chg="modSp mod">
        <pc:chgData name="#ZHANG CHENGXUAN#" userId="bc09c046-22b4-4d2e-bb5d-e10b71ffa20e" providerId="ADAL" clId="{07C073B6-2437-4798-992A-9745D913CA01}" dt="2024-09-11T04:33:11.089" v="254" actId="20577"/>
        <pc:sldMkLst>
          <pc:docMk/>
          <pc:sldMk cId="1599667737" sldId="256"/>
        </pc:sldMkLst>
      </pc:sldChg>
      <pc:sldChg chg="addSp modSp mod">
        <pc:chgData name="#ZHANG CHENGXUAN#" userId="bc09c046-22b4-4d2e-bb5d-e10b71ffa20e" providerId="ADAL" clId="{07C073B6-2437-4798-992A-9745D913CA01}" dt="2024-09-10T12:16:45.103" v="50" actId="207"/>
        <pc:sldMkLst>
          <pc:docMk/>
          <pc:sldMk cId="576385593" sldId="258"/>
        </pc:sldMkLst>
      </pc:sldChg>
      <pc:sldChg chg="modSp mod">
        <pc:chgData name="#ZHANG CHENGXUAN#" userId="bc09c046-22b4-4d2e-bb5d-e10b71ffa20e" providerId="ADAL" clId="{07C073B6-2437-4798-992A-9745D913CA01}" dt="2024-09-11T04:08:55.817" v="231" actId="207"/>
        <pc:sldMkLst>
          <pc:docMk/>
          <pc:sldMk cId="1945024787" sldId="259"/>
        </pc:sldMkLst>
      </pc:sldChg>
      <pc:sldChg chg="modSp mod">
        <pc:chgData name="#ZHANG CHENGXUAN#" userId="bc09c046-22b4-4d2e-bb5d-e10b71ffa20e" providerId="ADAL" clId="{07C073B6-2437-4798-992A-9745D913CA01}" dt="2024-09-11T03:54:33.990" v="130" actId="113"/>
        <pc:sldMkLst>
          <pc:docMk/>
          <pc:sldMk cId="1229921070" sldId="261"/>
        </pc:sldMkLst>
      </pc:sldChg>
      <pc:sldChg chg="modSp mod">
        <pc:chgData name="#ZHANG CHENGXUAN#" userId="bc09c046-22b4-4d2e-bb5d-e10b71ffa20e" providerId="ADAL" clId="{07C073B6-2437-4798-992A-9745D913CA01}" dt="2024-09-11T05:10:06.658" v="266" actId="1076"/>
        <pc:sldMkLst>
          <pc:docMk/>
          <pc:sldMk cId="1042723948" sldId="266"/>
        </pc:sldMkLst>
      </pc:sldChg>
      <pc:sldChg chg="modSp mod">
        <pc:chgData name="#ZHANG CHENGXUAN#" userId="bc09c046-22b4-4d2e-bb5d-e10b71ffa20e" providerId="ADAL" clId="{07C073B6-2437-4798-992A-9745D913CA01}" dt="2024-09-11T04:03:37.064" v="190" actId="14100"/>
        <pc:sldMkLst>
          <pc:docMk/>
          <pc:sldMk cId="2749053784" sldId="269"/>
        </pc:sldMkLst>
      </pc:sldChg>
      <pc:sldChg chg="addSp delSp modSp mod">
        <pc:chgData name="#ZHANG CHENGXUAN#" userId="bc09c046-22b4-4d2e-bb5d-e10b71ffa20e" providerId="ADAL" clId="{07C073B6-2437-4798-992A-9745D913CA01}" dt="2024-09-11T04:01:45.496" v="184" actId="14100"/>
        <pc:sldMkLst>
          <pc:docMk/>
          <pc:sldMk cId="301043402" sldId="270"/>
        </pc:sldMkLst>
      </pc:sldChg>
      <pc:sldChg chg="addSp modSp new mod modClrScheme chgLayout">
        <pc:chgData name="#ZHANG CHENGXUAN#" userId="bc09c046-22b4-4d2e-bb5d-e10b71ffa20e" providerId="ADAL" clId="{07C073B6-2437-4798-992A-9745D913CA01}" dt="2024-09-11T04:02:24.800" v="185"/>
        <pc:sldMkLst>
          <pc:docMk/>
          <pc:sldMk cId="529834362" sldId="271"/>
        </pc:sldMkLst>
      </pc:sldChg>
    </pc:docChg>
  </pc:docChgLst>
  <pc:docChgLst>
    <pc:chgData name="#ZHANG CHENGXUAN#" userId="bc09c046-22b4-4d2e-bb5d-e10b71ffa20e" providerId="ADAL" clId="{355F6660-3A34-47E1-BE24-B2360CED9125}"/>
    <pc:docChg chg="modSld">
      <pc:chgData name="#ZHANG CHENGXUAN#" userId="bc09c046-22b4-4d2e-bb5d-e10b71ffa20e" providerId="ADAL" clId="{355F6660-3A34-47E1-BE24-B2360CED9125}" dt="2025-09-10T03:56:16.591" v="3" actId="20577"/>
      <pc:docMkLst>
        <pc:docMk/>
      </pc:docMkLst>
      <pc:sldChg chg="modSp mod">
        <pc:chgData name="#ZHANG CHENGXUAN#" userId="bc09c046-22b4-4d2e-bb5d-e10b71ffa20e" providerId="ADAL" clId="{355F6660-3A34-47E1-BE24-B2360CED9125}" dt="2025-09-10T03:56:16.591" v="3" actId="20577"/>
        <pc:sldMkLst>
          <pc:docMk/>
          <pc:sldMk cId="1599667737" sldId="256"/>
        </pc:sldMkLst>
        <pc:spChg chg="mod">
          <ac:chgData name="#ZHANG CHENGXUAN#" userId="bc09c046-22b4-4d2e-bb5d-e10b71ffa20e" providerId="ADAL" clId="{355F6660-3A34-47E1-BE24-B2360CED9125}" dt="2025-09-10T03:56:16.591" v="3" actId="20577"/>
          <ac:spMkLst>
            <pc:docMk/>
            <pc:sldMk cId="1599667737" sldId="256"/>
            <ac:spMk id="2" creationId="{811FF231-0858-CF38-B1C2-D632E643FF8D}"/>
          </ac:spMkLst>
        </pc:spChg>
      </pc:sldChg>
    </pc:docChg>
  </pc:docChgLst>
</pc:chgInfo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01eaeb-90d1-45f0-b9e8-29b302db3b4b" xsi:nil="true"/>
  </documentManagement>
</p:properties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6CA3FDC2EC741AE7478374A89F446" ma:contentTypeVersion="16" ma:contentTypeDescription="Create a new document." ma:contentTypeScope="" ma:versionID="f758e4d92fba5cd6fdd69e49d476e021">
  <xsd:schema xmlns:xsd="http://www.w3.org/2001/XMLSchema" xmlns:xs="http://www.w3.org/2001/XMLSchema" xmlns:p="http://schemas.microsoft.com/office/2006/metadata/properties" xmlns:ns3="25cbc1e5-5dc5-4c62-9744-e742888e6e90" xmlns:ns4="2201eaeb-90d1-45f0-b9e8-29b302db3b4b" targetNamespace="http://schemas.microsoft.com/office/2006/metadata/properties" ma:root="true" ma:fieldsID="c4a9fd74dfc4b0100693b25f63e85f3e" ns3:_="" ns4:_="">
    <xsd:import namespace="25cbc1e5-5dc5-4c62-9744-e742888e6e90"/>
    <xsd:import namespace="2201eaeb-90d1-45f0-b9e8-29b302db3b4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c1e5-5dc5-4c62-9744-e742888e6e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1eaeb-90d1-45f0-b9e8-29b302db3b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Props1.xml><?xml version="1.0" encoding="utf-8"?>
<ds:datastoreItem xmlns:ds="http://schemas.openxmlformats.org/officeDocument/2006/customXml" ds:itemID="{A79E863A-CA42-4259-B587-1DF7CBA69840}">
  <ds:schemaRefs>
    <ds:schemaRef ds:uri="http://purl.org/dc/dcmitype/"/>
    <ds:schemaRef ds:uri="http://schemas.microsoft.com/office/2006/documentManagement/types"/>
    <ds:schemaRef ds:uri="25cbc1e5-5dc5-4c62-9744-e742888e6e90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201eaeb-90d1-45f0-b9e8-29b302db3b4b"/>
    <ds:schemaRef ds:uri="http://purl.org/dc/terms/"/>
  </ds:schemaRefs>
</ds:datastoreItem>
</file>

<file path=ppt/customXml/itemProps2.xml><?xml version="1.0" encoding="utf-8"?>
<ds:datastoreItem xmlns:ds="http://schemas.openxmlformats.org/officeDocument/2006/customXml" ds:itemID="{8C3471EC-26CE-4663-AA75-D1EE06558964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5720DD5A-7E47-4059-B471-A3C6195F3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bc1e5-5dc5-4c62-9744-e742888e6e90"/>
    <ds:schemaRef ds:uri="2201eaeb-90d1-45f0-b9e8-29b302db3b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CE177-2AB4-4A60-9075-F05E11E8D339}" type="datetimeFigureOut">
              <a:rPr lang="zh-SG" altLang="en-US" smtClean="0"/>
              <a:t>10/9/2025</a:t>
            </a:fld>
            <a:endParaRPr lang="zh-SG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3F56-0BBC-4E7F-8675-BEF749EC10E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71351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tcfans.com/en-us/article/72488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700301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ISP: Internet Service Provider</a:t>
            </a:r>
          </a:p>
          <a:p>
            <a:r>
              <a:rPr lang="en-US" altLang="zh-CN" dirty="0"/>
              <a:t>On the left side, for traditional Apps, the ISP provides access to a centralized Data Center that hosts the app's data and functionalities.</a:t>
            </a:r>
          </a:p>
          <a:p>
            <a:r>
              <a:rPr lang="en-US" altLang="zh-CN" dirty="0"/>
              <a:t>On the right side, for </a:t>
            </a:r>
            <a:r>
              <a:rPr lang="en-US" altLang="zh-CN" dirty="0" err="1"/>
              <a:t>dApps</a:t>
            </a:r>
            <a:r>
              <a:rPr lang="en-US" altLang="zh-CN" dirty="0"/>
              <a:t> (decentralized applications), the ISP provides access to a decentralized network where the app's data and functionalities are distributed across multiple nodes, rather than being hosted in a central server. </a:t>
            </a:r>
          </a:p>
          <a:p>
            <a:r>
              <a:rPr lang="en-US" altLang="zh-CN" dirty="0"/>
              <a:t>This decentralized structure is a key feature of </a:t>
            </a:r>
            <a:r>
              <a:rPr lang="en-US" altLang="zh-CN" dirty="0" err="1"/>
              <a:t>dApps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2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2367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C/S: Client-server</a:t>
            </a:r>
          </a:p>
          <a:p>
            <a:r>
              <a:rPr lang="en-US" altLang="zh-CN" dirty="0"/>
              <a:t>B/S: Browser-server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3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734302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Source: </a:t>
            </a:r>
            <a:r>
              <a:rPr lang="en-US" altLang="zh-CN" dirty="0">
                <a:hlinkClick r:id="rId3"/>
              </a:rPr>
              <a:t>2022-DeFi, Web 3, NFT / Gaming and Multi-Channel </a:t>
            </a:r>
            <a:r>
              <a:rPr lang="en-US" altLang="zh-CN" dirty="0" err="1">
                <a:hlinkClick r:id="rId3"/>
              </a:rPr>
              <a:t>Perspectives_Btcfans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4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08281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12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23041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15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5864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712" y="1804769"/>
            <a:ext cx="5116945" cy="1470025"/>
          </a:xfrm>
        </p:spPr>
        <p:txBody>
          <a:bodyPr>
            <a:normAutofit/>
          </a:bodyPr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817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04FE062C-BC62-4D0F-9707-67D55CFA8A15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8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7963"/>
            <a:ext cx="10972800" cy="1362075"/>
          </a:xfrm>
        </p:spPr>
        <p:txBody>
          <a:bodyPr anchor="t">
            <a:normAutofit/>
          </a:bodyPr>
          <a:lstStyle>
            <a:lvl1pPr algn="l">
              <a:defRPr sz="4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48CE56D8-D531-4D39-9DD0-66EFF6215896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6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65321286-4171-43F3-B87E-08ED8A63857F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1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499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94757"/>
            <a:ext cx="5386917" cy="36284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85499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494757"/>
            <a:ext cx="5389033" cy="36284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7C2844B0-7457-47C6-91AE-8A00054674D9}" type="datetime1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9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E277B03E-0E8A-4617-AA4A-011BF9C8C4AF}" type="datetime1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3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5C83B3DA-F39A-404C-8280-245A01B938DD}" type="datetime1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788617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788620"/>
            <a:ext cx="6815667" cy="539820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2125147"/>
            <a:ext cx="4011084" cy="406167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6FDAF4A1-3B0F-48AC-988C-36B952EF74EB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6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018C36B5-AE52-46A5-8A68-115F6B1BB3DB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0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9E66-1940-90F1-6E16-CC5F8075A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DA213-5100-FE64-F570-DE136FD09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E4192-F7FD-443D-9F0C-9BA3E298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505C-41AC-4D38-9ED5-35C266745857}" type="datetimeFigureOut">
              <a:rPr lang="en-SG" smtClean="0"/>
              <a:t>10/9/2025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3F57-C9BA-2D71-A168-60E3927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B2248-8E74-56B7-DC98-B5679829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0483-5A35-4AF6-9E2A-35A71E4F8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753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04926"/>
            <a:ext cx="10972800" cy="5038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94800" y="649287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baseline="0">
                <a:solidFill>
                  <a:schemeClr val="bg1"/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96255"/>
            <a:ext cx="12192000" cy="3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7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ts val="1600"/>
        </a:spcBef>
        <a:buFont typeface="Arial"/>
        <a:buChar char="•"/>
        <a:defRPr sz="3200" kern="1200">
          <a:solidFill>
            <a:schemeClr val="tx2"/>
          </a:solidFill>
          <a:latin typeface="Arial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Arial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884db603e2c34287" /><ns0:Relationship Type="http://schemas.openxmlformats.org/officeDocument/2006/relationships/notesSlide" Target="/ppt/workshop-added/ppt/notesSlides/notesSlide1.xml" Id="Rcbd8ef3e90164a5d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1ecbcc87a2604fee" /><ns0:Relationship Type="http://schemas.openxmlformats.org/officeDocument/2006/relationships/notesSlide" Target="/ppt/workshop-added/ppt/notesSlides/notesSlide2.xml" Id="Ra9d68735bbf54f48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7dc59fbe05ed4a45" /><ns0:Relationship Type="http://schemas.openxmlformats.org/officeDocument/2006/relationships/notesSlide" Target="/ppt/workshop-added/ppt/notesSlides/notesSlide3.xml" Id="Rab3cf903af7a470b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8aad3989a2e545f6" /><ns0:Relationship Type="http://schemas.openxmlformats.org/officeDocument/2006/relationships/notesSlide" Target="/ppt/workshop-added/ppt/notesSlides/notesSlide4.xml" Id="Rd62ccfc20d8c42c2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016954c42569490b" /><ns0:Relationship Type="http://schemas.openxmlformats.org/officeDocument/2006/relationships/notesSlide" Target="/ppt/workshop-added/ppt/notesSlides/notesSlide5.xml" Id="Rc4759f16b5db4914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da020eb3f6af43fb" /><ns0:Relationship Type="http://schemas.openxmlformats.org/officeDocument/2006/relationships/notesSlide" Target="/ppt/workshop-added/ppt/notesSlides/notesSlide6.xml" Id="R052e02814dae4cfd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e7867ba4d6854c7a" /><ns0:Relationship Type="http://schemas.openxmlformats.org/officeDocument/2006/relationships/notesSlide" Target="/ppt/workshop-added/ppt/notesSlides/notesSlide7.xml" Id="R96dbb213bd6f4e75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7a6c676039e94dfb" /><ns0:Relationship Type="http://schemas.openxmlformats.org/officeDocument/2006/relationships/notesSlide" Target="/ppt/workshop-added/ppt/notesSlides/notesSlide8.xml" Id="Rc124a5fb5bea4f7f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workshop-added/ppt/slideLayouts/slideLayout2.xml" Id="R46b51c000fec4980" /><ns0:Relationship Type="http://schemas.openxmlformats.org/officeDocument/2006/relationships/notesSlide" Target="/ppt/workshop-added/ppt/notesSlides/notesSlide9.xml" Id="R5e3bbd15f9a44b2f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2C2A14-B70D-B0F1-9027-731AD95F8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713" y="2055781"/>
            <a:ext cx="4516328" cy="1470025"/>
          </a:xfrm>
        </p:spPr>
        <p:txBody>
          <a:bodyPr>
            <a:normAutofit fontScale="90000"/>
          </a:bodyPr>
          <a:lstStyle/>
          <a:p>
            <a:r>
              <a:rPr lang="en-US" sz="2700" b="0" dirty="0"/>
              <a:t>CE/CZ4153 Tutorial</a:t>
            </a:r>
            <a:br>
              <a:rPr lang="en-US" dirty="0"/>
            </a:br>
            <a:r>
              <a:rPr lang="en-US" dirty="0" err="1"/>
              <a:t>dApp</a:t>
            </a:r>
            <a:r>
              <a:rPr lang="en-US" dirty="0"/>
              <a:t> Development</a:t>
            </a:r>
            <a:br>
              <a:rPr lang="en-US" dirty="0"/>
            </a:br>
            <a:r>
              <a:rPr lang="en-US" dirty="0"/>
              <a:t>Workshop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FF231-0858-CF38-B1C2-D632E643FF8D}"/>
              </a:ext>
            </a:extLst>
          </p:cNvPr>
          <p:cNvSpPr txBox="1"/>
          <p:nvPr/>
        </p:nvSpPr>
        <p:spPr>
          <a:xfrm>
            <a:off x="466147" y="5085887"/>
            <a:ext cx="36685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SG" sz="2400" dirty="0">
              <a:solidFill>
                <a:schemeClr val="bg1"/>
              </a:solidFill>
            </a:endParaRPr>
          </a:p>
          <a:p>
            <a:r>
              <a:rPr lang="en-US" altLang="zh-SG" sz="2400" b="1" dirty="0">
                <a:solidFill>
                  <a:schemeClr val="bg1"/>
                </a:solidFill>
              </a:rPr>
              <a:t>Zhang Chengxuan</a:t>
            </a:r>
          </a:p>
          <a:p>
            <a:r>
              <a:rPr lang="en-US" altLang="zh-SG" sz="2400" dirty="0">
                <a:solidFill>
                  <a:schemeClr val="bg1"/>
                </a:solidFill>
              </a:rPr>
              <a:t>chengxua001@e.ntu.edu.sg</a:t>
            </a:r>
          </a:p>
          <a:p>
            <a:r>
              <a:rPr lang="en-US" altLang="zh-SG" sz="2400">
                <a:solidFill>
                  <a:schemeClr val="bg1"/>
                </a:solidFill>
              </a:rPr>
              <a:t>2025.9.10</a:t>
            </a:r>
            <a:endParaRPr lang="zh-SG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66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0BF8-DC2B-59E4-C952-9F165323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</a:t>
            </a:r>
            <a:r>
              <a:rPr lang="en-US" altLang="zh-CN" dirty="0" err="1"/>
              <a:t>dApp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24151-0193-9962-3542-3E8779E8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4927"/>
            <a:ext cx="10972800" cy="1512540"/>
          </a:xfrm>
        </p:spPr>
        <p:txBody>
          <a:bodyPr/>
          <a:lstStyle/>
          <a:p>
            <a:r>
              <a:rPr lang="en-US" altLang="zh-CN" dirty="0"/>
              <a:t>Decentralized applications powered by blockchain.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9BC53-9C95-4249-3B6E-D2357A61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1CF2C2-F05F-2474-3C74-EC40BA19B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322" y="1932675"/>
            <a:ext cx="5766347" cy="400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8503F8-F595-AE50-854B-EC3A4685F238}"/>
              </a:ext>
            </a:extLst>
          </p:cNvPr>
          <p:cNvSpPr txBox="1"/>
          <p:nvPr/>
        </p:nvSpPr>
        <p:spPr>
          <a:xfrm>
            <a:off x="5352627" y="6053204"/>
            <a:ext cx="683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https://towardsdatascience.com/what-is-a-dapp-a455ac5f7def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8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1488-3770-EF82-F415-05382083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developing </a:t>
            </a:r>
            <a:r>
              <a:rPr lang="en-US" altLang="zh-CN" dirty="0" err="1"/>
              <a:t>dApp</a:t>
            </a:r>
            <a:r>
              <a:rPr lang="en-US" altLang="zh-CN" dirty="0"/>
              <a:t>? Reliable Service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C6FB-3DA9-ED20-85AB-72F1EB7BC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Traditional Network Applications</a:t>
            </a:r>
          </a:p>
          <a:p>
            <a:pPr lvl="1"/>
            <a:r>
              <a:rPr lang="en-US" altLang="zh-CN" b="1" dirty="0"/>
              <a:t>C/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b="1" dirty="0"/>
              <a:t> Architecture</a:t>
            </a:r>
            <a:r>
              <a:rPr lang="en-US" altLang="zh-CN" dirty="0"/>
              <a:t>, e.g., Zoom desktop App.</a:t>
            </a:r>
          </a:p>
          <a:p>
            <a:pPr lvl="1"/>
            <a:r>
              <a:rPr lang="en-US" altLang="zh-CN" b="1" dirty="0"/>
              <a:t>B/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b="1" dirty="0"/>
              <a:t> Architecture</a:t>
            </a:r>
            <a:r>
              <a:rPr lang="en-US" altLang="zh-CN" dirty="0"/>
              <a:t>, e.g., www.ntu.edu.sg</a:t>
            </a:r>
          </a:p>
          <a:p>
            <a:pPr lvl="1"/>
            <a:r>
              <a:rPr lang="en-US" altLang="zh-CN" b="1" dirty="0"/>
              <a:t>Issue</a:t>
            </a:r>
            <a:r>
              <a:rPr lang="en-US" altLang="zh-CN" dirty="0"/>
              <a:t>: distributed/centralized server may crash sometimes</a:t>
            </a:r>
          </a:p>
          <a:p>
            <a:r>
              <a:rPr lang="en-US" altLang="zh-CN" dirty="0"/>
              <a:t>Blockchains like Bitcoin or Ethereum have seamlessly worked for many years without any crash issue.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7D8C8-6AF3-9385-46C5-A137177D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2022展望——DeFi、Web 3、NFT/Gaming、和多链">
            <a:extLst>
              <a:ext uri="{FF2B5EF4-FFF2-40B4-BE49-F238E27FC236}">
                <a16:creationId xmlns:a16="http://schemas.microsoft.com/office/drawing/2014/main" id="{F324730B-19C8-392B-0BC2-43673A8CC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72" y="1586469"/>
            <a:ext cx="7634585" cy="465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824BF-886A-6660-E021-4731033F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developing </a:t>
            </a:r>
            <a:r>
              <a:rPr lang="en-US" altLang="zh-CN" dirty="0" err="1"/>
              <a:t>dApp</a:t>
            </a:r>
            <a:r>
              <a:rPr lang="en-US" altLang="zh-CN" dirty="0"/>
              <a:t>? New Opportunities!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CC48-1213-973B-FC54-743FD6EB5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4807"/>
            <a:ext cx="10972800" cy="5038725"/>
          </a:xfrm>
        </p:spPr>
        <p:txBody>
          <a:bodyPr/>
          <a:lstStyle/>
          <a:p>
            <a:r>
              <a:rPr lang="en-US" altLang="zh-CN" dirty="0"/>
              <a:t>Blockchain is a network for value exchange among users.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05628-2D4D-0843-801D-18A0DF7F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C052D-C1AE-712F-10E9-B4AA9D3044AB}"/>
              </a:ext>
            </a:extLst>
          </p:cNvPr>
          <p:cNvSpPr txBox="1"/>
          <p:nvPr/>
        </p:nvSpPr>
        <p:spPr>
          <a:xfrm>
            <a:off x="6943749" y="6163538"/>
            <a:ext cx="524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https://www.btcfans.com/en-us/article/72488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D654-B5E3-56FD-17E7-DDD9EAC5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develop a </a:t>
            </a:r>
            <a:r>
              <a:rPr lang="en-US" altLang="zh-CN" dirty="0" err="1"/>
              <a:t>dApp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D85A-BC15-6BEF-5AFA-52D81B45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dApp</a:t>
            </a:r>
            <a:r>
              <a:rPr lang="en-US" altLang="zh-CN" dirty="0"/>
              <a:t> = Smart contracts + </a:t>
            </a:r>
            <a:r>
              <a:rPr lang="en-US" altLang="zh-CN" dirty="0" err="1"/>
              <a:t>Javascript</a:t>
            </a:r>
            <a:r>
              <a:rPr lang="en-US" altLang="zh-CN" dirty="0"/>
              <a:t>/HTML</a:t>
            </a:r>
          </a:p>
          <a:p>
            <a:r>
              <a:rPr lang="en-US" altLang="zh-CN" b="1" dirty="0"/>
              <a:t>Backend</a:t>
            </a:r>
            <a:r>
              <a:rPr lang="en-US" altLang="zh-CN" dirty="0"/>
              <a:t> - Smart contracts implement business logic and are run on one or many blockchains.</a:t>
            </a:r>
          </a:p>
          <a:p>
            <a:r>
              <a:rPr lang="en-US" altLang="zh-CN" b="1" dirty="0"/>
              <a:t>Frontend </a:t>
            </a:r>
            <a:r>
              <a:rPr lang="en-US" altLang="zh-CN" dirty="0"/>
              <a:t>- </a:t>
            </a:r>
            <a:r>
              <a:rPr lang="en-US" altLang="zh-CN" dirty="0" err="1"/>
              <a:t>Javascript</a:t>
            </a:r>
            <a:r>
              <a:rPr lang="en-US" altLang="zh-CN" dirty="0"/>
              <a:t> / HTML implements the UI of the </a:t>
            </a:r>
            <a:r>
              <a:rPr lang="en-US" altLang="zh-CN" dirty="0" err="1"/>
              <a:t>dApp</a:t>
            </a:r>
            <a:r>
              <a:rPr lang="en-US" altLang="zh-CN" dirty="0"/>
              <a:t> and communicates with smart contracts through sending blockchain transactions.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61B5B-8D40-C232-F51F-60566A42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2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2828-0120-D7E9-A223-64BC7019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F714-F76D-36D0-AEF0-7FD88BC9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Lock a certain amount of money with a given timestamp.</a:t>
            </a:r>
          </a:p>
          <a:p>
            <a:r>
              <a:rPr lang="en-US" altLang="zh-CN" dirty="0"/>
              <a:t>In the future, users can withdraw their money back.</a:t>
            </a:r>
          </a:p>
          <a:p>
            <a:r>
              <a:rPr lang="en-US" altLang="zh-CN" dirty="0"/>
              <a:t>Moreover, the owner can unlock the money if they want.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89C5-A2A3-7BC2-8799-EDC1C036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1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5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997FF-E3FE-4639-9E1F-459B3122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6" y="1303369"/>
            <a:ext cx="6003400" cy="23921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446C86-D17C-6B12-4E44-F9881A571C5D}"/>
              </a:ext>
            </a:extLst>
          </p:cNvPr>
          <p:cNvSpPr txBox="1"/>
          <p:nvPr/>
        </p:nvSpPr>
        <p:spPr>
          <a:xfrm>
            <a:off x="2923993" y="2108963"/>
            <a:ext cx="315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Solidity Version Later than 0.8.9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F0C8A-007E-F253-E435-4C44EE64F7A7}"/>
              </a:ext>
            </a:extLst>
          </p:cNvPr>
          <p:cNvSpPr txBox="1"/>
          <p:nvPr/>
        </p:nvSpPr>
        <p:spPr>
          <a:xfrm>
            <a:off x="3736459" y="3429000"/>
            <a:ext cx="2344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Import External Library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ADE45E-84B0-31B9-52B0-E9659FFE728A}"/>
              </a:ext>
            </a:extLst>
          </p:cNvPr>
          <p:cNvSpPr/>
          <p:nvPr/>
        </p:nvSpPr>
        <p:spPr>
          <a:xfrm>
            <a:off x="6400800" y="75617"/>
            <a:ext cx="2536466" cy="90239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2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7E0F6-906E-74CA-FC38-C37E58D91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25" y="1303369"/>
            <a:ext cx="5748359" cy="44845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712331-3EE2-F9D1-E6BD-9C89821F5156}"/>
              </a:ext>
            </a:extLst>
          </p:cNvPr>
          <p:cNvSpPr/>
          <p:nvPr/>
        </p:nvSpPr>
        <p:spPr>
          <a:xfrm>
            <a:off x="6400799" y="1069535"/>
            <a:ext cx="2874397" cy="248469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ED1A2-4FCC-B06B-48C7-B809C1CD65C8}"/>
              </a:ext>
            </a:extLst>
          </p:cNvPr>
          <p:cNvSpPr txBox="1"/>
          <p:nvPr/>
        </p:nvSpPr>
        <p:spPr>
          <a:xfrm>
            <a:off x="3973930" y="1158258"/>
            <a:ext cx="213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Contract Name: Lock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7314A-B96B-C1D2-C02F-BC66C9EB4D3F}"/>
              </a:ext>
            </a:extLst>
          </p:cNvPr>
          <p:cNvSpPr txBox="1"/>
          <p:nvPr/>
        </p:nvSpPr>
        <p:spPr>
          <a:xfrm>
            <a:off x="3914264" y="1672701"/>
            <a:ext cx="216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Variable Declarations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CFE6-B280-A122-9C6C-A17985C07683}"/>
              </a:ext>
            </a:extLst>
          </p:cNvPr>
          <p:cNvSpPr txBox="1"/>
          <p:nvPr/>
        </p:nvSpPr>
        <p:spPr>
          <a:xfrm>
            <a:off x="4246214" y="2661861"/>
            <a:ext cx="1835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Event Declaration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96325-B5F8-FBA8-8CBA-8A46FA06FDB3}"/>
              </a:ext>
            </a:extLst>
          </p:cNvPr>
          <p:cNvSpPr txBox="1"/>
          <p:nvPr/>
        </p:nvSpPr>
        <p:spPr>
          <a:xfrm>
            <a:off x="3950919" y="4336935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8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A4579A2-42F2-A51E-0D94-7B8D0C0C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" y="1280110"/>
            <a:ext cx="6034066" cy="4175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712331-3EE2-F9D1-E6BD-9C89821F5156}"/>
              </a:ext>
            </a:extLst>
          </p:cNvPr>
          <p:cNvSpPr/>
          <p:nvPr/>
        </p:nvSpPr>
        <p:spPr>
          <a:xfrm>
            <a:off x="6528020" y="3545636"/>
            <a:ext cx="5462155" cy="264445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ED1A2-4FCC-B06B-48C7-B809C1CD65C8}"/>
              </a:ext>
            </a:extLst>
          </p:cNvPr>
          <p:cNvSpPr txBox="1"/>
          <p:nvPr/>
        </p:nvSpPr>
        <p:spPr>
          <a:xfrm>
            <a:off x="3755503" y="5129969"/>
            <a:ext cx="2325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Transfer Token Balance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CFE6-B280-A122-9C6C-A17985C07683}"/>
              </a:ext>
            </a:extLst>
          </p:cNvPr>
          <p:cNvSpPr txBox="1"/>
          <p:nvPr/>
        </p:nvSpPr>
        <p:spPr>
          <a:xfrm>
            <a:off x="4495382" y="4546239"/>
            <a:ext cx="118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Emit Event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96325-B5F8-FBA8-8CBA-8A46FA06FDB3}"/>
              </a:ext>
            </a:extLst>
          </p:cNvPr>
          <p:cNvSpPr txBox="1"/>
          <p:nvPr/>
        </p:nvSpPr>
        <p:spPr>
          <a:xfrm>
            <a:off x="4026455" y="1797949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A39F5-D89C-1801-FB05-A7A3FBB0150E}"/>
              </a:ext>
            </a:extLst>
          </p:cNvPr>
          <p:cNvSpPr txBox="1"/>
          <p:nvPr/>
        </p:nvSpPr>
        <p:spPr>
          <a:xfrm>
            <a:off x="4026456" y="3996675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78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2CF8-1FD5-79D9-9519-71B7F6AD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Let’s try to run it!!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FBCC-CDFF-159B-B05D-A7401C757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https://github.com/BlockchainCourseNTU/hello-dapp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9A595-91ED-FC56-5832-0D7550A81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04" y="1600201"/>
            <a:ext cx="4377791" cy="452596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EDF99-9451-A1DC-E0FB-6A50D0EE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49287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6562B1-0B0F-0246-9532-09536BC2AE59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5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2701-EA4D-F36C-DDDD-8FC150B2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Vote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825D4-D3C8-2C93-C047-9E90FE3D0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4926"/>
            <a:ext cx="10972800" cy="424901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Allows creation of multiple elections with a defined duration and admin control.</a:t>
            </a:r>
          </a:p>
          <a:p>
            <a:r>
              <a:rPr lang="en-US" altLang="zh-CN" sz="2800" dirty="0"/>
              <a:t>Admin registers constituencies, voters, and candidates, ensuring no self-registration.</a:t>
            </a:r>
          </a:p>
          <a:p>
            <a:r>
              <a:rPr lang="en-US" altLang="zh-CN" sz="2800" dirty="0"/>
              <a:t>Voters cast a single vote for candidates within their constituency.</a:t>
            </a:r>
          </a:p>
          <a:p>
            <a:r>
              <a:rPr lang="en-US" altLang="zh-CN" sz="2800" dirty="0"/>
              <a:t>Admin closes the election after the set duration, ending voting.</a:t>
            </a:r>
          </a:p>
          <a:p>
            <a:r>
              <a:rPr lang="en-US" altLang="zh-CN" sz="2800" dirty="0"/>
              <a:t>Tracks and displays votes for each candidate by constituency.</a:t>
            </a:r>
            <a:endParaRPr lang="zh-CN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0689D-6E17-C9C8-126D-8EE98287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3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9AE-F4CE-AC4E-D72E-0E940C83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Vote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08973-48BC-EF68-CFCA-5D552536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13</a:t>
            </a:fld>
            <a:endParaRPr lang="en-US"/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3C082D7A-1548-AD8B-F73D-274C57798B4B}"/>
              </a:ext>
            </a:extLst>
          </p:cNvPr>
          <p:cNvSpPr/>
          <p:nvPr/>
        </p:nvSpPr>
        <p:spPr>
          <a:xfrm>
            <a:off x="5005836" y="1258205"/>
            <a:ext cx="1968728" cy="1152486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Factory</a:t>
            </a:r>
            <a:endParaRPr lang="zh-CN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189EDB-A8B9-4645-C218-83BDBFF44D19}"/>
              </a:ext>
            </a:extLst>
          </p:cNvPr>
          <p:cNvCxnSpPr>
            <a:cxnSpLocks/>
          </p:cNvCxnSpPr>
          <p:nvPr/>
        </p:nvCxnSpPr>
        <p:spPr>
          <a:xfrm flipH="1">
            <a:off x="2479086" y="3063240"/>
            <a:ext cx="1711117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76E576-78E3-EA0A-A18B-8CE6C8896DFD}"/>
              </a:ext>
            </a:extLst>
          </p:cNvPr>
          <p:cNvCxnSpPr>
            <a:cxnSpLocks/>
          </p:cNvCxnSpPr>
          <p:nvPr/>
        </p:nvCxnSpPr>
        <p:spPr>
          <a:xfrm flipH="1">
            <a:off x="4303222" y="3063240"/>
            <a:ext cx="702614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6B28E-B713-12B3-2AA9-5E6000AC66B9}"/>
              </a:ext>
            </a:extLst>
          </p:cNvPr>
          <p:cNvCxnSpPr>
            <a:cxnSpLocks/>
          </p:cNvCxnSpPr>
          <p:nvPr/>
        </p:nvCxnSpPr>
        <p:spPr>
          <a:xfrm>
            <a:off x="5871638" y="3063240"/>
            <a:ext cx="166144" cy="1137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B0F53F-D3B6-4B9B-3AD5-EC5ED4E34060}"/>
              </a:ext>
            </a:extLst>
          </p:cNvPr>
          <p:cNvCxnSpPr>
            <a:cxnSpLocks/>
          </p:cNvCxnSpPr>
          <p:nvPr/>
        </p:nvCxnSpPr>
        <p:spPr>
          <a:xfrm>
            <a:off x="6843511" y="3063240"/>
            <a:ext cx="1039379" cy="1137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7D937E10-DB28-ECEA-4F3F-84C98A1ADCD5}"/>
              </a:ext>
            </a:extLst>
          </p:cNvPr>
          <p:cNvSpPr/>
          <p:nvPr/>
        </p:nvSpPr>
        <p:spPr>
          <a:xfrm>
            <a:off x="157532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1</a:t>
            </a:r>
            <a:endParaRPr lang="zh-CN" altLang="en-US" dirty="0"/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771AC3BE-0AA1-9A3F-6B3B-D24F1AE232F8}"/>
              </a:ext>
            </a:extLst>
          </p:cNvPr>
          <p:cNvSpPr/>
          <p:nvPr/>
        </p:nvSpPr>
        <p:spPr>
          <a:xfrm>
            <a:off x="3493525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2</a:t>
            </a:r>
            <a:endParaRPr lang="zh-CN" altLang="en-US" dirty="0"/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FB09E36B-52CF-C5DE-7DB7-7C510E597FB9}"/>
              </a:ext>
            </a:extLst>
          </p:cNvPr>
          <p:cNvSpPr/>
          <p:nvPr/>
        </p:nvSpPr>
        <p:spPr>
          <a:xfrm>
            <a:off x="541173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3</a:t>
            </a:r>
            <a:endParaRPr lang="zh-CN" altLang="en-US" dirty="0"/>
          </a:p>
        </p:txBody>
      </p:sp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5CC921FF-6FB4-343C-68C6-6A1EF6AE00FB}"/>
              </a:ext>
            </a:extLst>
          </p:cNvPr>
          <p:cNvSpPr/>
          <p:nvPr/>
        </p:nvSpPr>
        <p:spPr>
          <a:xfrm>
            <a:off x="7329935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4</a:t>
            </a:r>
            <a:endParaRPr lang="zh-CN" altLang="en-US" dirty="0"/>
          </a:p>
        </p:txBody>
      </p: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09F63913-4421-C05C-3088-B47E09269CE0}"/>
              </a:ext>
            </a:extLst>
          </p:cNvPr>
          <p:cNvSpPr/>
          <p:nvPr/>
        </p:nvSpPr>
        <p:spPr>
          <a:xfrm>
            <a:off x="924814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 …</a:t>
            </a:r>
            <a:endParaRPr lang="zh-CN" alt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B996696-1766-EF04-43D5-E7A2F1A4D417}"/>
              </a:ext>
            </a:extLst>
          </p:cNvPr>
          <p:cNvCxnSpPr>
            <a:cxnSpLocks/>
          </p:cNvCxnSpPr>
          <p:nvPr/>
        </p:nvCxnSpPr>
        <p:spPr>
          <a:xfrm>
            <a:off x="7557185" y="3063240"/>
            <a:ext cx="2317007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04C50CB-A866-DBE7-928C-81CBB4EDE565}"/>
              </a:ext>
            </a:extLst>
          </p:cNvPr>
          <p:cNvSpPr txBox="1"/>
          <p:nvPr/>
        </p:nvSpPr>
        <p:spPr>
          <a:xfrm>
            <a:off x="3416675" y="2593962"/>
            <a:ext cx="507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createElection</a:t>
            </a:r>
            <a:r>
              <a:rPr lang="en-US" altLang="zh-CN" dirty="0">
                <a:solidFill>
                  <a:srgbClr val="0070C0"/>
                </a:solidFill>
              </a:rPr>
              <a:t>(_</a:t>
            </a:r>
            <a:r>
              <a:rPr lang="en-US" altLang="zh-CN" dirty="0" err="1">
                <a:solidFill>
                  <a:srgbClr val="0070C0"/>
                </a:solidFill>
              </a:rPr>
              <a:t>durationInMinutes</a:t>
            </a:r>
            <a:r>
              <a:rPr lang="en-US" altLang="zh-CN" dirty="0">
                <a:solidFill>
                  <a:srgbClr val="0070C0"/>
                </a:solidFill>
              </a:rPr>
              <a:t>, _</a:t>
            </a:r>
            <a:r>
              <a:rPr lang="en-US" altLang="zh-CN" dirty="0" err="1">
                <a:solidFill>
                  <a:srgbClr val="0070C0"/>
                </a:solidFill>
              </a:rPr>
              <a:t>electionName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5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E42ED-3748-C92C-023E-1D03C23B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0B791-7F66-2906-54A7-9DC21C8CFCD8}"/>
              </a:ext>
            </a:extLst>
          </p:cNvPr>
          <p:cNvSpPr txBox="1"/>
          <p:nvPr/>
        </p:nvSpPr>
        <p:spPr>
          <a:xfrm>
            <a:off x="8552483" y="840636"/>
            <a:ext cx="30757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addConsituency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addCandidate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addVoter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getCandidatesIdList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getConsituencyCandidates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getCandidateConsituency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getVotersIdList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getConsituencyVoters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getVoterConsituency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Vote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castVote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getVotes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Close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closeElection</a:t>
            </a:r>
            <a:endParaRPr lang="zh-CN" altLang="en-US" dirty="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487C511F-9449-7178-7711-FFA0B79B6AAC}"/>
              </a:ext>
            </a:extLst>
          </p:cNvPr>
          <p:cNvSpPr/>
          <p:nvPr/>
        </p:nvSpPr>
        <p:spPr>
          <a:xfrm>
            <a:off x="865186" y="739878"/>
            <a:ext cx="1923871" cy="1118526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Election</a:t>
            </a:r>
            <a:endParaRPr lang="zh-CN" altLang="en-US" sz="3600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D3A00EB-C914-FEA0-939C-2A7FA91D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128" y="2925064"/>
            <a:ext cx="18866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b="1" dirty="0">
                <a:latin typeface="Arial Unicode MS"/>
              </a:rPr>
              <a:t>Voter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voterId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name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email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phoneNo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consituencyId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voted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DBD6574-F894-3358-C1B8-736E07B4D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517" y="2925064"/>
            <a:ext cx="192387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phoneNo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party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7822F6EF-59F9-C8C2-2B72-28D0B49CF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103" y="2925064"/>
            <a:ext cx="20078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voters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votes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(mapping of address to uint)</a:t>
            </a:r>
            <a:endParaRPr kumimoji="0" lang="zh-CN" altLang="zh-CN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winner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CD4165-FBB3-A0A0-4414-6ECB80F3AB4F}"/>
              </a:ext>
            </a:extLst>
          </p:cNvPr>
          <p:cNvSpPr/>
          <p:nvPr/>
        </p:nvSpPr>
        <p:spPr>
          <a:xfrm>
            <a:off x="584827" y="2422271"/>
            <a:ext cx="7450332" cy="3283732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84ECEF-E701-330B-0C50-D9D3F0BB19A6}"/>
              </a:ext>
            </a:extLst>
          </p:cNvPr>
          <p:cNvSpPr/>
          <p:nvPr/>
        </p:nvSpPr>
        <p:spPr>
          <a:xfrm>
            <a:off x="8315518" y="488986"/>
            <a:ext cx="3300247" cy="5217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B072C8-B063-F7F4-3030-37C93B9B0C32}"/>
              </a:ext>
            </a:extLst>
          </p:cNvPr>
          <p:cNvSpPr txBox="1"/>
          <p:nvPr/>
        </p:nvSpPr>
        <p:spPr>
          <a:xfrm>
            <a:off x="865186" y="246088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Structs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DF50B-86C5-E435-EBF1-EA82D5ED945C}"/>
              </a:ext>
            </a:extLst>
          </p:cNvPr>
          <p:cNvSpPr txBox="1"/>
          <p:nvPr/>
        </p:nvSpPr>
        <p:spPr>
          <a:xfrm>
            <a:off x="8552483" y="50666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Functions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83C2B-95D9-5EFC-0371-8D09720EE525}"/>
              </a:ext>
            </a:extLst>
          </p:cNvPr>
          <p:cNvSpPr/>
          <p:nvPr/>
        </p:nvSpPr>
        <p:spPr>
          <a:xfrm>
            <a:off x="350595" y="278296"/>
            <a:ext cx="11490810" cy="5661327"/>
          </a:xfrm>
          <a:prstGeom prst="roundRect">
            <a:avLst>
              <a:gd name="adj" fmla="val 10732"/>
            </a:avLst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53712-5F69-FF23-3D09-63B09AE6935E}"/>
              </a:ext>
            </a:extLst>
          </p:cNvPr>
          <p:cNvSpPr txBox="1"/>
          <p:nvPr/>
        </p:nvSpPr>
        <p:spPr>
          <a:xfrm>
            <a:off x="3828579" y="421144"/>
            <a:ext cx="1813521" cy="212365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zh-CN" sz="2000" b="1" dirty="0"/>
              <a:t>Variables</a:t>
            </a:r>
          </a:p>
          <a:p>
            <a:r>
              <a:rPr lang="en-US" altLang="zh-CN" sz="1600" dirty="0"/>
              <a:t>admin</a:t>
            </a:r>
          </a:p>
          <a:p>
            <a:r>
              <a:rPr lang="en-US" altLang="zh-CN" sz="1600" dirty="0" err="1"/>
              <a:t>electionName</a:t>
            </a:r>
            <a:endParaRPr lang="en-US" altLang="zh-CN" sz="1600" dirty="0"/>
          </a:p>
          <a:p>
            <a:r>
              <a:rPr lang="en-US" altLang="zh-CN" sz="1600" dirty="0" err="1"/>
              <a:t>electionStatus</a:t>
            </a:r>
            <a:endParaRPr lang="en-US" altLang="zh-CN" sz="1600" dirty="0"/>
          </a:p>
          <a:p>
            <a:r>
              <a:rPr lang="en-US" altLang="zh-CN" sz="1600" dirty="0" err="1"/>
              <a:t>electionDuration</a:t>
            </a:r>
            <a:endParaRPr lang="en-US" altLang="zh-CN" sz="1600" dirty="0"/>
          </a:p>
          <a:p>
            <a:r>
              <a:rPr lang="en-US" altLang="zh-CN" sz="1600" dirty="0" err="1"/>
              <a:t>votersList</a:t>
            </a:r>
            <a:endParaRPr lang="en-US" altLang="zh-CN" sz="1600" dirty="0"/>
          </a:p>
          <a:p>
            <a:r>
              <a:rPr lang="en-US" altLang="zh-CN" sz="1600" dirty="0" err="1"/>
              <a:t>voterExist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B0E03-0499-FE15-8FCA-920B9AA019F7}"/>
              </a:ext>
            </a:extLst>
          </p:cNvPr>
          <p:cNvSpPr txBox="1"/>
          <p:nvPr/>
        </p:nvSpPr>
        <p:spPr>
          <a:xfrm>
            <a:off x="5654527" y="421144"/>
            <a:ext cx="22642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voterData</a:t>
            </a:r>
            <a:endParaRPr lang="en-US" altLang="zh-CN" sz="1600" dirty="0"/>
          </a:p>
          <a:p>
            <a:r>
              <a:rPr lang="en-US" altLang="zh-CN" sz="1600" dirty="0" err="1"/>
              <a:t>candidateList</a:t>
            </a:r>
            <a:endParaRPr lang="en-US" altLang="zh-CN" sz="1600" dirty="0"/>
          </a:p>
          <a:p>
            <a:r>
              <a:rPr lang="en-US" altLang="zh-CN" sz="1600" dirty="0" err="1"/>
              <a:t>candidateExist</a:t>
            </a:r>
            <a:endParaRPr lang="en-US" altLang="zh-CN" sz="1600" dirty="0"/>
          </a:p>
          <a:p>
            <a:r>
              <a:rPr lang="en-US" altLang="zh-CN" sz="1600" dirty="0" err="1"/>
              <a:t>candidateData</a:t>
            </a:r>
            <a:endParaRPr lang="en-US" altLang="zh-CN" sz="1600" dirty="0"/>
          </a:p>
          <a:p>
            <a:r>
              <a:rPr lang="en-US" altLang="zh-CN" sz="1600" dirty="0" err="1"/>
              <a:t>consituencyList</a:t>
            </a:r>
            <a:endParaRPr lang="en-US" altLang="zh-CN" sz="1600" dirty="0"/>
          </a:p>
          <a:p>
            <a:r>
              <a:rPr lang="en-US" altLang="zh-CN" sz="1600" dirty="0" err="1"/>
              <a:t>consituencyExist</a:t>
            </a:r>
            <a:endParaRPr lang="en-US" altLang="zh-CN" sz="1600" dirty="0"/>
          </a:p>
          <a:p>
            <a:r>
              <a:rPr lang="en-US" altLang="zh-CN" sz="1600" dirty="0" err="1"/>
              <a:t>consituencyData</a:t>
            </a:r>
            <a:r>
              <a:rPr lang="en-US" altLang="zh-CN" sz="16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19B48-2D59-DC91-8AAD-E49F29A4D743}"/>
              </a:ext>
            </a:extLst>
          </p:cNvPr>
          <p:cNvSpPr txBox="1"/>
          <p:nvPr/>
        </p:nvSpPr>
        <p:spPr>
          <a:xfrm>
            <a:off x="1875073" y="6112010"/>
            <a:ext cx="10316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https://github.com/schadokar/election-ethereum-react-dapp/blob/master/ethereum/contracts/election.sol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4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74A8-537E-126F-5B75-91913630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Let’s try to run it!!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82608-7D4B-97B1-8501-2AE2B083E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https://github.com/schadokar/election-ethereum-react-dapp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F0208-4408-21E5-592A-46EF2E7C37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37" t="14235" r="15705" b="6733"/>
          <a:stretch/>
        </p:blipFill>
        <p:spPr>
          <a:xfrm>
            <a:off x="6692201" y="1673051"/>
            <a:ext cx="4054511" cy="395562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1AA46-D07C-8817-76A3-19C4D7A7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49287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6562B1-0B0F-0246-9532-09536BC2AE59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4362"/>
      </p:ext>
    </p:extLst>
  </p:cSld>
  <p:clrMapOvr>
    <a:masterClrMapping/>
  </p:clrMapOvr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E23B20-4174-4DA2-A207-0ABA5DD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Third project: Crowdfunding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DB218A-CC4A-4CB3-9615-78D771D8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A campaign has an owner, target and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Supporters contribute ETH before the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Successful campaign: owner claims the funds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Failed campaign: each supporter requests a refund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3342AB7-0E7C-45DF-8B68-0589D61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08887B-BE50-474F-967D-4ED65562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Campaign lifecycle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AB0ADB-BBE2-422C-B9B3-ECC59F0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Funding: contributions are open before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Success: deadline passed and raised &gt;= goal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Failure: deadline passed and raised &lt; goal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Settlement rules live inside the smart contract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431F6501-0C04-4C68-AB9E-30B32A2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91CFFD-42CE-4347-BC70-A07A6375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Claim and refund conditions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0D710D-E336-49B2-9C74-39C2DC8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claim(): owner only, deadline passed, goal reached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claimed = true before sending the balance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refund(): deadline passed, goal missed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contributions[msg.sender] = 0 before sending ETH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B6A6C924-90F1-4E99-8DEE-2A1C33C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F5F1FC-56F2-4F7B-B4A2-D23AE17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One-command local setup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CE10E4-E46B-411C-8A77-9EC2500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./run-lock.command           127.0.0.1:4181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./run-election.command       127.0.0.1:4182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./run-crowdfunding.command   127.0.0.1:4183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Each script installs dependencies and starts its demo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8A7D39AF-CB13-4D04-BC94-8CBB6AF4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15108E-BE3D-41A2-BDE0-7945F23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Live demo: successful campaign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0925A4-2EB3-4046-9496-5973665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Open Crowdfunding and select Supporter A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Contribute 0.5 ETH twice to the 1 ETH campaign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Advance past deadline, then select Owner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Owner claims: balance becomes 0, claimed is true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80E4A9F-6BD7-4F46-AAF1-92A5ADF2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3109D9-7344-4E7A-BDE2-E77849FD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Live demo: failed campaign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C5DEF9-DDD0-4AB2-97D5-0464064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New campaign, then select Supporter A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Contribute only 0.5 ETH and advance past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Owner claim fails because the goal was missed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Supporter refund succeeds and clears their record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61FC3A38-1481-4427-8962-DE0DFFC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197479-2A54-42F2-8EC7-C9DF18B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Failure cases to predict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F9C5F5-74D1-4D68-A42F-B2631E1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Claim before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Claim using a supporter account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Contribute after deadline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Refund twice or refund a successful campaign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A00673B3-C27B-4664-90C5-32816E8D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47C821-AD23-40D6-88C8-BDC8DF7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Student exercise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00D82A-0C02-49F9-8419-D53B4C3A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Fund a campaign using two supporters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Let it miss the target, then refund Supporter A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Confirm Supporter B can still receive their refund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Write an assertion that refunds remain independent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A90B647B-8D7C-47E1-9774-80D3BC9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1021F9-1F13-430C-A15B-99A5E29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Project notes and questions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28C8C5-30DE-49FA-813D-89997D9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Local UI writes wait for transaction confirmation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Workshop Election adds missing voting checks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Local accounts and synthetic data keep setup simple</a:t>
            </a:r>
          </a:p>
          <a:p xmlns:a="http://schemas.openxmlformats.org/drawingml/2006/main">
            <a:pPr>
              <a:defRPr sz="2400">
                <a:solidFill>
                  <a:srgbClr val="426A9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426A99"/>
                </a:solidFill>
                <a:latin typeface="Arial"/>
                <a:ea typeface="Arial"/>
                <a:cs typeface="Arial"/>
              </a:rPr>
              <a:t>README documents commands, fixes and expected results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2C59C5B-0DF7-4BF3-927F-5204BE8A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EB063EA-B6E8-4D2D-A19E-72665867951E}" vid="{67EFF024-3885-4F34-96D2-70AE64ED73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orkshop-added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/ppt/workshop-added/ppt/notesMasters/theme/theme3.xml" Id="R18b66a40e3a9410a" /></ns0:Relationships>
</file>

<file path=ppt/workshop-added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workshop-added/ppt/notes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workshop-added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/ppt/slides/slide16.xml" Id="R0d31f890da534814" /><ns0:Relationship Type="http://schemas.openxmlformats.org/officeDocument/2006/relationships/notesMaster" Target="/ppt/workshop-added/ppt/notesMasters/notesMaster1.xml" Id="R8827e591be114d11" /></ns0:Relationships>
</file>

<file path=ppt/workshop-added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/ppt/slides/slide17.xml" Id="R4a78ac4bb9bd442c" /><ns0:Relationship Type="http://schemas.openxmlformats.org/officeDocument/2006/relationships/notesMaster" Target="/ppt/workshop-added/ppt/notesMasters/notesMaster1.xml" Id="R7fedaa2e269640f7" /></ns0:Relationships>
</file>

<file path=ppt/workshop-added/ppt/notesSlides/_rels/notesSlide3.xml.rels><?xml version='1.0' encoding='utf-8'?>
<ns0:Relationships xmlns:ns0="http://schemas.openxmlformats.org/package/2006/relationships"><ns0:Relationship Type="http://schemas.openxmlformats.org/officeDocument/2006/relationships/slide" Target="/ppt/slides/slide18.xml" Id="R6f7b2f926e0a47fd" /><ns0:Relationship Type="http://schemas.openxmlformats.org/officeDocument/2006/relationships/notesMaster" Target="/ppt/workshop-added/ppt/notesMasters/notesMaster1.xml" Id="Rf7575abdf40f4897" /></ns0:Relationships>
</file>

<file path=ppt/workshop-added/ppt/notesSlides/_rels/notesSlide4.xml.rels><?xml version='1.0' encoding='utf-8'?>
<ns0:Relationships xmlns:ns0="http://schemas.openxmlformats.org/package/2006/relationships"><ns0:Relationship Type="http://schemas.openxmlformats.org/officeDocument/2006/relationships/slide" Target="/ppt/slides/slide19.xml" Id="R8c6430f332de46c1" /><ns0:Relationship Type="http://schemas.openxmlformats.org/officeDocument/2006/relationships/notesMaster" Target="/ppt/workshop-added/ppt/notesMasters/notesMaster1.xml" Id="R6d5c044e7c394ccd" /></ns0:Relationships>
</file>

<file path=ppt/workshop-added/ppt/notesSlides/_rels/notesSlide5.xml.rels><?xml version='1.0' encoding='utf-8'?>
<ns0:Relationships xmlns:ns0="http://schemas.openxmlformats.org/package/2006/relationships"><ns0:Relationship Type="http://schemas.openxmlformats.org/officeDocument/2006/relationships/slide" Target="/ppt/slides/slide20.xml" Id="R5b5bfe91a2ec4253" /><ns0:Relationship Type="http://schemas.openxmlformats.org/officeDocument/2006/relationships/notesMaster" Target="/ppt/workshop-added/ppt/notesMasters/notesMaster1.xml" Id="Rb7a7fbd6cf494eb8" /></ns0:Relationships>
</file>

<file path=ppt/workshop-added/ppt/notesSlides/_rels/notesSlide6.xml.rels><?xml version='1.0' encoding='utf-8'?>
<ns0:Relationships xmlns:ns0="http://schemas.openxmlformats.org/package/2006/relationships"><ns0:Relationship Type="http://schemas.openxmlformats.org/officeDocument/2006/relationships/slide" Target="/ppt/slides/slide21.xml" Id="Rfaafa267fc6f4c0f" /><ns0:Relationship Type="http://schemas.openxmlformats.org/officeDocument/2006/relationships/notesMaster" Target="/ppt/workshop-added/ppt/notesMasters/notesMaster1.xml" Id="R16bc2b6a0df54e80" /></ns0:Relationships>
</file>

<file path=ppt/workshop-added/ppt/notesSlides/_rels/notesSlide7.xml.rels><?xml version='1.0' encoding='utf-8'?>
<ns0:Relationships xmlns:ns0="http://schemas.openxmlformats.org/package/2006/relationships"><ns0:Relationship Type="http://schemas.openxmlformats.org/officeDocument/2006/relationships/slide" Target="/ppt/slides/slide22.xml" Id="R92d2442f37f84caa" /><ns0:Relationship Type="http://schemas.openxmlformats.org/officeDocument/2006/relationships/notesMaster" Target="/ppt/workshop-added/ppt/notesMasters/notesMaster1.xml" Id="Rf91a3f0380da4ada" /></ns0:Relationships>
</file>

<file path=ppt/workshop-added/ppt/notesSlides/_rels/notesSlide8.xml.rels><?xml version='1.0' encoding='utf-8'?>
<ns0:Relationships xmlns:ns0="http://schemas.openxmlformats.org/package/2006/relationships"><ns0:Relationship Type="http://schemas.openxmlformats.org/officeDocument/2006/relationships/slide" Target="/ppt/slides/slide23.xml" Id="R46ad830483154e9a" /><ns0:Relationship Type="http://schemas.openxmlformats.org/officeDocument/2006/relationships/notesMaster" Target="/ppt/workshop-added/ppt/notesMasters/notesMaster1.xml" Id="R29d2adf057164baf" /></ns0:Relationships>
</file>

<file path=ppt/workshop-added/ppt/notesSlides/_rels/notesSlide9.xml.rels><?xml version='1.0' encoding='utf-8'?>
<ns0:Relationships xmlns:ns0="http://schemas.openxmlformats.org/package/2006/relationships"><ns0:Relationship Type="http://schemas.openxmlformats.org/officeDocument/2006/relationships/slide" Target="/ppt/slides/slide24.xml" Id="R35d2448c6347466b" /><ns0:Relationship Type="http://schemas.openxmlformats.org/officeDocument/2006/relationships/notesMaster" Target="/ppt/workshop-added/ppt/notesMasters/notesMaster1.xml" Id="R0d0a6dd03bed43b8" /></ns0:Relationships>
</file>

<file path=ppt/workshop-added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2 minutes.</a:t>
            </a:r>
          </a:p>
          <a:p xmlns:a="http://schemas.openxmlformats.org/drawingml/2006/main">
            <a:r>
              <a:t>New teaching implementation: crowdfunding/contracts/Crowdfund.sol. Explain how this extends the Lock example to multiple participants and two settlement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3 minutes.</a:t>
            </a:r>
          </a:p>
          <a:p xmlns:a="http://schemas.openxmlformats.org/drawingml/2006/main">
            <a:r>
              <a:t>The local test clock allows a ten-minute campaign to finish during the workshop. Production users cannot advance block time. Raised is cumulative and remains unchanged after refunds.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3 minutes.</a:t>
            </a:r>
          </a:p>
          <a:p xmlns:a="http://schemas.openxmlformats.org/drawingml/2006/main">
            <a:r>
              <a:t>Show the actual source in crowdfunding/contracts/Crowdfund.sol. State changes occur before external calls. A failed transfer reverts the whole transaction. Discuss repeated settlement and why success/refund branches are exclusive.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2 minutes.</a:t>
            </a:r>
          </a:p>
          <a:p xmlns:a="http://schemas.openxmlformats.org/drawingml/2006/main">
            <a:r>
              <a:t>Use the printed http://127.0.0.1 URL, not the localhost hostname. On macOS double-click the .command file or run it from Terminal. Node.js 20+ is required, Node 24 recommended. First install is pre-work. Each project has an isolated local chain, compiled contracts and a webpage. Default mode signs using disposable local accounts.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5 minutes.</a:t>
            </a:r>
          </a:p>
          <a:p xmlns:a="http://schemas.openxmlformats.org/drawingml/2006/main">
            <a:r>
              <a:t>Script: ./run-crowdfunding.command. On the webpage, the default campaign is already deployed. Select account 1, Contribute twice. Advance past deadline. Select account 0. Owner claims. Point out the confirmed transaction hash and status 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4 minutes.</a:t>
            </a:r>
          </a:p>
          <a:p xmlns:a="http://schemas.openxmlformats.org/drawingml/2006/main">
            <a:r>
              <a:t>Select Owner for the failed claim attempt, then Supporter A for the refund. A repeat refund should fail with Nothing to refund. State inspection uses fresh chain reads after every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2 minutes.</a:t>
            </a:r>
          </a:p>
          <a:p xmlns:a="http://schemas.openxmlformats.org/drawingml/2006/main">
            <a:r>
              <a:t>Ask students to predict which require rejects each action. Run ./run-crowdfunding.command --test to execute the assertions. Negative cases are part of a successful demonstration.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2 minutes.</a:t>
            </a:r>
          </a:p>
          <a:p xmlns:a="http://schemas.openxmlformats.org/drawingml/2006/main">
            <a:r>
              <a:t>Expected result: A record becomes zero and B record stays unchanged until B refunds. Automated tests already contain this scenario as a reference. Allow students to explain the invariant before showing the test.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budget: 2 minutes.</a:t>
            </a:r>
          </a:p>
          <a:p xmlns:a="http://schemas.openxmlformats.org/drawingml/2006/main">
            <a:r>
              <a:t>Original slides describe intended behavior. The checked-in workshop Election fixes voter registration, candidate existence, constituency and deadline checks. The upstream original stays under election/upstream. Clarify the old reliability claim: frontends and RPC services can fail even when the chain is live. Total: original section 35 minutes, this section 25 minutes.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workshop-added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2e0afa88863b421e" /><ns0:Relationship Type="http://schemas.openxmlformats.org/officeDocument/2006/relationships/image" Target="/ppt/workshop-added/ppt/media/image.jpeg" Id="R4b8d9896599d4874" /></ns0:Relationships>
</file>

<file path=ppt/workshop-added/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750c0626027c47ce" /></ns0:Relationships>
</file>

<file path=ppt/workshop-added/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e8cd50b963794d7b" /></ns0:Relationships>
</file>

<file path=ppt/workshop-added/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d8c9c2d8b3cb494d" /></ns0:Relationships>
</file>

<file path=ppt/workshop-added/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869112269b2b4d00" /></ns0:Relationships>
</file>

<file path=ppt/workshop-added/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35c460c29ce740b3" /></ns0:Relationships>
</file>

<file path=ppt/workshop-added/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83db3898136a4408" /></ns0:Relationships>
</file>

<file path=ppt/workshop-added/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74bc6fc92b3042df" /></ns0:Relationships>
</file>

<file path=ppt/workshop-added/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e1972426946842ff" /></ns0:Relationships>
</file>

<file path=ppt/workshop-added/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workshop-added/ppt/slideMasters/slideMaster1.xml" Id="Rf38e4bfd2ccb413c" /></ns0:Relationships>
</file>

<file path=ppt/workshop-added/ppt/slideLayouts/slideLayout1.xml><?xml version="1.0" encoding="utf-8"?>
<p:sldLayout xmlns:p="http://schemas.openxmlformats.org/presentationml/2006/main" showMasterSp="0" preserve="1" userDrawn="1">
  <p:cSld name="Title Slide">
    <p:bg>
      <p:bgPr>
        <a:blipFill xmlns:a="http://schemas.openxmlformats.org/drawingml/2006/main" rotWithShape="1">
          <a:blip xmlns:r="http://schemas.openxmlformats.org/officeDocument/2006/relationships" r:embed="R4b8d9896599d48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74E5E6-B021-4990-A7CB-E129EBEA56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75712" y="1804769"/>
            <a:ext cx="5116945" cy="14700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733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workshop-added/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49F755-BBDE-41D6-B312-09AA83377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F60BF9-2CE7-4FF9-BB7E-7C69AF8769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E72A1D-4DF5-4B1B-A78E-64D5FED7E9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4FE062C-BC62-4D0F-9707-67D55CFA8A15}" type="datetime1">
              <a:t>9/10/2025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250F53-D7E0-4B24-80C2-4ED76C115A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7F6EC3-0A61-4CDA-A914-2ABA7B0F32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3.xml><?xml version="1.0" encoding="utf-8"?>
<p:sldLayout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0A851C-C6F3-40D7-AC26-F524099CA1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47963"/>
            <a:ext cx="10972800" cy="136207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4800" b="1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76845-5F40-47FC-9941-CF3FE117A4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CE56D8-D531-4D39-9DD0-66EFF6215896}" type="datetime1">
              <a:t>9/10/2025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DA2CBA-FE3C-4FDA-B02F-B0A290EFA6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4637F5-A27C-4F8A-8D87-B9C68FB087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D2B7BC-B9D6-4426-B539-FCD6C58BA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FE8D51-C0B1-45FF-A126-731B171E3E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733"/>
            </a:lvl1pPr>
            <a:lvl2pPr>
              <a:buNone/>
              <a:defRPr sz="3200"/>
            </a:lvl2pPr>
            <a:lvl3pPr>
              <a:buNone/>
              <a:defRPr sz="2667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C0112D-6462-4274-85D0-09C95D5A13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733"/>
            </a:lvl1pPr>
            <a:lvl2pPr>
              <a:buNone/>
              <a:defRPr sz="3200"/>
            </a:lvl2pPr>
            <a:lvl3pPr>
              <a:buNone/>
              <a:defRPr sz="2667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063AA0B-5EA9-4BC3-9E68-73C11B0C9E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321286-4171-43F3-B87E-08ED8A63857F}" type="datetime1">
              <a:t>9/10/2025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FAADE8-F88E-47F4-AEC0-5E0422640A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AB379FB-629F-44D8-8A99-FD3A2AA4D8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42969A-B53F-4397-BB2D-778B986E5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3361AB-3C59-41AA-9490-22625DDCE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854993"/>
            <a:ext cx="5386917" cy="6397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36B31A4-6A90-4B84-8B9E-521637B1F9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494757"/>
            <a:ext cx="5386917" cy="36284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667"/>
            </a:lvl2pPr>
            <a:lvl3pPr>
              <a:buNone/>
              <a:defRPr sz="2400"/>
            </a:lvl3pPr>
            <a:lvl4pPr>
              <a:buNone/>
              <a:defRPr sz="2133"/>
            </a:lvl4pPr>
            <a:lvl5pPr>
              <a:buNone/>
              <a:defRPr sz="2133"/>
            </a:lvl5pPr>
            <a:lvl6pPr>
              <a:buNone/>
              <a:defRPr sz="2133"/>
            </a:lvl6pPr>
            <a:lvl7pPr>
              <a:buNone/>
              <a:defRPr sz="2133"/>
            </a:lvl7pPr>
            <a:lvl8pPr>
              <a:buNone/>
              <a:defRPr sz="2133"/>
            </a:lvl8pPr>
            <a:lvl9pPr>
              <a:buNone/>
              <a:defRPr sz="213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5136D00-DE2A-4F05-A45E-EF60BB4D162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854993"/>
            <a:ext cx="5389033" cy="6397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4242E29-D96C-4A62-BD62-190FECE560A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494757"/>
            <a:ext cx="5389033" cy="36284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667"/>
            </a:lvl2pPr>
            <a:lvl3pPr>
              <a:buNone/>
              <a:defRPr sz="2400"/>
            </a:lvl3pPr>
            <a:lvl4pPr>
              <a:buNone/>
              <a:defRPr sz="2133"/>
            </a:lvl4pPr>
            <a:lvl5pPr>
              <a:buNone/>
              <a:defRPr sz="2133"/>
            </a:lvl5pPr>
            <a:lvl6pPr>
              <a:buNone/>
              <a:defRPr sz="2133"/>
            </a:lvl6pPr>
            <a:lvl7pPr>
              <a:buNone/>
              <a:defRPr sz="2133"/>
            </a:lvl7pPr>
            <a:lvl8pPr>
              <a:buNone/>
              <a:defRPr sz="2133"/>
            </a:lvl8pPr>
            <a:lvl9pPr>
              <a:buNone/>
              <a:defRPr sz="213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F3FF509-C7B9-49E9-BCDD-0DE44EB9D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2844B0-7457-47C6-91AE-8A00054674D9}" type="datetime1">
              <a:t>9/10/2025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9179FB9-8350-42AC-955F-F7F8DFA08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2BA60B4-3209-4531-A902-594E24BA2F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6C9C72-3B72-4C6A-9B5E-05554C170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F02E30-D0F6-4316-91E0-1F2DFD3C8B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77B03E-0E8A-4617-AA4A-011BF9C8C4AF}" type="datetime1">
              <a:t>9/10/2025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7AE6200-27E3-454E-9E6D-CDD0AB5EC6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3420C6-36A2-43A8-A9B6-D71C041A5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98031A9-4128-4100-A71A-4501F5A49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83B3DA-F39A-404C-8280-245A01B938DD}" type="datetime1">
              <a:t>9/10/2025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D55AEEE-A388-40C4-A09A-E8D797A8BA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437CD6A-AF5A-4B02-843C-506FD673D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635AAB-AF56-4715-9C44-EE06D10E9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788617"/>
            <a:ext cx="4011084" cy="116205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667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BF4AE4-6E8B-415C-A5B2-0E69721AAE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788620"/>
            <a:ext cx="6815667" cy="539820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267"/>
            </a:lvl1pPr>
            <a:lvl2pPr>
              <a:buNone/>
              <a:defRPr sz="3733"/>
            </a:lvl2pPr>
            <a:lvl3pPr>
              <a:buNone/>
              <a:defRPr sz="3200"/>
            </a:lvl3pPr>
            <a:lvl4pPr>
              <a:buNone/>
              <a:defRPr sz="2667"/>
            </a:lvl4pPr>
            <a:lvl5pPr>
              <a:buNone/>
              <a:defRPr sz="2667"/>
            </a:lvl5pPr>
            <a:lvl6pPr>
              <a:buNone/>
              <a:defRPr sz="2667"/>
            </a:lvl6pPr>
            <a:lvl7pPr>
              <a:buNone/>
              <a:defRPr sz="2667"/>
            </a:lvl7pPr>
            <a:lvl8pPr>
              <a:buNone/>
              <a:defRPr sz="2667"/>
            </a:lvl8pPr>
            <a:lvl9pPr>
              <a:buNone/>
              <a:defRPr sz="2667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1A02CE-2B5E-423D-BC80-0DBFEEEDA9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2125147"/>
            <a:ext cx="4011084" cy="406167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1A768EF-7840-41A5-8675-42AAE3A86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DAF4A1-3B0F-48AC-988C-36B952EF74EB}" type="datetime1">
              <a:t>9/10/2025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FB4218-F54B-484E-8D65-4AC247ABB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5E1205-1E3A-43FE-8FAC-AEA5E7F206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EA3AEB-AC1C-4E35-94F7-73D345D6AF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9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667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89046B1-506F-4EC9-9B0A-13D0A686455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A902F27-AA62-4819-A76F-781916F621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18544B-0AFA-4D33-AC21-65F3B5ED7B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5815374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8C36B5-AE52-46A5-8A68-115F6B1BB3DB}" type="datetime1">
              <a:t>9/10/2025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99F14A-E2B2-4B54-8923-C966E8586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5815374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792C74-A738-47F9-B97C-2700DCF628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workshop-added/ppt/slideLayouts/slideLayout10.xml><?xml version="1.0" encoding="utf-8"?>
<p:sldLayout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B9E66-1940-90F1-6E16-CC5F8075AC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7DA213-5100-FE64-F570-DE136FD09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4E4192-F7FD-443D-9F0C-9BA3E298A9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0C505C-41AC-4D38-9ED5-35C266745857}" type="datetimeFigureOut">
              <a:t>10/9/2025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53F57-C9BA-2D71-A168-60E3927D31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3B2248-8E74-56B7-DC98-B5679829D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D10483-5A35-4AF6-9E2A-35A71E4F855F}" type="slidenum">
              <a:t>‹#›</a:t>
            </a:fld>
            <a:endParaRPr/>
          </a:p>
        </p:txBody>
      </p:sp>
    </p:spTree>
  </p:cSld>
</p:sldLayout>
</file>

<file path=ppt/workshop-added/ppt/slideMasters/_rels/slideMaster1.xml.rels><?xml version='1.0' encoding='utf-8'?>
<ns0:Relationships xmlns:ns0="http://schemas.openxmlformats.org/package/2006/relationships"><ns0:Relationship Type="http://schemas.openxmlformats.org/officeDocument/2006/relationships/image" Target="/ppt/workshop-added/ppt/media/image.png" Id="R748b591f9ede453a" /><ns0:Relationship Type="http://schemas.openxmlformats.org/officeDocument/2006/relationships/theme" Target="/ppt/workshop-added/ppt/slideMasters/theme/theme2.xml" Id="R0da83292dda04a17" /><ns0:Relationship Type="http://schemas.openxmlformats.org/officeDocument/2006/relationships/slideLayout" Target="/ppt/workshop-added/ppt/slideLayouts/slideLayout1.xml" Id="R9f231a24b67b47f8" /><ns0:Relationship Type="http://schemas.openxmlformats.org/officeDocument/2006/relationships/slideLayout" Target="/ppt/workshop-added/ppt/slideLayouts/slideLayout2.xml" Id="R759606074f6b4acd" /><ns0:Relationship Type="http://schemas.openxmlformats.org/officeDocument/2006/relationships/slideLayout" Target="/ppt/workshop-added/ppt/slideLayouts/slideLayout3.xml" Id="R9ae95264c1d84405" /><ns0:Relationship Type="http://schemas.openxmlformats.org/officeDocument/2006/relationships/slideLayout" Target="/ppt/workshop-added/ppt/slideLayouts/slideLayout4.xml" Id="R63715498d8824186" /><ns0:Relationship Type="http://schemas.openxmlformats.org/officeDocument/2006/relationships/slideLayout" Target="/ppt/workshop-added/ppt/slideLayouts/slideLayout5.xml" Id="Rdff035283c7747b8" /><ns0:Relationship Type="http://schemas.openxmlformats.org/officeDocument/2006/relationships/slideLayout" Target="/ppt/workshop-added/ppt/slideLayouts/slideLayout6.xml" Id="R511dc7aa4fae460c" /><ns0:Relationship Type="http://schemas.openxmlformats.org/officeDocument/2006/relationships/slideLayout" Target="/ppt/workshop-added/ppt/slideLayouts/slideLayout7.xml" Id="R54720202c017425b" /><ns0:Relationship Type="http://schemas.openxmlformats.org/officeDocument/2006/relationships/slideLayout" Target="/ppt/workshop-added/ppt/slideLayouts/slideLayout8.xml" Id="R08d18c7d1d354f7d" /><ns0:Relationship Type="http://schemas.openxmlformats.org/officeDocument/2006/relationships/slideLayout" Target="/ppt/workshop-added/ppt/slideLayouts/slideLayout9.xml" Id="Ra42c902b66f142f4" /><ns0:Relationship Type="http://schemas.openxmlformats.org/officeDocument/2006/relationships/slideLayout" Target="/ppt/workshop-added/ppt/slideLayouts/slideLayout10.xml" Id="R148c1b74b7f14afb" /></ns0:Relationships>
</file>

<file path=ppt/workshop-added/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2D0877-F47C-4BAD-915B-B4F104EAB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20727"/>
            <a:ext cx="10972800" cy="937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37BF98-9875-4557-8B97-279E863FD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304926"/>
            <a:ext cx="10972800" cy="503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8D409D-4F5F-4900-98AD-BB585D7289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194800" y="649287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b591f9ede45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496255"/>
            <a:ext cx="12192000" cy="3825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31a24b67b47f8"/>
    <p:sldLayoutId xmlns:r="http://schemas.openxmlformats.org/officeDocument/2006/relationships" id="2147483650" r:id="R759606074f6b4acd"/>
    <p:sldLayoutId xmlns:r="http://schemas.openxmlformats.org/officeDocument/2006/relationships" id="2147483651" r:id="R9ae95264c1d84405"/>
    <p:sldLayoutId xmlns:r="http://schemas.openxmlformats.org/officeDocument/2006/relationships" id="2147483652" r:id="R63715498d8824186"/>
    <p:sldLayoutId xmlns:r="http://schemas.openxmlformats.org/officeDocument/2006/relationships" id="2147483653" r:id="Rdff035283c7747b8"/>
    <p:sldLayoutId xmlns:r="http://schemas.openxmlformats.org/officeDocument/2006/relationships" id="2147483654" r:id="R511dc7aa4fae460c"/>
    <p:sldLayoutId xmlns:r="http://schemas.openxmlformats.org/officeDocument/2006/relationships" id="2147483655" r:id="R54720202c017425b"/>
    <p:sldLayoutId xmlns:r="http://schemas.openxmlformats.org/officeDocument/2006/relationships" id="2147483656" r:id="R08d18c7d1d354f7d"/>
    <p:sldLayoutId xmlns:r="http://schemas.openxmlformats.org/officeDocument/2006/relationships" id="2147483657" r:id="Ra42c902b66f142f4"/>
    <p:sldLayoutId xmlns:r="http://schemas.openxmlformats.org/officeDocument/2006/relationships" id="2147483658" r:id="R148c1b74b7f14afb"/>
  </p:sldLayoutIdLst>
  <p:hf hdr="0" ftr="0" dt="0"/>
  <p:txStyles>
    <p:titleStyle>
      <a:lvl1pPr xmlns:a="http://schemas.openxmlformats.org/drawingml/2006/main" algn="l" defTabSz="609585">
        <a:spcBef>
          <a:spcPct val="0"/>
        </a:spcBef>
        <a:buNone/>
        <a:defRPr sz="426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457189" indent="-457189" algn="l" defTabSz="609585">
        <a:spcBef>
          <a:spcPts val="1600"/>
        </a:spcBef>
        <a:buFont typeface="Arial"/>
        <a:buChar char="•"/>
        <a:defRPr sz="3200" kern="1200">
          <a:solidFill>
            <a:schemeClr val="tx2"/>
          </a:solidFill>
          <a:latin typeface="Arial"/>
          <a:ea typeface="Arial"/>
          <a:cs typeface="Arial"/>
        </a:defRPr>
      </a:lvl1pPr>
      <a:lvl2pPr xmlns:a="http://schemas.openxmlformats.org/drawingml/2006/main" marL="990575" indent="-380990" algn="l" defTabSz="609585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523962" indent="-304792" algn="l" defTabSz="609585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2133547" indent="-304792" algn="l" defTabSz="609585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743131" indent="-304792" algn="l" defTabSz="609585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workshop-added/ppt/slideMasters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01eaeb-90d1-45f0-b9e8-29b302db3b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6CA3FDC2EC741AE7478374A89F446" ma:contentTypeVersion="16" ma:contentTypeDescription="Create a new document." ma:contentTypeScope="" ma:versionID="f758e4d92fba5cd6fdd69e49d476e021">
  <xsd:schema xmlns:xsd="http://www.w3.org/2001/XMLSchema" xmlns:xs="http://www.w3.org/2001/XMLSchema" xmlns:p="http://schemas.microsoft.com/office/2006/metadata/properties" xmlns:ns3="25cbc1e5-5dc5-4c62-9744-e742888e6e90" xmlns:ns4="2201eaeb-90d1-45f0-b9e8-29b302db3b4b" targetNamespace="http://schemas.microsoft.com/office/2006/metadata/properties" ma:root="true" ma:fieldsID="c4a9fd74dfc4b0100693b25f63e85f3e" ns3:_="" ns4:_="">
    <xsd:import namespace="25cbc1e5-5dc5-4c62-9744-e742888e6e90"/>
    <xsd:import namespace="2201eaeb-90d1-45f0-b9e8-29b302db3b4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c1e5-5dc5-4c62-9744-e742888e6e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1eaeb-90d1-45f0-b9e8-29b302db3b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9E863A-CA42-4259-B587-1DF7CBA69840}">
  <ds:schemaRefs>
    <ds:schemaRef ds:uri="http://purl.org/dc/dcmitype/"/>
    <ds:schemaRef ds:uri="http://schemas.microsoft.com/office/2006/documentManagement/types"/>
    <ds:schemaRef ds:uri="25cbc1e5-5dc5-4c62-9744-e742888e6e90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201eaeb-90d1-45f0-b9e8-29b302db3b4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C3471EC-26CE-4663-AA75-D1EE065589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20DD5A-7E47-4059-B471-A3C6195F3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bc1e5-5dc5-4c62-9744-e742888e6e90"/>
    <ds:schemaRef ds:uri="2201eaeb-90d1-45f0-b9e8-29b302db3b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89a2b12-d97d-410e-8804-b602bba5fc03}" enabled="1" method="Privileged" siteId="{15ce9348-be2a-462b-8fc0-e1765a9b204a}" removed="0"/>
</clbl:labelList>
</file>

<file path=docProps/app.xml><?xml version="1.0" encoding="utf-8"?>
<ns0:Properties xmlns:ns0="http://schemas.openxmlformats.org/officeDocument/2006/extended-properties" xmlns:ns1="http://schemas.openxmlformats.org/officeDocument/2006/docPropsVTypes">
  <ns0:Template/>
  <ns0:TotalTime>478</ns0:TotalTime>
  <ns0:Words>579</ns0:Words>
  <ns0:Application>Microsoft Office PowerPoint</ns0:Application>
  <ns0:PresentationFormat>宽屏</ns0:PresentationFormat>
  <ns0:Paragraphs>141</ns0:Paragraphs>
  <ns0:Slides>24</ns0:Slides>
  <ns0:Notes>6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15</ns1:i4>
      </ns1:variant>
    </ns1:vector>
  </ns0:HeadingPairs>
  <ns0:TitlesOfParts>
    <ns1:vector size="19" baseType="lpstr">
      <ns1:lpstr>Arial Unicode MS</ns1:lpstr>
      <ns1:lpstr>Aptos</ns1:lpstr>
      <ns1:lpstr>Arial</ns1:lpstr>
      <ns1:lpstr>1_Office Theme</ns1:lpstr>
      <ns1:lpstr>CE/CZ4153 Tutorial dApp Development Workshop</ns1:lpstr>
      <ns1:lpstr>What is dApp?</ns1:lpstr>
      <ns1:lpstr>Why developing dApp? Reliable Service</ns1:lpstr>
      <ns1:lpstr>Why developing dApp? New Opportunities!</ns1:lpstr>
      <ns1:lpstr>How to develop a dApp?</ns1:lpstr>
      <ns1:lpstr>Lock dApp</ns1:lpstr>
      <ns1:lpstr>Lock dApp</ns1:lpstr>
      <ns1:lpstr>Lock dApp</ns1:lpstr>
      <ns1:lpstr>Lock dApp</ns1:lpstr>
      <ns1:lpstr>Lock dApp</ns1:lpstr>
      <ns1:lpstr>Let’s try to run it!!</ns1:lpstr>
      <ns1:lpstr>Vote dApp</ns1:lpstr>
      <ns1:lpstr>Vote dApp</ns1:lpstr>
      <ns1:lpstr>PowerPoint 演示文稿</ns1:lpstr>
      <ns1:lpstr>Let’s try to run it!!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#ZHANG CHENGXUAN#</dc:creator>
  <cp:lastModifiedBy>#ZHANG CHENGXUAN#</cp:lastModifiedBy>
  <cp:revision>7</cp:revision>
  <dcterms:created xsi:type="dcterms:W3CDTF">2024-05-23T13:59:21Z</dcterms:created>
  <dcterms:modified xsi:type="dcterms:W3CDTF">2025-09-10T03:56:18Z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0x0101009CC6CA3FDC2EC741AE7478374A89F446</vt:lpwstr>
  </property>
</Properties>
</file>