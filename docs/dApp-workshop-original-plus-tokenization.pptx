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77f131ee974b44" /><Relationship Type="http://schemas.openxmlformats.org/officeDocument/2006/relationships/extended-properties" Target="/docProps/app.xml" Id="Ref8317f3a9fa406b" /><Relationship Type="http://schemas.openxmlformats.org/officeDocument/2006/relationships/officeDocument" Target="/ppt/presentation.xml" Id="Rf41829eb73a8465d" /></Relationships>
</file>

<file path=ppt/presentation.xml><?xml version="1.0" encoding="utf-8"?>
<p:presentation xmlns:p="http://schemas.openxmlformats.org/presentationml/2006/main">
  <p:sldMasterIdLst>
    <p:sldMasterId xmlns:r="http://schemas.openxmlformats.org/officeDocument/2006/relationships" id="2147483648" r:id="R6ab32f019de74e5d"/>
  </p:sldMasterIdLst>
  <p:notesMasterIdLst>
    <p:notesMasterId xmlns:r="http://schemas.openxmlformats.org/officeDocument/2006/relationships" r:id="R726a9448a6014d74"/>
  </p:notesMasterIdLst>
  <p:sldIdLst>
    <p:sldId xmlns:r="http://schemas.openxmlformats.org/officeDocument/2006/relationships" id="256" r:id="R3951965416e44d56"/>
    <p:sldId xmlns:r="http://schemas.openxmlformats.org/officeDocument/2006/relationships" id="257" r:id="R0d7061983e654332"/>
    <p:sldId xmlns:r="http://schemas.openxmlformats.org/officeDocument/2006/relationships" id="258" r:id="Rdf2b9f8f09da4003"/>
    <p:sldId xmlns:r="http://schemas.openxmlformats.org/officeDocument/2006/relationships" id="259" r:id="R203578d1df764019"/>
    <p:sldId xmlns:r="http://schemas.openxmlformats.org/officeDocument/2006/relationships" id="260" r:id="Rb034b6539b8b42e1"/>
    <p:sldId xmlns:r="http://schemas.openxmlformats.org/officeDocument/2006/relationships" id="261" r:id="Rc46b531b40414490"/>
    <p:sldId xmlns:r="http://schemas.openxmlformats.org/officeDocument/2006/relationships" id="262" r:id="R0c11af26284c44eb"/>
    <p:sldId xmlns:r="http://schemas.openxmlformats.org/officeDocument/2006/relationships" id="263" r:id="R764d74b7e5624d2e"/>
    <p:sldId xmlns:r="http://schemas.openxmlformats.org/officeDocument/2006/relationships" id="264" r:id="R8b150fb60381482a"/>
    <p:sldId xmlns:r="http://schemas.openxmlformats.org/officeDocument/2006/relationships" id="265" r:id="R337c2daf9a084adf"/>
    <p:sldId xmlns:r="http://schemas.openxmlformats.org/officeDocument/2006/relationships" id="266" r:id="Rfa0e04221ac04c64"/>
    <p:sldId xmlns:r="http://schemas.openxmlformats.org/officeDocument/2006/relationships" id="267" r:id="R5f05ee3f91924dff"/>
    <p:sldId xmlns:r="http://schemas.openxmlformats.org/officeDocument/2006/relationships" id="268" r:id="Ra91c8777a3694b2e"/>
    <p:sldId xmlns:r="http://schemas.openxmlformats.org/officeDocument/2006/relationships" id="269" r:id="R02f100ae8c9f47b1"/>
    <p:sldId xmlns:r="http://schemas.openxmlformats.org/officeDocument/2006/relationships" id="270" r:id="Rd92ccb3998e24f8c"/>
    <p:sldId xmlns:r="http://schemas.openxmlformats.org/officeDocument/2006/relationships" id="271" r:id="Ra3cded502c5d4dac"/>
    <p:sldId xmlns:r="http://schemas.openxmlformats.org/officeDocument/2006/relationships" id="272" r:id="Rcf71f514fb7941df"/>
    <p:sldId xmlns:r="http://schemas.openxmlformats.org/officeDocument/2006/relationships" id="273" r:id="R5459e26d111046ed"/>
    <p:sldId xmlns:r="http://schemas.openxmlformats.org/officeDocument/2006/relationships" id="274" r:id="R573eb081596b4675"/>
    <p:sldId xmlns:r="http://schemas.openxmlformats.org/officeDocument/2006/relationships" id="275" r:id="Rd0d371545e9e4002"/>
    <p:sldId xmlns:r="http://schemas.openxmlformats.org/officeDocument/2006/relationships" id="276" r:id="R02876a5fee834429"/>
    <p:sldId xmlns:r="http://schemas.openxmlformats.org/officeDocument/2006/relationships" id="277" r:id="R36699feb7c5c40a3"/>
    <p:sldId xmlns:r="http://schemas.openxmlformats.org/officeDocument/2006/relationships" id="278" r:id="R941da2f870834afa"/>
    <p:sldId xmlns:r="http://schemas.openxmlformats.org/officeDocument/2006/relationships" id="279" r:id="R82fd4b47237845b9"/>
    <p:sldId xmlns:r="http://schemas.openxmlformats.org/officeDocument/2006/relationships" id="280" r:id="R593735c81be941b5"/>
    <p:sldId xmlns:r="http://schemas.openxmlformats.org/officeDocument/2006/relationships" id="281" r:id="R5a3a6484ace447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49ccdf3d6eab4550" /><Relationship Type="http://schemas.openxmlformats.org/officeDocument/2006/relationships/slideMaster" Target="/ppt/slideMasters/slideMaster1.xml" Id="R6ab32f019de74e5d" /><Relationship Type="http://schemas.openxmlformats.org/officeDocument/2006/relationships/notesMaster" Target="/ppt/notesMasters/notesMaster1.xml" Id="R726a9448a6014d74" /><Relationship Type="http://schemas.openxmlformats.org/officeDocument/2006/relationships/presProps" Target="/ppt/presProps.xml" Id="R1d92d735984e4eee" /><Relationship Type="http://schemas.openxmlformats.org/officeDocument/2006/relationships/viewProps" Target="/ppt/viewProps.xml" Id="R031a965e893e49b9" /><Relationship Type="http://schemas.openxmlformats.org/officeDocument/2006/relationships/tableStyles" Target="/ppt/tableStyles.xml" Id="Rc971dac0fd4f4aef" /><Relationship Type="http://schemas.openxmlformats.org/officeDocument/2006/relationships/slide" Target="/ppt/slides/slide1.xml" Id="R3951965416e44d56" /><Relationship Type="http://schemas.openxmlformats.org/officeDocument/2006/relationships/slide" Target="/ppt/slides/slide2.xml" Id="R0d7061983e654332" /><Relationship Type="http://schemas.openxmlformats.org/officeDocument/2006/relationships/slide" Target="/ppt/slides/slide3.xml" Id="Rdf2b9f8f09da4003" /><Relationship Type="http://schemas.openxmlformats.org/officeDocument/2006/relationships/slide" Target="/ppt/slides/slide4.xml" Id="R203578d1df764019" /><Relationship Type="http://schemas.openxmlformats.org/officeDocument/2006/relationships/slide" Target="/ppt/slides/slide5.xml" Id="Rb034b6539b8b42e1" /><Relationship Type="http://schemas.openxmlformats.org/officeDocument/2006/relationships/slide" Target="/ppt/slides/slide6.xml" Id="Rc46b531b40414490" /><Relationship Type="http://schemas.openxmlformats.org/officeDocument/2006/relationships/slide" Target="/ppt/slides/slide7.xml" Id="R0c11af26284c44eb" /><Relationship Type="http://schemas.openxmlformats.org/officeDocument/2006/relationships/slide" Target="/ppt/slides/slide8.xml" Id="R764d74b7e5624d2e" /><Relationship Type="http://schemas.openxmlformats.org/officeDocument/2006/relationships/slide" Target="/ppt/slides/slide9.xml" Id="R8b150fb60381482a" /><Relationship Type="http://schemas.openxmlformats.org/officeDocument/2006/relationships/slide" Target="/ppt/slides/slide10.xml" Id="R337c2daf9a084adf" /><Relationship Type="http://schemas.openxmlformats.org/officeDocument/2006/relationships/slide" Target="/ppt/slides/slide11.xml" Id="Rfa0e04221ac04c64" /><Relationship Type="http://schemas.openxmlformats.org/officeDocument/2006/relationships/slide" Target="/ppt/slides/slide12.xml" Id="R5f05ee3f91924dff" /><Relationship Type="http://schemas.openxmlformats.org/officeDocument/2006/relationships/slide" Target="/ppt/slides/slide13.xml" Id="Ra91c8777a3694b2e" /><Relationship Type="http://schemas.openxmlformats.org/officeDocument/2006/relationships/slide" Target="/ppt/slides/slide14.xml" Id="R02f100ae8c9f47b1" /><Relationship Type="http://schemas.openxmlformats.org/officeDocument/2006/relationships/slide" Target="/ppt/slides/slide15.xml" Id="Rd92ccb3998e24f8c" /><Relationship Type="http://schemas.openxmlformats.org/officeDocument/2006/relationships/slide" Target="/ppt/slides/slide16.xml" Id="Ra3cded502c5d4dac" /><Relationship Type="http://schemas.openxmlformats.org/officeDocument/2006/relationships/slide" Target="/ppt/slides/slide17.xml" Id="Rcf71f514fb7941df" /><Relationship Type="http://schemas.openxmlformats.org/officeDocument/2006/relationships/slide" Target="/ppt/slides/slide18.xml" Id="R5459e26d111046ed" /><Relationship Type="http://schemas.openxmlformats.org/officeDocument/2006/relationships/slide" Target="/ppt/slides/slide19.xml" Id="R573eb081596b4675" /><Relationship Type="http://schemas.openxmlformats.org/officeDocument/2006/relationships/slide" Target="/ppt/slides/slide20.xml" Id="Rd0d371545e9e4002" /><Relationship Type="http://schemas.openxmlformats.org/officeDocument/2006/relationships/slide" Target="/ppt/slides/slide21.xml" Id="R02876a5fee834429" /><Relationship Type="http://schemas.openxmlformats.org/officeDocument/2006/relationships/slide" Target="/ppt/slides/slide22.xml" Id="R36699feb7c5c40a3" /><Relationship Type="http://schemas.openxmlformats.org/officeDocument/2006/relationships/slide" Target="/ppt/slides/slide23.xml" Id="R941da2f870834afa" /><Relationship Type="http://schemas.openxmlformats.org/officeDocument/2006/relationships/slide" Target="/ppt/slides/slide24.xml" Id="R82fd4b47237845b9" /><Relationship Type="http://schemas.openxmlformats.org/officeDocument/2006/relationships/slide" Target="/ppt/slides/slide25.xml" Id="R593735c81be941b5" /><Relationship Type="http://schemas.openxmlformats.org/officeDocument/2006/relationships/slide" Target="/ppt/slides/slide26.xml" Id="R5a3a6484ace447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9808a60a1c47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265043700a4874" /><Relationship Type="http://schemas.openxmlformats.org/officeDocument/2006/relationships/notesMaster" Target="/ppt/notesMasters/notesMaster1.xml" Id="Rbc2bfc4d3ef34c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444dd53cfd4e92" /><Relationship Type="http://schemas.openxmlformats.org/officeDocument/2006/relationships/notesMaster" Target="/ppt/notesMasters/notesMaster1.xml" Id="Rf32a40fa551149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2ebfb7adb744a2" /><Relationship Type="http://schemas.openxmlformats.org/officeDocument/2006/relationships/notesMaster" Target="/ppt/notesMasters/notesMaster1.xml" Id="R9ea262e443bb48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1524ef2cd94319" /><Relationship Type="http://schemas.openxmlformats.org/officeDocument/2006/relationships/notesMaster" Target="/ppt/notesMasters/notesMaster1.xml" Id="R7de9abde8e784d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9ba7716b84430a" /><Relationship Type="http://schemas.openxmlformats.org/officeDocument/2006/relationships/notesMaster" Target="/ppt/notesMasters/notesMaster1.xml" Id="Rfc2b1141635844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6110798af7474b" /><Relationship Type="http://schemas.openxmlformats.org/officeDocument/2006/relationships/notesMaster" Target="/ppt/notesMasters/notesMaster1.xml" Id="R9c9389af8f7547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ad270e81be4f62" /><Relationship Type="http://schemas.openxmlformats.org/officeDocument/2006/relationships/notesMaster" Target="/ppt/notesMasters/notesMaster1.xml" Id="R0569f3cf7445421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42bf83576740f1" /><Relationship Type="http://schemas.openxmlformats.org/officeDocument/2006/relationships/notesMaster" Target="/ppt/notesMasters/notesMaster1.xml" Id="R908a87098c9147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6de2b521bc4ab6" /><Relationship Type="http://schemas.openxmlformats.org/officeDocument/2006/relationships/notesMaster" Target="/ppt/notesMasters/notesMaster1.xml" Id="Re3f7699f0b25429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532f82be7a4ce7" /><Relationship Type="http://schemas.openxmlformats.org/officeDocument/2006/relationships/notesMaster" Target="/ppt/notesMasters/notesMaster1.xml" Id="R15ac9a3104dd4e1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a3322c408042f7" /><Relationship Type="http://schemas.openxmlformats.org/officeDocument/2006/relationships/notesMaster" Target="/ppt/notesMasters/notesMaster1.xml" Id="R4cde95916fc74c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5ae7e4b453d43f6" /><Relationship Type="http://schemas.openxmlformats.org/officeDocument/2006/relationships/notesMaster" Target="/ppt/notesMasters/notesMaster1.xml" Id="R9b441463aabe47f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8b9764f172942df" /><Relationship Type="http://schemas.openxmlformats.org/officeDocument/2006/relationships/notesMaster" Target="/ppt/notesMasters/notesMaster1.xml" Id="Rb6e7310563104c8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e5f45c27a5d4ceb" /><Relationship Type="http://schemas.openxmlformats.org/officeDocument/2006/relationships/notesMaster" Target="/ppt/notesMasters/notesMaster1.xml" Id="R536e6f44d44548f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5f326a9b43f4d2a" /><Relationship Type="http://schemas.openxmlformats.org/officeDocument/2006/relationships/notesMaster" Target="/ppt/notesMasters/notesMaster1.xml" Id="Rb91897c76eaf405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c5b42bfbc1c4084" /><Relationship Type="http://schemas.openxmlformats.org/officeDocument/2006/relationships/notesMaster" Target="/ppt/notesMasters/notesMaster1.xml" Id="R8b81111b01cb4e9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de1946869fe4374" /><Relationship Type="http://schemas.openxmlformats.org/officeDocument/2006/relationships/notesMaster" Target="/ppt/notesMasters/notesMaster1.xml" Id="R4207793fa423488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ecbc7708943442c" /><Relationship Type="http://schemas.openxmlformats.org/officeDocument/2006/relationships/notesMaster" Target="/ppt/notesMasters/notesMaster1.xml" Id="Rff6dfa517227469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441ee445f574309" /><Relationship Type="http://schemas.openxmlformats.org/officeDocument/2006/relationships/notesMaster" Target="/ppt/notesMasters/notesMaster1.xml" Id="R97557a8ca28040f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af671741e44409d" /><Relationship Type="http://schemas.openxmlformats.org/officeDocument/2006/relationships/notesMaster" Target="/ppt/notesMasters/notesMaster1.xml" Id="R8235f17d4f2b426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bd7fc3fc09448f4" /><Relationship Type="http://schemas.openxmlformats.org/officeDocument/2006/relationships/notesMaster" Target="/ppt/notesMasters/notesMaster1.xml" Id="R10774e2ef4f6483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48d9361d6cb4997" /><Relationship Type="http://schemas.openxmlformats.org/officeDocument/2006/relationships/notesMaster" Target="/ppt/notesMasters/notesMaster1.xml" Id="R594ba63f2b794f1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fc9b9914a4146e2" /><Relationship Type="http://schemas.openxmlformats.org/officeDocument/2006/relationships/notesMaster" Target="/ppt/notesMasters/notesMaster1.xml" Id="Rc16228ac547b4af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6bc9e16eb8f4b1d" /><Relationship Type="http://schemas.openxmlformats.org/officeDocument/2006/relationships/notesMaster" Target="/ppt/notesMasters/notesMaster1.xml" Id="R59c1ca3b07db4a8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9118e7330d9439b" /><Relationship Type="http://schemas.openxmlformats.org/officeDocument/2006/relationships/notesMaster" Target="/ppt/notesMasters/notesMaster1.xml" Id="Re0cbfda9fbab4d5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86b7a6030cc4528" /><Relationship Type="http://schemas.openxmlformats.org/officeDocument/2006/relationships/notesMaster" Target="/ppt/notesMasters/notesMaster1.xml" Id="R6f3316c6cb3740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ISP: Internet Service Provider</a:t>
            </a:r>
          </a:p>
          <a:p xmlns:a="http://schemas.openxmlformats.org/drawingml/2006/main">
            <a:r>
              <a:t>On the left side, for traditional Apps, the ISP provides access to a centralized Data Center that hosts the app's data and functionalities.</a:t>
            </a:r>
          </a:p>
          <a:p xmlns:a="http://schemas.openxmlformats.org/drawingml/2006/main">
            <a:r>
              <a:t>On the right side, for </a:t>
            </a:r>
            <a:r>
              <a:t>dApps</a:t>
            </a:r>
            <a:r>
              <a:t> (decentralized applications), the ISP provides access to a decentralized network where the app's data and functionalities are distributed across multiple nodes, rather than being hosted in a central server. </a:t>
            </a:r>
          </a:p>
          <a:p xmlns:a="http://schemas.openxmlformats.org/drawingml/2006/main">
            <a:r>
              <a:t>This decentralized structure is a key feature of </a:t>
            </a:r>
            <a:r>
              <a:t>dApps</a:t>
            </a:r>
            <a:r>
              <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 Client-server</a:t>
            </a:r>
          </a:p>
          <a:p xmlns:a="http://schemas.openxmlformats.org/drawingml/2006/main">
            <a:r>
              <a:t>B/S: Browser-server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t>
            </a:r>
            <a:r>
              <a:t>2022-DeFi, Web 3, NFT / Gaming and Multi-Channel </a:t>
            </a:r>
            <a:r>
              <a:t>Perspectives_Btcfans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set expectations. Foundations 9 minutes; Lock 14; Election 14; Tokenization 17; startup recap and questions 6. Installation happens before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signer in every demo. Lock: MetaMask signs. Election: the Express server signs with an unlocked Ganache account. Tokenization: a local burner wallet or MetaMask signs. The signer location changes the trust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the original React frontend through the EIP-1193 provider to MetaMask, then Ganache and Lock.sol. The frontend builds the request. MetaMask holds the key, displays the confirmation, and signs. Ganache mines the transaction.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./run-lock.command. Add http://127.0.0.1:8545 with chain ID 31337 in MetaMask and import the printed disposable key. Connect, deploy with a near future UTC time, unlock as owner, and withdraw. Never use real funds or reuse this development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browser sends HTTP JSON to Express on port 4000. Express uses Web3 and an unlocked Ganache account to sign. Election state lives in the factory and election contracts. This classroom design adds a trusted backend between the student and the chain.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./run-election.command. Create an election through the original form, open the returned election address, and add a constituency. Show one React component, its Express route, and the corresponding contract method. Source: https://github.com/schadokar/election-ethereum-react-dapp commit 14d44375056819f20296691c73adf642f54d6819.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official Scaffold-ETH 2 SpeedRunEthereum challenge-tokenization extension generated with create-eth 2.0.23. Challenge source commit: ecc5ac0a774fd0e7400babe800c01d6525a5b827. License: MIT, BuidlGuidl. Source: https://github.com/scaffold-eth/se-2-challenges/tree/challenge-tokenization.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Next.js through wagmi and the selected wallet to Hardhat and the ERC-721 contract. ownerOf(tokenId) is the onchain ownership fact. tokenURI points to metadata, and metadata points to media. A real-world legal claim requires a separate issuer and legal framework. Source: official challenge README and OpenZeppelin ERC-721 implementation included in the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./run-tokenization.command. Use the burner wallet for speed or MetaMask for a persistent wallet. Mint an NFT, copy a second address from an incognito window, transfer the token, then verify the receiving wallet, ownerOf(tokenId), and the Transfer event. Source: official Scaffold-ETH 2 Tokenization challenge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launcher installs pinned dependencies on first run, starts a local chain, deploys the project contracts, starts required frontend/backend processes, waits for readiness, and opens the browser. Run only one at a time because the projects share ports 3000 and 8545.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asking students to name the signer and trust boundary in each project. Revisit onchain state versus UI state and NFT metadata. Suggested questions: Which architecture would you use for a public app? What must a backend still provide? What does ownerOf prove, and what does it not prove?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1174afd4df4a37" /><Relationship Type="http://schemas.openxmlformats.org/officeDocument/2006/relationships/image" Target="/ppt/media/image.jpeg" Id="Rd009db762da24b9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9989091f98481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4262347e3d9438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477f83218714f1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e396fc7fdb0428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db4286f24b8490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c7cd6f788b74ca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ec5e7652d8d4fa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32641c7bb5d4be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644a7b4e4854a94" /></Relationships>
</file>

<file path=ppt/slideLayouts/slideLayout1.xml><?xml version="1.0" encoding="utf-8"?>
<p:sldLayout xmlns:p="http://schemas.openxmlformats.org/presentationml/2006/main" showMasterSp="0" preserve="1" userDrawn="1">
  <p:cSld name="Title Slide">
    <p:bg>
      <p:bgPr>
        <a:blipFill xmlns:a="http://schemas.openxmlformats.org/drawingml/2006/main" rotWithShape="1">
          <a:blip xmlns:r="http://schemas.openxmlformats.org/officeDocument/2006/relationships" r:embed="Rd009db762da24b96">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ADA1FB4-E731-4FD7-9E30-B76398CBA543}"/>
              </a:ext>
            </a:extLst>
          </p:cNvPr>
          <p:cNvSpPr>
            <a:spLocks xmlns:a="http://schemas.openxmlformats.org/drawingml/2006/main" noGrp="1"/>
          </p:cNvSpPr>
          <p:nvPr>
            <p:ph type="ctrTitle" idx="0"/>
          </p:nvPr>
        </p:nvSpPr>
        <p:spPr>
          <a:xfrm xmlns:a="http://schemas.openxmlformats.org/drawingml/2006/main">
            <a:off x="375712" y="1804769"/>
            <a:ext cx="5116945" cy="1470025"/>
          </a:xfrm>
        </p:spPr>
        <p:txBody>
          <a:bodyPr xmlns:a="http://schemas.openxmlformats.org/drawingml/2006/main">
            <a:normAutofit/>
          </a:bodyPr>
          <a:lstStyle xmlns:a="http://schemas.openxmlformats.org/drawingml/2006/main">
            <a:lvl1pPr>
              <a:buNone/>
              <a:defRPr sz="3733" b="1">
                <a:solidFill>
                  <a:schemeClr val="bg1"/>
                </a:solidFill>
              </a:defRPr>
            </a:lvl1pPr>
          </a:lstStyle>
          <a:p xmlns:a="http://schemas.openxmlformats.org/drawingml/2006/main">
            <a:r>
              <a:t>Click to edit Master title style</a:t>
            </a: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2481224-6BCA-4DE0-B6DE-C21531349D0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D2AC66A-D2F8-46BF-A133-F3C08573F579}"/>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32B97E8D-2756-4772-BC23-5B7221174913}"/>
              </a:ext>
            </a:extLst>
          </p:cNvPr>
          <p:cNvSpPr>
            <a:spLocks xmlns:a="http://schemas.openxmlformats.org/drawingml/2006/main" noGrp="1"/>
          </p:cNvSpPr>
          <p:nvPr>
            <p:ph type="dt" idx="10"/>
          </p:nvPr>
        </p:nvSpPr>
        <p:spPr>
          <a:xfrm xmlns:a="http://schemas.openxmlformats.org/drawingml/2006/main">
            <a:off x="609600" y="5815374"/>
            <a:ext cx="284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04FE062C-BC62-4D0F-9707-67D55CFA8A15}" type="datetime1">
              <a:t>9/10/2025</a:t>
            </a:fld>
            <a:endParaRPr/>
          </a:p>
        </p:txBody>
      </p:sp>
      <p:sp>
        <p:nvSpPr>
          <p:cNvPr id="5" name="Footer Placeholder 4">
            <a:extLst xmlns:a="http://schemas.openxmlformats.org/drawingml/2006/main">
              <a:ext uri="{FF2B5EF4-FFF2-40B4-BE49-F238E27FC236}">
                <a16:creationId xmlns:a16="http://schemas.microsoft.com/office/drawing/2014/main" id="{6EABCB3C-757D-473F-A3BB-B0E1D3C6A7F6}"/>
              </a:ext>
            </a:extLst>
          </p:cNvPr>
          <p:cNvSpPr>
            <a:spLocks xmlns:a="http://schemas.openxmlformats.org/drawingml/2006/main" noGrp="1"/>
          </p:cNvSpPr>
          <p:nvPr>
            <p:ph type="ftr" idx="11"/>
          </p:nvPr>
        </p:nvSpPr>
        <p:spPr>
          <a:xfrm xmlns:a="http://schemas.openxmlformats.org/drawingml/2006/main">
            <a:off x="4165600" y="5815374"/>
            <a:ext cx="3860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13D0795-DF04-43AC-94CE-6313C4314B1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E6562B1-0B0F-0246-9532-09536BC2AE59}" type="slidenum">
              <a:t>‹#›</a:t>
            </a:fld>
            <a:endParaRPr/>
          </a:p>
        </p:txBody>
      </p:sp>
    </p:spTree>
  </p:cSld>
</p:sldLayout>
</file>

<file path=ppt/slideLayouts/slideLayout3.xml><?xml version="1.0" encoding="utf-8"?>
<p:sldLayout xmlns:p="http://schemas.openxmlformats.org/presentationml/2006/main" preserve="1" userDrawn="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BB8BB83-EA63-4B18-84A7-2E1A8C9DCA0C}"/>
              </a:ext>
            </a:extLst>
          </p:cNvPr>
          <p:cNvSpPr>
            <a:spLocks xmlns:a="http://schemas.openxmlformats.org/drawingml/2006/main" noGrp="1"/>
          </p:cNvSpPr>
          <p:nvPr>
            <p:ph type="title" idx="0" hasCustomPrompt="1"/>
          </p:nvPr>
        </p:nvSpPr>
        <p:spPr>
          <a:xfrm xmlns:a="http://schemas.openxmlformats.org/drawingml/2006/main">
            <a:off x="609600" y="2747963"/>
            <a:ext cx="10972800" cy="1362075"/>
          </a:xfrm>
        </p:spPr>
        <p:txBody>
          <a:bodyPr xmlns:a="http://schemas.openxmlformats.org/drawingml/2006/main" anchor="t">
            <a:normAutofit/>
          </a:bodyPr>
          <a:lstStyle xmlns:a="http://schemas.openxmlformats.org/drawingml/2006/main">
            <a:lvl1pPr algn="l">
              <a:buNone/>
              <a:defRPr sz="4800" b="1" cap="none"/>
            </a:lvl1pPr>
          </a:lstStyle>
          <a:p xmlns:a="http://schemas.openxmlformats.org/drawingml/2006/main">
            <a:r>
              <a:t>Click To Edit Master Title Style</a:t>
            </a:r>
          </a:p>
        </p:txBody>
      </p:sp>
      <p:sp>
        <p:nvSpPr>
          <p:cNvPr id="4" name="Date Placeholder 3">
            <a:extLst xmlns:a="http://schemas.openxmlformats.org/drawingml/2006/main">
              <a:ext uri="{FF2B5EF4-FFF2-40B4-BE49-F238E27FC236}">
                <a16:creationId xmlns:a16="http://schemas.microsoft.com/office/drawing/2014/main" id="{67EBB8D8-543C-45BA-AEBA-6A08BF71D9CA}"/>
              </a:ext>
            </a:extLst>
          </p:cNvPr>
          <p:cNvSpPr>
            <a:spLocks xmlns:a="http://schemas.openxmlformats.org/drawingml/2006/main" noGrp="1"/>
          </p:cNvSpPr>
          <p:nvPr>
            <p:ph type="dt" idx="10"/>
          </p:nvPr>
        </p:nvSpPr>
        <p:spPr>
          <a:xfrm xmlns:a="http://schemas.openxmlformats.org/drawingml/2006/main">
            <a:off x="609600" y="5815374"/>
            <a:ext cx="284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48CE56D8-D531-4D39-9DD0-66EFF6215896}" type="datetime1">
              <a:t>9/10/2025</a:t>
            </a:fld>
            <a:endParaRPr/>
          </a:p>
        </p:txBody>
      </p:sp>
      <p:sp>
        <p:nvSpPr>
          <p:cNvPr id="5" name="Footer Placeholder 4">
            <a:extLst xmlns:a="http://schemas.openxmlformats.org/drawingml/2006/main">
              <a:ext uri="{FF2B5EF4-FFF2-40B4-BE49-F238E27FC236}">
                <a16:creationId xmlns:a16="http://schemas.microsoft.com/office/drawing/2014/main" id="{30694CFF-EE27-423F-9CFD-1A5D134FC8D3}"/>
              </a:ext>
            </a:extLst>
          </p:cNvPr>
          <p:cNvSpPr>
            <a:spLocks xmlns:a="http://schemas.openxmlformats.org/drawingml/2006/main" noGrp="1"/>
          </p:cNvSpPr>
          <p:nvPr>
            <p:ph type="ftr" idx="11"/>
          </p:nvPr>
        </p:nvSpPr>
        <p:spPr>
          <a:xfrm xmlns:a="http://schemas.openxmlformats.org/drawingml/2006/main">
            <a:off x="4165600" y="5815374"/>
            <a:ext cx="3860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440C168-405D-44C3-8FEF-AD9EDE6685E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E6562B1-0B0F-0246-9532-09536BC2AE59}"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AC47162-4DA6-457C-97D7-7218EA71A5F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3119185-4006-4596-B3B1-A1C390020803}"/>
              </a:ext>
            </a:extLst>
          </p:cNvPr>
          <p:cNvSpPr>
            <a:spLocks xmlns:a="http://schemas.openxmlformats.org/drawingml/2006/main" noGrp="1"/>
          </p:cNvSpPr>
          <p:nvPr>
            <p:ph idx="1"/>
          </p:nvPr>
        </p:nvSpPr>
        <p:spPr>
          <a:xfrm xmlns:a="http://schemas.openxmlformats.org/drawingml/2006/main">
            <a:off x="609600" y="1600201"/>
            <a:ext cx="5384800" cy="4525963"/>
          </a:xfrm>
        </p:spPr>
        <p:txBody>
          <a:bodyPr xmlns:a="http://schemas.openxmlformats.org/drawingml/2006/main"/>
          <a:lstStyle xmlns:a="http://schemas.openxmlformats.org/drawingml/2006/main">
            <a:lvl1pPr>
              <a:buNone/>
              <a:defRPr sz="3733"/>
            </a:lvl1pPr>
            <a:lvl2pPr>
              <a:buNone/>
              <a:defRPr sz="3200"/>
            </a:lvl2pPr>
            <a:lvl3pPr>
              <a:buNone/>
              <a:defRPr sz="2667"/>
            </a:lvl3pPr>
            <a:lvl4pPr>
              <a:buNone/>
              <a:defRPr sz="2400"/>
            </a:lvl4pPr>
            <a:lvl5pPr>
              <a:buNone/>
              <a:defRPr sz="2400"/>
            </a:lvl5pPr>
            <a:lvl6pPr>
              <a:buNone/>
              <a:defRPr sz="2400"/>
            </a:lvl6pPr>
            <a:lvl7pPr>
              <a:buNone/>
              <a:defRPr sz="2400"/>
            </a:lvl7pPr>
            <a:lvl8pPr>
              <a:buNone/>
              <a:defRPr sz="2400"/>
            </a:lvl8pPr>
            <a:lvl9pPr>
              <a:buNone/>
              <a:defRPr sz="24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16842480-12EA-44CE-8F69-BB9B700580F1}"/>
              </a:ext>
            </a:extLst>
          </p:cNvPr>
          <p:cNvSpPr>
            <a:spLocks xmlns:a="http://schemas.openxmlformats.org/drawingml/2006/main" noGrp="1"/>
          </p:cNvSpPr>
          <p:nvPr>
            <p:ph idx="2"/>
          </p:nvPr>
        </p:nvSpPr>
        <p:spPr>
          <a:xfrm xmlns:a="http://schemas.openxmlformats.org/drawingml/2006/main">
            <a:off x="6197600" y="1600201"/>
            <a:ext cx="5384800" cy="4525963"/>
          </a:xfrm>
        </p:spPr>
        <p:txBody>
          <a:bodyPr xmlns:a="http://schemas.openxmlformats.org/drawingml/2006/main"/>
          <a:lstStyle xmlns:a="http://schemas.openxmlformats.org/drawingml/2006/main">
            <a:lvl1pPr>
              <a:buNone/>
              <a:defRPr sz="3733"/>
            </a:lvl1pPr>
            <a:lvl2pPr>
              <a:buNone/>
              <a:defRPr sz="3200"/>
            </a:lvl2pPr>
            <a:lvl3pPr>
              <a:buNone/>
              <a:defRPr sz="2667"/>
            </a:lvl3pPr>
            <a:lvl4pPr>
              <a:buNone/>
              <a:defRPr sz="2400"/>
            </a:lvl4pPr>
            <a:lvl5pPr>
              <a:buNone/>
              <a:defRPr sz="2400"/>
            </a:lvl5pPr>
            <a:lvl6pPr>
              <a:buNone/>
              <a:defRPr sz="2400"/>
            </a:lvl6pPr>
            <a:lvl7pPr>
              <a:buNone/>
              <a:defRPr sz="2400"/>
            </a:lvl7pPr>
            <a:lvl8pPr>
              <a:buNone/>
              <a:defRPr sz="2400"/>
            </a:lvl8pPr>
            <a:lvl9pPr>
              <a:buNone/>
              <a:defRPr sz="24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6BC616B7-2187-4F2C-B0CF-01D5C0C95ADE}"/>
              </a:ext>
            </a:extLst>
          </p:cNvPr>
          <p:cNvSpPr>
            <a:spLocks xmlns:a="http://schemas.openxmlformats.org/drawingml/2006/main" noGrp="1"/>
          </p:cNvSpPr>
          <p:nvPr>
            <p:ph type="dt" idx="10"/>
          </p:nvPr>
        </p:nvSpPr>
        <p:spPr>
          <a:xfrm xmlns:a="http://schemas.openxmlformats.org/drawingml/2006/main">
            <a:off x="609600" y="5815374"/>
            <a:ext cx="284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65321286-4171-43F3-B87E-08ED8A63857F}" type="datetime1">
              <a:t>9/10/2025</a:t>
            </a:fld>
            <a:endParaRPr/>
          </a:p>
        </p:txBody>
      </p:sp>
      <p:sp>
        <p:nvSpPr>
          <p:cNvPr id="6" name="Footer Placeholder 5">
            <a:extLst xmlns:a="http://schemas.openxmlformats.org/drawingml/2006/main">
              <a:ext uri="{FF2B5EF4-FFF2-40B4-BE49-F238E27FC236}">
                <a16:creationId xmlns:a16="http://schemas.microsoft.com/office/drawing/2014/main" id="{A8EB370B-3F99-4E8F-B29C-A751653B93F5}"/>
              </a:ext>
            </a:extLst>
          </p:cNvPr>
          <p:cNvSpPr>
            <a:spLocks xmlns:a="http://schemas.openxmlformats.org/drawingml/2006/main" noGrp="1"/>
          </p:cNvSpPr>
          <p:nvPr>
            <p:ph type="ftr" idx="11"/>
          </p:nvPr>
        </p:nvSpPr>
        <p:spPr>
          <a:xfrm xmlns:a="http://schemas.openxmlformats.org/drawingml/2006/main">
            <a:off x="4165600" y="5815374"/>
            <a:ext cx="3860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461204D-8CF5-4104-BDC4-47FA2FF6908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E6562B1-0B0F-0246-9532-09536BC2AE59}"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1143E31-3AF5-4851-A506-C85F666D4C6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493FC99-419C-4902-A738-2CBF63CE4A87}"/>
              </a:ext>
            </a:extLst>
          </p:cNvPr>
          <p:cNvSpPr>
            <a:spLocks xmlns:a="http://schemas.openxmlformats.org/drawingml/2006/main" noGrp="1"/>
          </p:cNvSpPr>
          <p:nvPr>
            <p:ph type="body" idx="1"/>
          </p:nvPr>
        </p:nvSpPr>
        <p:spPr>
          <a:xfrm xmlns:a="http://schemas.openxmlformats.org/drawingml/2006/main">
            <a:off x="609600" y="1854993"/>
            <a:ext cx="5386917" cy="639763"/>
          </a:xfrm>
        </p:spPr>
        <p:txBody>
          <a:bodyPr xmlns:a="http://schemas.openxmlformats.org/drawingml/2006/main" anchor="b"/>
          <a:lstStyle xmlns:a="http://schemas.openxmlformats.org/drawingml/2006/main">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677CF8D6-3E0F-49EF-884F-ED8EAB55B6B8}"/>
              </a:ext>
            </a:extLst>
          </p:cNvPr>
          <p:cNvSpPr>
            <a:spLocks xmlns:a="http://schemas.openxmlformats.org/drawingml/2006/main" noGrp="1"/>
          </p:cNvSpPr>
          <p:nvPr>
            <p:ph idx="2"/>
          </p:nvPr>
        </p:nvSpPr>
        <p:spPr>
          <a:xfrm xmlns:a="http://schemas.openxmlformats.org/drawingml/2006/main">
            <a:off x="609600" y="2494757"/>
            <a:ext cx="5386917" cy="3628411"/>
          </a:xfrm>
        </p:spPr>
        <p:txBody>
          <a:bodyPr xmlns:a="http://schemas.openxmlformats.org/drawingml/2006/main"/>
          <a:lstStyle xmlns:a="http://schemas.openxmlformats.org/drawingml/2006/main">
            <a:lvl1pPr>
              <a:buNone/>
              <a:defRPr sz="3200"/>
            </a:lvl1pPr>
            <a:lvl2pPr>
              <a:buNone/>
              <a:defRPr sz="2667"/>
            </a:lvl2pPr>
            <a:lvl3pPr>
              <a:buNone/>
              <a:defRPr sz="2400"/>
            </a:lvl3pPr>
            <a:lvl4pPr>
              <a:buNone/>
              <a:defRPr sz="2133"/>
            </a:lvl4pPr>
            <a:lvl5pPr>
              <a:buNone/>
              <a:defRPr sz="2133"/>
            </a:lvl5pPr>
            <a:lvl6pPr>
              <a:buNone/>
              <a:defRPr sz="2133"/>
            </a:lvl6pPr>
            <a:lvl7pPr>
              <a:buNone/>
              <a:defRPr sz="2133"/>
            </a:lvl7pPr>
            <a:lvl8pPr>
              <a:buNone/>
              <a:defRPr sz="2133"/>
            </a:lvl8pPr>
            <a:lvl9pPr>
              <a:buNone/>
              <a:defRPr sz="2133"/>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5771B7ED-C634-41FD-A86A-D11598D19126}"/>
              </a:ext>
            </a:extLst>
          </p:cNvPr>
          <p:cNvSpPr>
            <a:spLocks xmlns:a="http://schemas.openxmlformats.org/drawingml/2006/main" noGrp="1"/>
          </p:cNvSpPr>
          <p:nvPr>
            <p:ph type="body" idx="3"/>
          </p:nvPr>
        </p:nvSpPr>
        <p:spPr>
          <a:xfrm xmlns:a="http://schemas.openxmlformats.org/drawingml/2006/main">
            <a:off x="6193369" y="1854993"/>
            <a:ext cx="5389033" cy="639763"/>
          </a:xfrm>
        </p:spPr>
        <p:txBody>
          <a:bodyPr xmlns:a="http://schemas.openxmlformats.org/drawingml/2006/main" anchor="b"/>
          <a:lstStyle xmlns:a="http://schemas.openxmlformats.org/drawingml/2006/main">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6AC3EDE2-4070-4DA5-89C5-CCBC3E60AB0C}"/>
              </a:ext>
            </a:extLst>
          </p:cNvPr>
          <p:cNvSpPr>
            <a:spLocks xmlns:a="http://schemas.openxmlformats.org/drawingml/2006/main" noGrp="1"/>
          </p:cNvSpPr>
          <p:nvPr>
            <p:ph idx="4"/>
          </p:nvPr>
        </p:nvSpPr>
        <p:spPr>
          <a:xfrm xmlns:a="http://schemas.openxmlformats.org/drawingml/2006/main">
            <a:off x="6193369" y="2494757"/>
            <a:ext cx="5389033" cy="3628411"/>
          </a:xfrm>
        </p:spPr>
        <p:txBody>
          <a:bodyPr xmlns:a="http://schemas.openxmlformats.org/drawingml/2006/main"/>
          <a:lstStyle xmlns:a="http://schemas.openxmlformats.org/drawingml/2006/main">
            <a:lvl1pPr>
              <a:buNone/>
              <a:defRPr sz="3200"/>
            </a:lvl1pPr>
            <a:lvl2pPr>
              <a:buNone/>
              <a:defRPr sz="2667"/>
            </a:lvl2pPr>
            <a:lvl3pPr>
              <a:buNone/>
              <a:defRPr sz="2400"/>
            </a:lvl3pPr>
            <a:lvl4pPr>
              <a:buNone/>
              <a:defRPr sz="2133"/>
            </a:lvl4pPr>
            <a:lvl5pPr>
              <a:buNone/>
              <a:defRPr sz="2133"/>
            </a:lvl5pPr>
            <a:lvl6pPr>
              <a:buNone/>
              <a:defRPr sz="2133"/>
            </a:lvl6pPr>
            <a:lvl7pPr>
              <a:buNone/>
              <a:defRPr sz="2133"/>
            </a:lvl7pPr>
            <a:lvl8pPr>
              <a:buNone/>
              <a:defRPr sz="2133"/>
            </a:lvl8pPr>
            <a:lvl9pPr>
              <a:buNone/>
              <a:defRPr sz="2133"/>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D43004B7-895F-48B8-BCE5-181D908A9471}"/>
              </a:ext>
            </a:extLst>
          </p:cNvPr>
          <p:cNvSpPr>
            <a:spLocks xmlns:a="http://schemas.openxmlformats.org/drawingml/2006/main" noGrp="1"/>
          </p:cNvSpPr>
          <p:nvPr>
            <p:ph type="dt" idx="10"/>
          </p:nvPr>
        </p:nvSpPr>
        <p:spPr>
          <a:xfrm xmlns:a="http://schemas.openxmlformats.org/drawingml/2006/main">
            <a:off x="609600" y="5815374"/>
            <a:ext cx="284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7C2844B0-7457-47C6-91AE-8A00054674D9}" type="datetime1">
              <a:t>9/10/2025</a:t>
            </a:fld>
            <a:endParaRPr/>
          </a:p>
        </p:txBody>
      </p:sp>
      <p:sp>
        <p:nvSpPr>
          <p:cNvPr id="8" name="Footer Placeholder 7">
            <a:extLst xmlns:a="http://schemas.openxmlformats.org/drawingml/2006/main">
              <a:ext uri="{FF2B5EF4-FFF2-40B4-BE49-F238E27FC236}">
                <a16:creationId xmlns:a16="http://schemas.microsoft.com/office/drawing/2014/main" id="{D40808DB-3713-480E-A2C4-0505FB6AEC6B}"/>
              </a:ext>
            </a:extLst>
          </p:cNvPr>
          <p:cNvSpPr>
            <a:spLocks xmlns:a="http://schemas.openxmlformats.org/drawingml/2006/main" noGrp="1"/>
          </p:cNvSpPr>
          <p:nvPr>
            <p:ph type="ftr" idx="11"/>
          </p:nvPr>
        </p:nvSpPr>
        <p:spPr>
          <a:xfrm xmlns:a="http://schemas.openxmlformats.org/drawingml/2006/main">
            <a:off x="4165600" y="5815374"/>
            <a:ext cx="3860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3628EC7-9C18-4B28-AD40-F810BAD1A6B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E6562B1-0B0F-0246-9532-09536BC2AE59}"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883FFA1-3B7C-421C-B8BE-B04063104BB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1C7442EF-DF74-4254-B1CB-2AB80D52B466}"/>
              </a:ext>
            </a:extLst>
          </p:cNvPr>
          <p:cNvSpPr>
            <a:spLocks xmlns:a="http://schemas.openxmlformats.org/drawingml/2006/main" noGrp="1"/>
          </p:cNvSpPr>
          <p:nvPr>
            <p:ph type="dt" idx="10"/>
          </p:nvPr>
        </p:nvSpPr>
        <p:spPr>
          <a:xfrm xmlns:a="http://schemas.openxmlformats.org/drawingml/2006/main">
            <a:off x="609600" y="5815374"/>
            <a:ext cx="284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E277B03E-0E8A-4617-AA4A-011BF9C8C4AF}" type="datetime1">
              <a:t>9/10/2025</a:t>
            </a:fld>
            <a:endParaRPr/>
          </a:p>
        </p:txBody>
      </p:sp>
      <p:sp>
        <p:nvSpPr>
          <p:cNvPr id="4" name="Footer Placeholder 3">
            <a:extLst xmlns:a="http://schemas.openxmlformats.org/drawingml/2006/main">
              <a:ext uri="{FF2B5EF4-FFF2-40B4-BE49-F238E27FC236}">
                <a16:creationId xmlns:a16="http://schemas.microsoft.com/office/drawing/2014/main" id="{9BF33E03-4F04-4773-A829-C127B0C8BD9F}"/>
              </a:ext>
            </a:extLst>
          </p:cNvPr>
          <p:cNvSpPr>
            <a:spLocks xmlns:a="http://schemas.openxmlformats.org/drawingml/2006/main" noGrp="1"/>
          </p:cNvSpPr>
          <p:nvPr>
            <p:ph type="ftr" idx="11"/>
          </p:nvPr>
        </p:nvSpPr>
        <p:spPr>
          <a:xfrm xmlns:a="http://schemas.openxmlformats.org/drawingml/2006/main">
            <a:off x="4165600" y="5815374"/>
            <a:ext cx="3860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18E8E996-B587-4095-9652-9CC02837BC0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E6562B1-0B0F-0246-9532-09536BC2AE59}"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97DCAF7-49F3-488D-A708-94CF3E35E48B}"/>
              </a:ext>
            </a:extLst>
          </p:cNvPr>
          <p:cNvSpPr>
            <a:spLocks xmlns:a="http://schemas.openxmlformats.org/drawingml/2006/main" noGrp="1"/>
          </p:cNvSpPr>
          <p:nvPr>
            <p:ph type="dt" idx="10"/>
          </p:nvPr>
        </p:nvSpPr>
        <p:spPr>
          <a:xfrm xmlns:a="http://schemas.openxmlformats.org/drawingml/2006/main">
            <a:off x="609600" y="5815374"/>
            <a:ext cx="284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C83B3DA-F39A-404C-8280-245A01B938DD}" type="datetime1">
              <a:t>9/10/2025</a:t>
            </a:fld>
            <a:endParaRPr/>
          </a:p>
        </p:txBody>
      </p:sp>
      <p:sp>
        <p:nvSpPr>
          <p:cNvPr id="3" name="Footer Placeholder 2">
            <a:extLst xmlns:a="http://schemas.openxmlformats.org/drawingml/2006/main">
              <a:ext uri="{FF2B5EF4-FFF2-40B4-BE49-F238E27FC236}">
                <a16:creationId xmlns:a16="http://schemas.microsoft.com/office/drawing/2014/main" id="{471DB356-1EAB-4DD3-9925-E4D8994CAF9F}"/>
              </a:ext>
            </a:extLst>
          </p:cNvPr>
          <p:cNvSpPr>
            <a:spLocks xmlns:a="http://schemas.openxmlformats.org/drawingml/2006/main" noGrp="1"/>
          </p:cNvSpPr>
          <p:nvPr>
            <p:ph type="ftr" idx="11"/>
          </p:nvPr>
        </p:nvSpPr>
        <p:spPr>
          <a:xfrm xmlns:a="http://schemas.openxmlformats.org/drawingml/2006/main">
            <a:off x="4165600" y="5815374"/>
            <a:ext cx="3860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5E16DC17-5406-4A86-BD4C-829F5B142C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E6562B1-0B0F-0246-9532-09536BC2AE59}"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D42843D-FF04-4041-B1D6-F37B17D151C4}"/>
              </a:ext>
            </a:extLst>
          </p:cNvPr>
          <p:cNvSpPr>
            <a:spLocks xmlns:a="http://schemas.openxmlformats.org/drawingml/2006/main" noGrp="1"/>
          </p:cNvSpPr>
          <p:nvPr>
            <p:ph type="title" idx="0"/>
          </p:nvPr>
        </p:nvSpPr>
        <p:spPr>
          <a:xfrm xmlns:a="http://schemas.openxmlformats.org/drawingml/2006/main">
            <a:off x="609602" y="788617"/>
            <a:ext cx="4011084" cy="1162051"/>
          </a:xfrm>
        </p:spPr>
        <p:txBody>
          <a:bodyPr xmlns:a="http://schemas.openxmlformats.org/drawingml/2006/main" anchor="b"/>
          <a:lstStyle xmlns:a="http://schemas.openxmlformats.org/drawingml/2006/main">
            <a:lvl1pPr algn="l">
              <a:buNone/>
              <a:defRPr sz="2667"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ABD34B2-BAA6-451C-87C7-9461E4E4215B}"/>
              </a:ext>
            </a:extLst>
          </p:cNvPr>
          <p:cNvSpPr>
            <a:spLocks xmlns:a="http://schemas.openxmlformats.org/drawingml/2006/main" noGrp="1"/>
          </p:cNvSpPr>
          <p:nvPr>
            <p:ph idx="1"/>
          </p:nvPr>
        </p:nvSpPr>
        <p:spPr>
          <a:xfrm xmlns:a="http://schemas.openxmlformats.org/drawingml/2006/main">
            <a:off x="4766733" y="788620"/>
            <a:ext cx="6815667" cy="5398201"/>
          </a:xfrm>
        </p:spPr>
        <p:txBody>
          <a:bodyPr xmlns:a="http://schemas.openxmlformats.org/drawingml/2006/main"/>
          <a:lstStyle xmlns:a="http://schemas.openxmlformats.org/drawingml/2006/main">
            <a:lvl1pPr>
              <a:buNone/>
              <a:defRPr sz="4267"/>
            </a:lvl1pPr>
            <a:lvl2pPr>
              <a:buNone/>
              <a:defRPr sz="3733"/>
            </a:lvl2pPr>
            <a:lvl3pPr>
              <a:buNone/>
              <a:defRPr sz="3200"/>
            </a:lvl3pPr>
            <a:lvl4pPr>
              <a:buNone/>
              <a:defRPr sz="2667"/>
            </a:lvl4pPr>
            <a:lvl5pPr>
              <a:buNone/>
              <a:defRPr sz="2667"/>
            </a:lvl5pPr>
            <a:lvl6pPr>
              <a:buNone/>
              <a:defRPr sz="2667"/>
            </a:lvl6pPr>
            <a:lvl7pPr>
              <a:buNone/>
              <a:defRPr sz="2667"/>
            </a:lvl7pPr>
            <a:lvl8pPr>
              <a:buNone/>
              <a:defRPr sz="2667"/>
            </a:lvl8pPr>
            <a:lvl9pPr>
              <a:buNone/>
              <a:defRPr sz="2667"/>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D3344914-3423-4C1B-9E6A-B66CDE20C1AD}"/>
              </a:ext>
            </a:extLst>
          </p:cNvPr>
          <p:cNvSpPr>
            <a:spLocks xmlns:a="http://schemas.openxmlformats.org/drawingml/2006/main" noGrp="1"/>
          </p:cNvSpPr>
          <p:nvPr>
            <p:ph type="body" idx="2"/>
          </p:nvPr>
        </p:nvSpPr>
        <p:spPr>
          <a:xfrm xmlns:a="http://schemas.openxmlformats.org/drawingml/2006/main">
            <a:off x="609602" y="2125147"/>
            <a:ext cx="4011084" cy="4061672"/>
          </a:xfrm>
        </p:spPr>
        <p:txBody>
          <a:bodyPr xmlns:a="http://schemas.openxmlformats.org/drawingml/2006/main"/>
          <a:lstStyle xmlns:a="http://schemas.openxmlformats.org/drawingml/2006/main">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811EA75-262F-4A43-A5F1-F95C1A626690}"/>
              </a:ext>
            </a:extLst>
          </p:cNvPr>
          <p:cNvSpPr>
            <a:spLocks xmlns:a="http://schemas.openxmlformats.org/drawingml/2006/main" noGrp="1"/>
          </p:cNvSpPr>
          <p:nvPr>
            <p:ph type="dt" idx="10"/>
          </p:nvPr>
        </p:nvSpPr>
        <p:spPr>
          <a:xfrm xmlns:a="http://schemas.openxmlformats.org/drawingml/2006/main">
            <a:off x="609600" y="5815374"/>
            <a:ext cx="284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6FDAF4A1-3B0F-48AC-988C-36B952EF74EB}" type="datetime1">
              <a:t>9/10/2025</a:t>
            </a:fld>
            <a:endParaRPr/>
          </a:p>
        </p:txBody>
      </p:sp>
      <p:sp>
        <p:nvSpPr>
          <p:cNvPr id="6" name="Footer Placeholder 5">
            <a:extLst xmlns:a="http://schemas.openxmlformats.org/drawingml/2006/main">
              <a:ext uri="{FF2B5EF4-FFF2-40B4-BE49-F238E27FC236}">
                <a16:creationId xmlns:a16="http://schemas.microsoft.com/office/drawing/2014/main" id="{2F4DFF32-8C5D-47B3-9C88-D55430A46D19}"/>
              </a:ext>
            </a:extLst>
          </p:cNvPr>
          <p:cNvSpPr>
            <a:spLocks xmlns:a="http://schemas.openxmlformats.org/drawingml/2006/main" noGrp="1"/>
          </p:cNvSpPr>
          <p:nvPr>
            <p:ph type="ftr" idx="11"/>
          </p:nvPr>
        </p:nvSpPr>
        <p:spPr>
          <a:xfrm xmlns:a="http://schemas.openxmlformats.org/drawingml/2006/main">
            <a:off x="4165600" y="5815374"/>
            <a:ext cx="3860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216A699-F169-4426-934D-E6D7BA7D24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E6562B1-0B0F-0246-9532-09536BC2AE59}"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F10E77B-4AD6-4A8B-90CA-5F9A4BAEA02B}"/>
              </a:ext>
            </a:extLst>
          </p:cNvPr>
          <p:cNvSpPr>
            <a:spLocks xmlns:a="http://schemas.openxmlformats.org/drawingml/2006/main" noGrp="1"/>
          </p:cNvSpPr>
          <p:nvPr>
            <p:ph type="title" idx="0"/>
          </p:nvPr>
        </p:nvSpPr>
        <p:spPr>
          <a:xfrm xmlns:a="http://schemas.openxmlformats.org/drawingml/2006/main">
            <a:off x="2389717" y="4800600"/>
            <a:ext cx="7315200" cy="566739"/>
          </a:xfrm>
        </p:spPr>
        <p:txBody>
          <a:bodyPr xmlns:a="http://schemas.openxmlformats.org/drawingml/2006/main" anchor="b"/>
          <a:lstStyle xmlns:a="http://schemas.openxmlformats.org/drawingml/2006/main">
            <a:lvl1pPr algn="l">
              <a:buNone/>
              <a:defRPr sz="2667"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1CFD1783-955C-403F-B7D1-AE35BDB083F6}"/>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lstStyle xmlns:a="http://schemas.openxmlformats.org/drawingml/2006/main">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55D870A4-F3AB-4E6E-80DA-96CDC6E39065}"/>
              </a:ext>
            </a:extLst>
          </p:cNvPr>
          <p:cNvSpPr>
            <a:spLocks xmlns:a="http://schemas.openxmlformats.org/drawingml/2006/main" noGrp="1"/>
          </p:cNvSpPr>
          <p:nvPr>
            <p:ph type="body" idx="2"/>
          </p:nvPr>
        </p:nvSpPr>
        <p:spPr>
          <a:xfrm xmlns:a="http://schemas.openxmlformats.org/drawingml/2006/main">
            <a:off x="2389717" y="5367338"/>
            <a:ext cx="7315200" cy="804863"/>
          </a:xfrm>
        </p:spPr>
        <p:txBody>
          <a:bodyPr xmlns:a="http://schemas.openxmlformats.org/drawingml/2006/main"/>
          <a:lstStyle xmlns:a="http://schemas.openxmlformats.org/drawingml/2006/main">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CA232DBA-5288-4A93-9998-C501971A8830}"/>
              </a:ext>
            </a:extLst>
          </p:cNvPr>
          <p:cNvSpPr>
            <a:spLocks xmlns:a="http://schemas.openxmlformats.org/drawingml/2006/main" noGrp="1"/>
          </p:cNvSpPr>
          <p:nvPr>
            <p:ph type="dt" idx="10"/>
          </p:nvPr>
        </p:nvSpPr>
        <p:spPr>
          <a:xfrm xmlns:a="http://schemas.openxmlformats.org/drawingml/2006/main">
            <a:off x="609600" y="5815374"/>
            <a:ext cx="284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018C36B5-AE52-46A5-8A68-115F6B1BB3DB}" type="datetime1">
              <a:t>9/10/2025</a:t>
            </a:fld>
            <a:endParaRPr/>
          </a:p>
        </p:txBody>
      </p:sp>
      <p:sp>
        <p:nvSpPr>
          <p:cNvPr id="6" name="Footer Placeholder 5">
            <a:extLst xmlns:a="http://schemas.openxmlformats.org/drawingml/2006/main">
              <a:ext uri="{FF2B5EF4-FFF2-40B4-BE49-F238E27FC236}">
                <a16:creationId xmlns:a16="http://schemas.microsoft.com/office/drawing/2014/main" id="{E8BB7BBA-9D90-4525-B06C-97771C5717FB}"/>
              </a:ext>
            </a:extLst>
          </p:cNvPr>
          <p:cNvSpPr>
            <a:spLocks xmlns:a="http://schemas.openxmlformats.org/drawingml/2006/main" noGrp="1"/>
          </p:cNvSpPr>
          <p:nvPr>
            <p:ph type="ftr" idx="11"/>
          </p:nvPr>
        </p:nvSpPr>
        <p:spPr>
          <a:xfrm xmlns:a="http://schemas.openxmlformats.org/drawingml/2006/main">
            <a:off x="4165600" y="5815374"/>
            <a:ext cx="3860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FEAF77D-CDD5-49D4-A6E4-FBB22B0AF0E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E6562B1-0B0F-0246-9532-09536BC2AE59}" type="slidenum">
              <a:t>‹#›</a:t>
            </a:fld>
            <a:endParaRPr/>
          </a:p>
        </p:txBody>
      </p:sp>
    </p:spTree>
  </p:cSld>
</p:sldLayout>
</file>

<file path=ppt/slideLayouts/slideLayout10.xml><?xml version="1.0" encoding="utf-8"?>
<p:sldLayout xmlns:p="http://schemas.openxmlformats.org/presentationml/2006/main" type="title">
  <p:cSld name="1_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F2B9E66-1940-90F1-6E16-CC5F8075AC5D}"/>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EE7DA213-5100-FE64-F570-DE136FD0994C}"/>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284E4192-F7FD-443D-9F0C-9BA3E298A99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A50C505C-41AC-4D38-9ED5-35C266745857}" type="datetimeFigureOut">
              <a:t>10/9/2025</a:t>
            </a:fld>
            <a:endParaRPr/>
          </a:p>
        </p:txBody>
      </p:sp>
      <p:sp>
        <p:nvSpPr>
          <p:cNvPr id="5" name="Footer Placeholder 4">
            <a:extLst xmlns:a="http://schemas.openxmlformats.org/drawingml/2006/main">
              <a:ext uri="{FF2B5EF4-FFF2-40B4-BE49-F238E27FC236}">
                <a16:creationId xmlns:a16="http://schemas.microsoft.com/office/drawing/2014/main" id="{B3053F57-C9BA-2D71-A168-60E3927D31F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D3B2248-8E74-56B7-DC98-B5679829DA1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ED10483-5A35-4AF6-9E2A-35A71E4F855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6d11187877ba46fa" /><Relationship Type="http://schemas.openxmlformats.org/officeDocument/2006/relationships/theme" Target="/ppt/slideMasters/theme/theme2.xml" Id="R1afc98560f384151" /><Relationship Type="http://schemas.openxmlformats.org/officeDocument/2006/relationships/slideLayout" Target="/ppt/slideLayouts/slideLayout1.xml" Id="Rc47e19738b6347c7" /><Relationship Type="http://schemas.openxmlformats.org/officeDocument/2006/relationships/slideLayout" Target="/ppt/slideLayouts/slideLayout2.xml" Id="R4920e4fafb324237" /><Relationship Type="http://schemas.openxmlformats.org/officeDocument/2006/relationships/slideLayout" Target="/ppt/slideLayouts/slideLayout3.xml" Id="R6e6162a61bd547ce" /><Relationship Type="http://schemas.openxmlformats.org/officeDocument/2006/relationships/slideLayout" Target="/ppt/slideLayouts/slideLayout4.xml" Id="R64b2bca457be4658" /><Relationship Type="http://schemas.openxmlformats.org/officeDocument/2006/relationships/slideLayout" Target="/ppt/slideLayouts/slideLayout5.xml" Id="Rc3757c5020b64d98" /><Relationship Type="http://schemas.openxmlformats.org/officeDocument/2006/relationships/slideLayout" Target="/ppt/slideLayouts/slideLayout6.xml" Id="Rd34eb160b8ac4877" /><Relationship Type="http://schemas.openxmlformats.org/officeDocument/2006/relationships/slideLayout" Target="/ppt/slideLayouts/slideLayout7.xml" Id="R152bdcfc54424c73" /><Relationship Type="http://schemas.openxmlformats.org/officeDocument/2006/relationships/slideLayout" Target="/ppt/slideLayouts/slideLayout8.xml" Id="Rf7fb0a63d46e4449" /><Relationship Type="http://schemas.openxmlformats.org/officeDocument/2006/relationships/slideLayout" Target="/ppt/slideLayouts/slideLayout9.xml" Id="R6c845eb50c544b50" /><Relationship Type="http://schemas.openxmlformats.org/officeDocument/2006/relationships/slideLayout" Target="/ppt/slideLayouts/slideLayout10.xml" Id="Rfca17d3b69f042d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903BC6A-4AD2-4D63-ACE1-E0E73D8C9D29}"/>
              </a:ext>
            </a:extLst>
          </p:cNvPr>
          <p:cNvSpPr>
            <a:spLocks xmlns:a="http://schemas.openxmlformats.org/drawingml/2006/main" noGrp="1"/>
          </p:cNvSpPr>
          <p:nvPr>
            <p:ph type="title" idx="0"/>
          </p:nvPr>
        </p:nvSpPr>
        <p:spPr>
          <a:xfrm xmlns:a="http://schemas.openxmlformats.org/drawingml/2006/main">
            <a:off x="609600" y="220727"/>
            <a:ext cx="10972800" cy="937531"/>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9C9D90-B791-4093-B6E0-70FF609A25F0}"/>
              </a:ext>
            </a:extLst>
          </p:cNvPr>
          <p:cNvSpPr>
            <a:spLocks xmlns:a="http://schemas.openxmlformats.org/drawingml/2006/main" noGrp="1"/>
          </p:cNvSpPr>
          <p:nvPr>
            <p:ph type="body" idx="1"/>
          </p:nvPr>
        </p:nvSpPr>
        <p:spPr>
          <a:xfrm xmlns:a="http://schemas.openxmlformats.org/drawingml/2006/main">
            <a:off x="609600" y="1304926"/>
            <a:ext cx="10972800" cy="5038725"/>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FA96BE7F-EF39-483A-B59E-7652B520F854}"/>
              </a:ext>
            </a:extLst>
          </p:cNvPr>
          <p:cNvSpPr>
            <a:spLocks xmlns:a="http://schemas.openxmlformats.org/drawingml/2006/main" noGrp="1"/>
          </p:cNvSpPr>
          <p:nvPr>
            <p:ph type="sldNum" idx="4"/>
          </p:nvPr>
        </p:nvSpPr>
        <p:spPr>
          <a:xfrm xmlns:a="http://schemas.openxmlformats.org/drawingml/2006/main">
            <a:off x="9194800" y="6492875"/>
            <a:ext cx="284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600" b="1" baseline="0">
                <a:solidFill>
                  <a:schemeClr val="bg1"/>
                </a:solidFill>
                <a:latin typeface="Arial"/>
                <a:ea typeface="Arial"/>
                <a:cs typeface="Arial"/>
              </a:defRPr>
            </a:lvl1pPr>
          </a:lstStyle>
          <a:p xmlns:a="http://schemas.openxmlformats.org/drawingml/2006/main">
            <a:fld id="{8E6562B1-0B0F-0246-9532-09536BC2AE59}" type="slidenum">
              <a:t>‹#›</a:t>
            </a:fld>
            <a:endParaRP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6d11187877ba46fa"/>
          <a:stretch xmlns:a="http://schemas.openxmlformats.org/drawingml/2006/main">
            <a:fillRect l="0" t="0" r="0" b="0"/>
          </a:stretch>
        </p:blipFill>
        <p:spPr>
          <a:xfrm xmlns:a="http://schemas.openxmlformats.org/drawingml/2006/main">
            <a:off x="0" y="6496255"/>
            <a:ext cx="12192000" cy="382524"/>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7e19738b6347c7"/>
    <p:sldLayoutId xmlns:r="http://schemas.openxmlformats.org/officeDocument/2006/relationships" id="2147483650" r:id="R4920e4fafb324237"/>
    <p:sldLayoutId xmlns:r="http://schemas.openxmlformats.org/officeDocument/2006/relationships" id="2147483651" r:id="R6e6162a61bd547ce"/>
    <p:sldLayoutId xmlns:r="http://schemas.openxmlformats.org/officeDocument/2006/relationships" id="2147483652" r:id="R64b2bca457be4658"/>
    <p:sldLayoutId xmlns:r="http://schemas.openxmlformats.org/officeDocument/2006/relationships" id="2147483653" r:id="Rc3757c5020b64d98"/>
    <p:sldLayoutId xmlns:r="http://schemas.openxmlformats.org/officeDocument/2006/relationships" id="2147483654" r:id="Rd34eb160b8ac4877"/>
    <p:sldLayoutId xmlns:r="http://schemas.openxmlformats.org/officeDocument/2006/relationships" id="2147483655" r:id="R152bdcfc54424c73"/>
    <p:sldLayoutId xmlns:r="http://schemas.openxmlformats.org/officeDocument/2006/relationships" id="2147483656" r:id="Rf7fb0a63d46e4449"/>
    <p:sldLayoutId xmlns:r="http://schemas.openxmlformats.org/officeDocument/2006/relationships" id="2147483657" r:id="R6c845eb50c544b50"/>
    <p:sldLayoutId xmlns:r="http://schemas.openxmlformats.org/officeDocument/2006/relationships" id="2147483658" r:id="Rfca17d3b69f042d2"/>
  </p:sldLayoutIdLst>
  <p:hf hdr="0" ftr="0" dt="0"/>
  <p:txStyles>
    <p:titleStyle>
      <a:lvl1pPr xmlns:a="http://schemas.openxmlformats.org/drawingml/2006/main" algn="l" defTabSz="609585">
        <a:spcBef>
          <a:spcPct val="0"/>
        </a:spcBef>
        <a:buNone/>
        <a:defRPr sz="4267" kern="1200">
          <a:solidFill>
            <a:schemeClr val="tx1"/>
          </a:solidFill>
          <a:latin typeface="Arial"/>
          <a:ea typeface="Arial"/>
          <a:cs typeface="Arial"/>
        </a:defRPr>
      </a:lvl1pPr>
    </p:titleStyle>
    <p:bodyStyle>
      <a:lvl1pPr xmlns:a="http://schemas.openxmlformats.org/drawingml/2006/main" marL="457189" indent="-457189" algn="l" defTabSz="609585">
        <a:spcBef>
          <a:spcPts val="1600"/>
        </a:spcBef>
        <a:buFont typeface="Arial"/>
        <a:buChar char="•"/>
        <a:defRPr sz="3200" kern="1200">
          <a:solidFill>
            <a:schemeClr val="tx2"/>
          </a:solidFill>
          <a:latin typeface="Arial"/>
          <a:ea typeface="Arial"/>
          <a:cs typeface="Arial"/>
        </a:defRPr>
      </a:lvl1pPr>
      <a:lvl2pPr xmlns:a="http://schemas.openxmlformats.org/drawingml/2006/main" marL="990575" indent="-380990" algn="l" defTabSz="609585">
        <a:spcBef>
          <a:spcPct val="20000"/>
        </a:spcBef>
        <a:buFont typeface="Arial"/>
        <a:buChar char="–"/>
        <a:defRPr sz="2667" kern="1200">
          <a:solidFill>
            <a:schemeClr val="tx1"/>
          </a:solidFill>
          <a:latin typeface="Arial"/>
          <a:ea typeface="Arial"/>
          <a:cs typeface="Arial"/>
        </a:defRPr>
      </a:lvl2pPr>
      <a:lvl3pPr xmlns:a="http://schemas.openxmlformats.org/drawingml/2006/main" marL="1523962" indent="-304792" algn="l" defTabSz="609585">
        <a:spcBef>
          <a:spcPct val="20000"/>
        </a:spcBef>
        <a:buFont typeface="Arial"/>
        <a:buChar char="•"/>
        <a:defRPr sz="2400" kern="1200">
          <a:solidFill>
            <a:schemeClr val="tx1"/>
          </a:solidFill>
          <a:latin typeface="Arial"/>
          <a:ea typeface="Arial"/>
          <a:cs typeface="Arial"/>
        </a:defRPr>
      </a:lvl3pPr>
      <a:lvl4pPr xmlns:a="http://schemas.openxmlformats.org/drawingml/2006/main" marL="2133547" indent="-304792" algn="l" defTabSz="609585">
        <a:spcBef>
          <a:spcPct val="20000"/>
        </a:spcBef>
        <a:buFont typeface="Arial"/>
        <a:buChar char="–"/>
        <a:defRPr sz="2133" kern="1200">
          <a:solidFill>
            <a:schemeClr val="tx1"/>
          </a:solidFill>
          <a:latin typeface="Arial"/>
          <a:ea typeface="Arial"/>
          <a:cs typeface="Arial"/>
        </a:defRPr>
      </a:lvl4pPr>
      <a:lvl5pPr xmlns:a="http://schemas.openxmlformats.org/drawingml/2006/main" marL="2743131" indent="-304792" algn="l" defTabSz="609585">
        <a:spcBef>
          <a:spcPct val="20000"/>
        </a:spcBef>
        <a:buFont typeface="Arial"/>
        <a:buChar char="»"/>
        <a:defRPr sz="2133" kern="1200">
          <a:solidFill>
            <a:schemeClr val="tx1"/>
          </a:solidFill>
          <a:latin typeface="Arial"/>
          <a:ea typeface="Arial"/>
          <a:cs typeface="Arial"/>
        </a:defRPr>
      </a:lvl5pPr>
      <a:lvl6pPr xmlns:a="http://schemas.openxmlformats.org/drawingml/2006/main" marL="3352716" indent="-304792" algn="l" defTabSz="609585">
        <a:spcBef>
          <a:spcPct val="20000"/>
        </a:spcBef>
        <a:buFont typeface="Arial"/>
        <a:buChar char="•"/>
        <a:defRPr sz="2667" kern="1200">
          <a:solidFill>
            <a:schemeClr val="tx1"/>
          </a:solidFill>
          <a:latin typeface="+mn-lt"/>
          <a:ea typeface="+mn-lt"/>
          <a:cs typeface="+mn-lt"/>
        </a:defRPr>
      </a:lvl6pPr>
      <a:lvl7pPr xmlns:a="http://schemas.openxmlformats.org/drawingml/2006/main" marL="3962301" indent="-304792" algn="l" defTabSz="609585">
        <a:spcBef>
          <a:spcPct val="20000"/>
        </a:spcBef>
        <a:buFont typeface="Arial"/>
        <a:buChar char="•"/>
        <a:defRPr sz="2667" kern="1200">
          <a:solidFill>
            <a:schemeClr val="tx1"/>
          </a:solidFill>
          <a:latin typeface="+mn-lt"/>
          <a:ea typeface="+mn-lt"/>
          <a:cs typeface="+mn-lt"/>
        </a:defRPr>
      </a:lvl7pPr>
      <a:lvl8pPr xmlns:a="http://schemas.openxmlformats.org/drawingml/2006/main" marL="4571886" indent="-304792" algn="l" defTabSz="609585">
        <a:spcBef>
          <a:spcPct val="20000"/>
        </a:spcBef>
        <a:buFont typeface="Arial"/>
        <a:buChar char="•"/>
        <a:defRPr sz="2667" kern="1200">
          <a:solidFill>
            <a:schemeClr val="tx1"/>
          </a:solidFill>
          <a:latin typeface="+mn-lt"/>
          <a:ea typeface="+mn-lt"/>
          <a:cs typeface="+mn-lt"/>
        </a:defRPr>
      </a:lvl8pPr>
      <a:lvl9pPr xmlns:a="http://schemas.openxmlformats.org/drawingml/2006/main" marL="5181470" indent="-304792" algn="l" defTabSz="609585">
        <a:spcBef>
          <a:spcPct val="20000"/>
        </a:spcBef>
        <a:buFont typeface="Arial"/>
        <a:buChar char="•"/>
        <a:defRPr sz="2667" kern="1200">
          <a:solidFill>
            <a:schemeClr val="tx1"/>
          </a:solidFill>
          <a:latin typeface="+mn-lt"/>
          <a:ea typeface="+mn-lt"/>
          <a:cs typeface="+mn-lt"/>
        </a:defRPr>
      </a:lvl9pPr>
    </p:bodyStyle>
    <p:otherStyle>
      <a:lvl1pPr xmlns:a="http://schemas.openxmlformats.org/drawingml/2006/main" marL="0" algn="l" defTabSz="609585">
        <a:buNone/>
        <a:defRPr sz="2400" kern="1200">
          <a:solidFill>
            <a:schemeClr val="tx1"/>
          </a:solidFill>
          <a:latin typeface="+mn-lt"/>
          <a:ea typeface="+mn-lt"/>
          <a:cs typeface="+mn-lt"/>
        </a:defRPr>
      </a:lvl1pPr>
      <a:lvl2pPr xmlns:a="http://schemas.openxmlformats.org/drawingml/2006/main" marL="609585" algn="l" defTabSz="609585">
        <a:buNone/>
        <a:defRPr sz="2400" kern="1200">
          <a:solidFill>
            <a:schemeClr val="tx1"/>
          </a:solidFill>
          <a:latin typeface="+mn-lt"/>
          <a:ea typeface="+mn-lt"/>
          <a:cs typeface="+mn-lt"/>
        </a:defRPr>
      </a:lvl2pPr>
      <a:lvl3pPr xmlns:a="http://schemas.openxmlformats.org/drawingml/2006/main" marL="1219170" algn="l" defTabSz="609585">
        <a:buNone/>
        <a:defRPr sz="2400" kern="1200">
          <a:solidFill>
            <a:schemeClr val="tx1"/>
          </a:solidFill>
          <a:latin typeface="+mn-lt"/>
          <a:ea typeface="+mn-lt"/>
          <a:cs typeface="+mn-lt"/>
        </a:defRPr>
      </a:lvl3pPr>
      <a:lvl4pPr xmlns:a="http://schemas.openxmlformats.org/drawingml/2006/main" marL="1828754" algn="l" defTabSz="609585">
        <a:buNone/>
        <a:defRPr sz="2400" kern="1200">
          <a:solidFill>
            <a:schemeClr val="tx1"/>
          </a:solidFill>
          <a:latin typeface="+mn-lt"/>
          <a:ea typeface="+mn-lt"/>
          <a:cs typeface="+mn-lt"/>
        </a:defRPr>
      </a:lvl4pPr>
      <a:lvl5pPr xmlns:a="http://schemas.openxmlformats.org/drawingml/2006/main" marL="2438339" algn="l" defTabSz="609585">
        <a:buNone/>
        <a:defRPr sz="2400" kern="1200">
          <a:solidFill>
            <a:schemeClr val="tx1"/>
          </a:solidFill>
          <a:latin typeface="+mn-lt"/>
          <a:ea typeface="+mn-lt"/>
          <a:cs typeface="+mn-lt"/>
        </a:defRPr>
      </a:lvl5pPr>
      <a:lvl6pPr xmlns:a="http://schemas.openxmlformats.org/drawingml/2006/main" marL="3047924" algn="l" defTabSz="609585">
        <a:buNone/>
        <a:defRPr sz="2400" kern="1200">
          <a:solidFill>
            <a:schemeClr val="tx1"/>
          </a:solidFill>
          <a:latin typeface="+mn-lt"/>
          <a:ea typeface="+mn-lt"/>
          <a:cs typeface="+mn-lt"/>
        </a:defRPr>
      </a:lvl6pPr>
      <a:lvl7pPr xmlns:a="http://schemas.openxmlformats.org/drawingml/2006/main" marL="3657509" algn="l" defTabSz="609585">
        <a:buNone/>
        <a:defRPr sz="2400" kern="1200">
          <a:solidFill>
            <a:schemeClr val="tx1"/>
          </a:solidFill>
          <a:latin typeface="+mn-lt"/>
          <a:ea typeface="+mn-lt"/>
          <a:cs typeface="+mn-lt"/>
        </a:defRPr>
      </a:lvl7pPr>
      <a:lvl8pPr xmlns:a="http://schemas.openxmlformats.org/drawingml/2006/main" marL="4267093" algn="l" defTabSz="609585">
        <a:buNone/>
        <a:defRPr sz="2400" kern="1200">
          <a:solidFill>
            <a:schemeClr val="tx1"/>
          </a:solidFill>
          <a:latin typeface="+mn-lt"/>
          <a:ea typeface="+mn-lt"/>
          <a:cs typeface="+mn-lt"/>
        </a:defRPr>
      </a:lvl8pPr>
      <a:lvl9pPr xmlns:a="http://schemas.openxmlformats.org/drawingml/2006/main" marL="4876678" algn="l" defTabSz="609585">
        <a:buNone/>
        <a:defRPr sz="24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7321b5fe00f4064" /><Relationship Type="http://schemas.openxmlformats.org/officeDocument/2006/relationships/notesSlide" Target="/ppt/notesSlides/notesSlide1.xml" Id="R01bbe8c73f474c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9f8ea144ae04478" /><Relationship Type="http://schemas.openxmlformats.org/officeDocument/2006/relationships/image" Target="/ppt/media/image2.png" Id="R6f0be64ba25b49d5" /><Relationship Type="http://schemas.openxmlformats.org/officeDocument/2006/relationships/notesSlide" Target="/ppt/notesSlides/notesSlide2.xml" Id="Reba65889cceb40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bd2c9eac8da4c2d" /><Relationship Type="http://schemas.openxmlformats.org/officeDocument/2006/relationships/notesSlide" Target="/ppt/notesSlides/notesSlide3.xml" Id="R3e9098df2ab341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b90cf95794564b18" /><Relationship Type="http://schemas.openxmlformats.org/officeDocument/2006/relationships/image" Target="/ppt/media/image3.png" Id="Rdc4d7b0eab504f40" /><Relationship Type="http://schemas.openxmlformats.org/officeDocument/2006/relationships/notesSlide" Target="/ppt/notesSlides/notesSlide4.xml" Id="Raf397dc2275a44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f0484234487433d" /><Relationship Type="http://schemas.openxmlformats.org/officeDocument/2006/relationships/notesSlide" Target="/ppt/notesSlides/notesSlide5.xml" Id="R68f588bbb86440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fe4b6f618374db2" /><Relationship Type="http://schemas.openxmlformats.org/officeDocument/2006/relationships/notesSlide" Target="/ppt/notesSlides/notesSlide6.xml" Id="R814e42cbdc4f4c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5629d02b63b94824" /><Relationship Type="http://schemas.openxmlformats.org/officeDocument/2006/relationships/image" Target="/ppt/media/image4.png" Id="Rf7fe26af013b47c9" /><Relationship Type="http://schemas.openxmlformats.org/officeDocument/2006/relationships/notesSlide" Target="/ppt/notesSlides/notesSlide7.xml" Id="R2b57854caf2e44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14fb8855246b45c1" /><Relationship Type="http://schemas.openxmlformats.org/officeDocument/2006/relationships/image" Target="/ppt/media/image4.png" Id="R1355fee80d7b4281" /><Relationship Type="http://schemas.openxmlformats.org/officeDocument/2006/relationships/image" Target="/ppt/media/image5.png" Id="R95351d4cc0ce41fe" /><Relationship Type="http://schemas.openxmlformats.org/officeDocument/2006/relationships/notesSlide" Target="/ppt/notesSlides/notesSlide8.xml" Id="R2aee102979b246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6855d93f1c074574" /><Relationship Type="http://schemas.openxmlformats.org/officeDocument/2006/relationships/image" Target="/ppt/media/image4.png" Id="Rc44dba1ba0644cea" /><Relationship Type="http://schemas.openxmlformats.org/officeDocument/2006/relationships/image" Target="/ppt/media/image6.png" Id="Rd701c3c7c2bd4158" /><Relationship Type="http://schemas.openxmlformats.org/officeDocument/2006/relationships/notesSlide" Target="/ppt/notesSlides/notesSlide9.xml" Id="R6cb262e6925340f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7d1294f92bc34871" /><Relationship Type="http://schemas.openxmlformats.org/officeDocument/2006/relationships/image" Target="/ppt/media/image7.png" Id="Rb65624d6d1d94817" /><Relationship Type="http://schemas.openxmlformats.org/officeDocument/2006/relationships/image" Target="/ppt/media/image4.png" Id="Recfd9e6e29ac4613" /><Relationship Type="http://schemas.openxmlformats.org/officeDocument/2006/relationships/notesSlide" Target="/ppt/notesSlides/notesSlide10.xml" Id="Rf1597fef93f2471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c65e64d14da94063" /><Relationship Type="http://schemas.openxmlformats.org/officeDocument/2006/relationships/image" Target="/ppt/media/image8.png" Id="R9e145f69a872451a" /><Relationship Type="http://schemas.openxmlformats.org/officeDocument/2006/relationships/notesSlide" Target="/ppt/notesSlides/notesSlide11.xml" Id="Re9f54b3a47bc4ef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2f49c4cf779e463a" /><Relationship Type="http://schemas.openxmlformats.org/officeDocument/2006/relationships/notesSlide" Target="/ppt/notesSlides/notesSlide12.xml" Id="R78e84f1e65784b4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96558378fcd1450c" /><Relationship Type="http://schemas.openxmlformats.org/officeDocument/2006/relationships/notesSlide" Target="/ppt/notesSlides/notesSlide13.xml" Id="R1bbc146bdf554c2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177d1a1e5e2f400d" /><Relationship Type="http://schemas.openxmlformats.org/officeDocument/2006/relationships/notesSlide" Target="/ppt/notesSlides/notesSlide14.xml" Id="R6dbfce2936a144e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4.xml" Id="R40d49c4b019345a2" /><Relationship Type="http://schemas.openxmlformats.org/officeDocument/2006/relationships/image" Target="/ppt/media/image9.png" Id="R04e89a9848a64e4a" /><Relationship Type="http://schemas.openxmlformats.org/officeDocument/2006/relationships/notesSlide" Target="/ppt/notesSlides/notesSlide15.xml" Id="R43d20a9eaa63488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f7c03b5f4d64133" /><Relationship Type="http://schemas.openxmlformats.org/officeDocument/2006/relationships/notesSlide" Target="/ppt/notesSlides/notesSlide16.xml" Id="Rccf1aa478995477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fe3f3f4497f48de" /><Relationship Type="http://schemas.openxmlformats.org/officeDocument/2006/relationships/notesSlide" Target="/ppt/notesSlides/notesSlide17.xml" Id="Rba38805c98814b7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ccdd7b2e4524b77" /><Relationship Type="http://schemas.openxmlformats.org/officeDocument/2006/relationships/notesSlide" Target="/ppt/notesSlides/notesSlide18.xml" Id="R963c08918c164c9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7635e4f8b994486" /><Relationship Type="http://schemas.openxmlformats.org/officeDocument/2006/relationships/image" Target="/ppt/media/image10.png" Id="Rb1c381e053f244de" /><Relationship Type="http://schemas.openxmlformats.org/officeDocument/2006/relationships/notesSlide" Target="/ppt/notesSlides/notesSlide19.xml" Id="Rde4ddb4b084e40e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02804a886d94d8f" /><Relationship Type="http://schemas.openxmlformats.org/officeDocument/2006/relationships/notesSlide" Target="/ppt/notesSlides/notesSlide20.xml" Id="R69983bb90cc747e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43cfb2196614f24" /><Relationship Type="http://schemas.openxmlformats.org/officeDocument/2006/relationships/image" Target="/ppt/media/image11.png" Id="Rfb11fb9789144b72" /><Relationship Type="http://schemas.openxmlformats.org/officeDocument/2006/relationships/notesSlide" Target="/ppt/notesSlides/notesSlide21.xml" Id="Rf17b7245c6ab44e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9dbdb7a020e4237" /><Relationship Type="http://schemas.openxmlformats.org/officeDocument/2006/relationships/image" Target="/ppt/media/image12.png" Id="Ra5efeb3dc69944b7" /><Relationship Type="http://schemas.openxmlformats.org/officeDocument/2006/relationships/notesSlide" Target="/ppt/notesSlides/notesSlide22.xml" Id="R1095c7c543fc421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0b6470ff1ac4518" /><Relationship Type="http://schemas.openxmlformats.org/officeDocument/2006/relationships/notesSlide" Target="/ppt/notesSlides/notesSlide23.xml" Id="R0bc703722c2849e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b36c2d9beb9415f" /><Relationship Type="http://schemas.openxmlformats.org/officeDocument/2006/relationships/image" Target="/ppt/media/image13.png" Id="Rb06bb40fc643452b" /><Relationship Type="http://schemas.openxmlformats.org/officeDocument/2006/relationships/notesSlide" Target="/ppt/notesSlides/notesSlide24.xml" Id="R8e738d5e9c38454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580219633e14598" /><Relationship Type="http://schemas.openxmlformats.org/officeDocument/2006/relationships/notesSlide" Target="/ppt/notesSlides/notesSlide25.xml" Id="R1bc300328544429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3c5957dfc2445cd" /><Relationship Type="http://schemas.openxmlformats.org/officeDocument/2006/relationships/notesSlide" Target="/ppt/notesSlides/notesSlide26.xml" Id="Ra015d88a751b4ea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002C2A14-B70D-B0F1-9027-731AD95F80F1}"/>
              </a:ext>
            </a:extLst>
          </p:cNvPr>
          <p:cNvSpPr>
            <a:spLocks xmlns:a="http://schemas.openxmlformats.org/drawingml/2006/main" noGrp="1"/>
          </p:cNvSpPr>
          <p:nvPr>
            <p:ph type="ctrTitle" idx="0"/>
          </p:nvPr>
        </p:nvSpPr>
        <p:spPr>
          <a:xfrm xmlns:a="http://schemas.openxmlformats.org/drawingml/2006/main">
            <a:off x="375713" y="2055781"/>
            <a:ext cx="4516328" cy="1470025"/>
          </a:xfrm>
        </p:spPr>
        <p:txBody>
          <a:bodyPr xmlns:a="http://schemas.openxmlformats.org/drawingml/2006/main">
            <a:normAutofit fontScale="90000"/>
          </a:bodyPr>
          <a:lstStyle xmlns:a="http://schemas.openxmlformats.org/drawingml/2006/main"/>
          <a:p xmlns:a="http://schemas.openxmlformats.org/drawingml/2006/main">
            <a:r>
              <a:rPr sz="2700" b="0"/>
              <a:t>CE/CZ4153 Tutorial</a:t>
            </a:r>
            <a:br/>
            <a:r>
              <a:t>dApp</a:t>
            </a:r>
            <a:r>
              <a:t> Development</a:t>
            </a:r>
            <a:br/>
            <a:r>
              <a:t>Workshop</a:t>
            </a:r>
          </a:p>
        </p:txBody>
      </p:sp>
      <p:sp>
        <p:nvSpPr>
          <p:cNvPr id="2" name="TextBox 1">
            <a:extLst xmlns:a="http://schemas.openxmlformats.org/drawingml/2006/main">
              <a:ext uri="{FF2B5EF4-FFF2-40B4-BE49-F238E27FC236}">
                <a16:creationId xmlns:a16="http://schemas.microsoft.com/office/drawing/2014/main" id="{811FF231-0858-CF38-B1C2-D632E643FF8D}"/>
              </a:ext>
            </a:extLst>
          </p:cNvPr>
          <p:cNvSpPr>
            <a:spLocks xmlns:a="http://schemas.openxmlformats.org/drawingml/2006/main" noGrp="1"/>
          </p:cNvSpPr>
          <p:nvPr/>
        </p:nvSpPr>
        <p:spPr>
          <a:xfrm xmlns:a="http://schemas.openxmlformats.org/drawingml/2006/main">
            <a:off x="466147" y="5085887"/>
            <a:ext cx="3668505" cy="15696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endParaRPr sz="2400">
              <a:solidFill>
                <a:schemeClr val="bg1"/>
              </a:solidFill>
            </a:endParaRPr>
          </a:p>
          <a:p xmlns:a="http://schemas.openxmlformats.org/drawingml/2006/main">
            <a:r>
              <a:rPr sz="2400" b="1">
                <a:solidFill>
                  <a:schemeClr val="bg1"/>
                </a:solidFill>
              </a:rPr>
              <a:t>Zhang Chengxuan</a:t>
            </a:r>
          </a:p>
          <a:p xmlns:a="http://schemas.openxmlformats.org/drawingml/2006/main">
            <a:r>
              <a:rPr sz="2400">
                <a:solidFill>
                  <a:schemeClr val="bg1"/>
                </a:solidFill>
              </a:rPr>
              <a:t>chengxua001@e.ntu.edu.sg</a:t>
            </a:r>
          </a:p>
          <a:p xmlns:a="http://schemas.openxmlformats.org/drawingml/2006/main">
            <a:r>
              <a:rPr sz="2400">
                <a:solidFill>
                  <a:schemeClr val="bg1"/>
                </a:solidFill>
              </a:rPr>
              <a:t>2025.9.10</a:t>
            </a:r>
            <a:endParaRPr sz="2400">
              <a:solidFill>
                <a:schemeClr val="bg1"/>
              </a:solidFill>
            </a:endParaRPr>
          </a:p>
        </p:txBody>
      </p:sp>
    </p:spTree>
    <p:extLst>
      <p:ext uri="{BB962C8B-B14F-4D97-AF65-F5344CB8AC3E}">
        <p14:creationId xmlns:p14="http://schemas.microsoft.com/office/powerpoint/2010/main" val="159966773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8770BF8-DC2B-59E4-C952-9F165323DC6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What is </a:t>
            </a:r>
            <a:r>
              <a:t>dApp</a:t>
            </a:r>
            <a:r>
              <a:t>?</a:t>
            </a:r>
            <a:endParaRPr/>
          </a:p>
        </p:txBody>
      </p:sp>
      <p:sp>
        <p:nvSpPr>
          <p:cNvPr id="3" name="Content Placeholder 2">
            <a:extLst xmlns:a="http://schemas.openxmlformats.org/drawingml/2006/main">
              <a:ext uri="{FF2B5EF4-FFF2-40B4-BE49-F238E27FC236}">
                <a16:creationId xmlns:a16="http://schemas.microsoft.com/office/drawing/2014/main" id="{4B324151-0193-9962-3542-3E8779E88D40}"/>
              </a:ext>
            </a:extLst>
          </p:cNvPr>
          <p:cNvSpPr>
            <a:spLocks xmlns:a="http://schemas.openxmlformats.org/drawingml/2006/main" noGrp="1"/>
          </p:cNvSpPr>
          <p:nvPr>
            <p:ph idx="1"/>
          </p:nvPr>
        </p:nvSpPr>
        <p:spPr>
          <a:xfrm xmlns:a="http://schemas.openxmlformats.org/drawingml/2006/main">
            <a:off x="609600" y="1304927"/>
            <a:ext cx="10972800" cy="1512540"/>
          </a:xfrm>
        </p:spPr>
        <p:txBody>
          <a:bodyPr xmlns:a="http://schemas.openxmlformats.org/drawingml/2006/main"/>
          <a:lstStyle xmlns:a="http://schemas.openxmlformats.org/drawingml/2006/main"/>
          <a:p xmlns:a="http://schemas.openxmlformats.org/drawingml/2006/main">
            <a:r>
              <a:t>Decentralized applications powered by blockchain.</a:t>
            </a:r>
            <a:endParaRPr/>
          </a:p>
        </p:txBody>
      </p:sp>
      <p:sp>
        <p:nvSpPr>
          <p:cNvPr id="4" name="Slide Number Placeholder 3">
            <a:extLst xmlns:a="http://schemas.openxmlformats.org/drawingml/2006/main">
              <a:ext uri="{FF2B5EF4-FFF2-40B4-BE49-F238E27FC236}">
                <a16:creationId xmlns:a16="http://schemas.microsoft.com/office/drawing/2014/main" id="{25E9BC53-9C95-4249-3B6E-D2357A6198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E6562B1-0B0F-0246-9532-09536BC2AE59}" type="slidenum">
              <a:t>2</a:t>
            </a:fld>
            <a:endParaRPr/>
          </a:p>
        </p:txBody>
      </p:sp>
      <p:pic>
        <p:nvPicPr>
          <p:cNvPr id="10" name="Picture 2"/>
          <p:cNvPicPr>
            <a:picLocks xmlns:a="http://schemas.openxmlformats.org/drawingml/2006/main" noChangeAspect="1"/>
          </p:cNvPicPr>
          <p:nvPr/>
        </p:nvPicPr>
        <p:blipFill>
          <a:blip xmlns:r="http://schemas.openxmlformats.org/officeDocument/2006/relationships" xmlns:a="http://schemas.openxmlformats.org/drawingml/2006/main" r:embed="R6f0be64ba25b49d5"/>
          <a:srcRect xmlns:a="http://schemas.openxmlformats.org/drawingml/2006/main" l="0" t="0" r="0" b="0"/>
          <a:stretch xmlns:a="http://schemas.openxmlformats.org/drawingml/2006/main">
            <a:fillRect l="0" t="0" r="0" b="0"/>
          </a:stretch>
        </p:blipFill>
        <p:spPr>
          <a:xfrm xmlns:a="http://schemas.openxmlformats.org/drawingml/2006/main">
            <a:off x="3091322" y="1932675"/>
            <a:ext cx="5766347" cy="4007500"/>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678503F8-F595-AE50-854B-EC3A4685F238}"/>
              </a:ext>
            </a:extLst>
          </p:cNvPr>
          <p:cNvSpPr>
            <a:spLocks xmlns:a="http://schemas.openxmlformats.org/drawingml/2006/main" noGrp="1"/>
          </p:cNvSpPr>
          <p:nvPr/>
        </p:nvSpPr>
        <p:spPr>
          <a:xfrm xmlns:a="http://schemas.openxmlformats.org/drawingml/2006/main">
            <a:off x="5352627" y="6053204"/>
            <a:ext cx="6839373"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a:solidFill>
                  <a:schemeClr val="tx1">
                    <a:lumMod val="65000"/>
                    <a:lumOff val="35000"/>
                  </a:schemeClr>
                </a:solidFill>
              </a:rPr>
              <a:t>Source: https://towardsdatascience.com/what-is-a-dapp-a455ac5f7def</a:t>
            </a:r>
            <a:endParaRPr>
              <a:solidFill>
                <a:schemeClr val="tx1">
                  <a:lumMod val="65000"/>
                  <a:lumOff val="35000"/>
                </a:schemeClr>
              </a:solidFill>
            </a:endParaRPr>
          </a:p>
        </p:txBody>
      </p:sp>
    </p:spTree>
    <p:extLst>
      <p:ext uri="{BB962C8B-B14F-4D97-AF65-F5344CB8AC3E}">
        <p14:creationId xmlns:p14="http://schemas.microsoft.com/office/powerpoint/2010/main" val="57638559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1C61488-3770-EF82-F415-053820839D5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Why developing </a:t>
            </a:r>
            <a:r>
              <a:t>dApp</a:t>
            </a:r>
            <a:r>
              <a:t>? Reliable Service</a:t>
            </a:r>
            <a:endParaRPr/>
          </a:p>
        </p:txBody>
      </p:sp>
      <p:sp>
        <p:nvSpPr>
          <p:cNvPr id="3" name="Content Placeholder 2">
            <a:extLst xmlns:a="http://schemas.openxmlformats.org/drawingml/2006/main">
              <a:ext uri="{FF2B5EF4-FFF2-40B4-BE49-F238E27FC236}">
                <a16:creationId xmlns:a16="http://schemas.microsoft.com/office/drawing/2014/main" id="{048FC6FB-3DA9-ED20-85AB-72F1EB7BC49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Traditional Network Applications</a:t>
            </a:r>
          </a:p>
          <a:p xmlns:a="http://schemas.openxmlformats.org/drawingml/2006/main">
            <a:pPr lvl="1">
              <a:buNone/>
            </a:pPr>
            <a:r>
              <a:rPr b="1"/>
              <a:t>C/</a:t>
            </a:r>
            <a:r>
              <a:rPr b="1">
                <a:solidFill>
                  <a:srgbClr val="FF0000"/>
                </a:solidFill>
              </a:rPr>
              <a:t>S</a:t>
            </a:r>
            <a:r>
              <a:rPr b="1"/>
              <a:t> Architecture</a:t>
            </a:r>
            <a:r>
              <a:t>, e.g., Zoom desktop App.</a:t>
            </a:r>
          </a:p>
          <a:p xmlns:a="http://schemas.openxmlformats.org/drawingml/2006/main">
            <a:pPr lvl="1">
              <a:buNone/>
            </a:pPr>
            <a:r>
              <a:rPr b="1"/>
              <a:t>B/</a:t>
            </a:r>
            <a:r>
              <a:rPr b="1">
                <a:solidFill>
                  <a:srgbClr val="FF0000"/>
                </a:solidFill>
              </a:rPr>
              <a:t>S</a:t>
            </a:r>
            <a:r>
              <a:rPr b="1"/>
              <a:t> Architecture</a:t>
            </a:r>
            <a:r>
              <a:t>, e.g., www.ntu.edu.sg</a:t>
            </a:r>
          </a:p>
          <a:p xmlns:a="http://schemas.openxmlformats.org/drawingml/2006/main">
            <a:pPr lvl="1">
              <a:buNone/>
            </a:pPr>
            <a:r>
              <a:rPr b="1"/>
              <a:t>Issue</a:t>
            </a:r>
            <a:r>
              <a:t>: distributed/centralized server may crash sometimes</a:t>
            </a:r>
          </a:p>
          <a:p xmlns:a="http://schemas.openxmlformats.org/drawingml/2006/main">
            <a:r>
              <a:t>Blockchains like Bitcoin or Ethereum have seamlessly worked for many years without any crash issue.</a:t>
            </a:r>
            <a:endParaRPr/>
          </a:p>
        </p:txBody>
      </p:sp>
      <p:sp>
        <p:nvSpPr>
          <p:cNvPr id="4" name="Slide Number Placeholder 3">
            <a:extLst xmlns:a="http://schemas.openxmlformats.org/drawingml/2006/main">
              <a:ext uri="{FF2B5EF4-FFF2-40B4-BE49-F238E27FC236}">
                <a16:creationId xmlns:a16="http://schemas.microsoft.com/office/drawing/2014/main" id="{4267D8C8-6AF3-9385-46C5-A137177D8C4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E6562B1-0B0F-0246-9532-09536BC2AE59}" type="slidenum">
              <a:t>3</a:t>
            </a:fld>
            <a:endParaRPr/>
          </a:p>
        </p:txBody>
      </p:sp>
    </p:spTree>
    <p:extLst>
      <p:ext uri="{BB962C8B-B14F-4D97-AF65-F5344CB8AC3E}">
        <p14:creationId xmlns:p14="http://schemas.microsoft.com/office/powerpoint/2010/main" val="194502478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7" name="Picture 4"/>
          <p:cNvPicPr>
            <a:picLocks xmlns:a="http://schemas.openxmlformats.org/drawingml/2006/main" noChangeAspect="1"/>
          </p:cNvPicPr>
          <p:nvPr/>
        </p:nvPicPr>
        <p:blipFill>
          <a:blip xmlns:r="http://schemas.openxmlformats.org/officeDocument/2006/relationships" xmlns:a="http://schemas.openxmlformats.org/drawingml/2006/main" r:embed="Rdc4d7b0eab504f40"/>
          <a:srcRect xmlns:a="http://schemas.openxmlformats.org/drawingml/2006/main" l="0" t="0" r="0" b="0"/>
          <a:stretch xmlns:a="http://schemas.openxmlformats.org/drawingml/2006/main">
            <a:fillRect l="0" t="0" r="0" b="0"/>
          </a:stretch>
        </p:blipFill>
        <p:spPr>
          <a:xfrm xmlns:a="http://schemas.openxmlformats.org/drawingml/2006/main">
            <a:off x="2207272" y="1586469"/>
            <a:ext cx="7634585" cy="4651442"/>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926824BF-886A-6660-E021-4731033F6B0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Why developing </a:t>
            </a:r>
            <a:r>
              <a:t>dApp</a:t>
            </a:r>
            <a:r>
              <a:t>? New Opportunities!</a:t>
            </a:r>
            <a:endParaRPr/>
          </a:p>
        </p:txBody>
      </p:sp>
      <p:sp>
        <p:nvSpPr>
          <p:cNvPr id="3" name="Content Placeholder 2">
            <a:extLst xmlns:a="http://schemas.openxmlformats.org/drawingml/2006/main">
              <a:ext uri="{FF2B5EF4-FFF2-40B4-BE49-F238E27FC236}">
                <a16:creationId xmlns:a16="http://schemas.microsoft.com/office/drawing/2014/main" id="{275CCC48-1213-973B-FC54-743FD6EB5B96}"/>
              </a:ext>
            </a:extLst>
          </p:cNvPr>
          <p:cNvSpPr>
            <a:spLocks xmlns:a="http://schemas.openxmlformats.org/drawingml/2006/main" noGrp="1"/>
          </p:cNvSpPr>
          <p:nvPr>
            <p:ph idx="1"/>
          </p:nvPr>
        </p:nvSpPr>
        <p:spPr>
          <a:xfrm xmlns:a="http://schemas.openxmlformats.org/drawingml/2006/main">
            <a:off x="609600" y="1164807"/>
            <a:ext cx="10972800" cy="5038725"/>
          </a:xfrm>
        </p:spPr>
        <p:txBody>
          <a:bodyPr xmlns:a="http://schemas.openxmlformats.org/drawingml/2006/main"/>
          <a:lstStyle xmlns:a="http://schemas.openxmlformats.org/drawingml/2006/main"/>
          <a:p xmlns:a="http://schemas.openxmlformats.org/drawingml/2006/main">
            <a:r>
              <a:t>Blockchain is a network for value exchange among users.</a:t>
            </a:r>
          </a:p>
        </p:txBody>
      </p:sp>
      <p:sp>
        <p:nvSpPr>
          <p:cNvPr id="4" name="Slide Number Placeholder 3">
            <a:extLst xmlns:a="http://schemas.openxmlformats.org/drawingml/2006/main">
              <a:ext uri="{FF2B5EF4-FFF2-40B4-BE49-F238E27FC236}">
                <a16:creationId xmlns:a16="http://schemas.microsoft.com/office/drawing/2014/main" id="{F9205628-2D4D-0843-801D-18A0DF7FAD2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E6562B1-0B0F-0246-9532-09536BC2AE59}" type="slidenum">
              <a:t>4</a:t>
            </a:fld>
            <a:endParaRPr/>
          </a:p>
        </p:txBody>
      </p:sp>
      <p:sp>
        <p:nvSpPr>
          <p:cNvPr id="5" name="TextBox 4">
            <a:extLst xmlns:a="http://schemas.openxmlformats.org/drawingml/2006/main">
              <a:ext uri="{FF2B5EF4-FFF2-40B4-BE49-F238E27FC236}">
                <a16:creationId xmlns:a16="http://schemas.microsoft.com/office/drawing/2014/main" id="{192C052D-C1AE-712F-10E9-B4AA9D3044AB}"/>
              </a:ext>
            </a:extLst>
          </p:cNvPr>
          <p:cNvSpPr>
            <a:spLocks xmlns:a="http://schemas.openxmlformats.org/drawingml/2006/main" noGrp="1"/>
          </p:cNvSpPr>
          <p:nvPr/>
        </p:nvSpPr>
        <p:spPr>
          <a:xfrm xmlns:a="http://schemas.openxmlformats.org/drawingml/2006/main">
            <a:off x="6943749" y="6163538"/>
            <a:ext cx="5248252"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solidFill>
                  <a:schemeClr val="tx1">
                    <a:lumMod val="65000"/>
                    <a:lumOff val="35000"/>
                  </a:schemeClr>
                </a:solidFill>
              </a:rPr>
              <a:t>Source: https://www.btcfans.com/en-us/article/72488</a:t>
            </a:r>
            <a:endParaRPr>
              <a:solidFill>
                <a:schemeClr val="tx1">
                  <a:lumMod val="65000"/>
                  <a:lumOff val="35000"/>
                </a:schemeClr>
              </a:solidFill>
            </a:endParaRPr>
          </a:p>
        </p:txBody>
      </p:sp>
    </p:spTree>
    <p:extLst>
      <p:ext uri="{BB962C8B-B14F-4D97-AF65-F5344CB8AC3E}">
        <p14:creationId xmlns:p14="http://schemas.microsoft.com/office/powerpoint/2010/main" val="3665277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C78D654-B5E3-56FD-17E7-DDD9EAC5FF1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How to develop a </a:t>
            </a:r>
            <a:r>
              <a:t>dApp</a:t>
            </a:r>
            <a:r>
              <a:t>?</a:t>
            </a:r>
            <a:endParaRPr/>
          </a:p>
        </p:txBody>
      </p:sp>
      <p:sp>
        <p:nvSpPr>
          <p:cNvPr id="3" name="Content Placeholder 2">
            <a:extLst xmlns:a="http://schemas.openxmlformats.org/drawingml/2006/main">
              <a:ext uri="{FF2B5EF4-FFF2-40B4-BE49-F238E27FC236}">
                <a16:creationId xmlns:a16="http://schemas.microsoft.com/office/drawing/2014/main" id="{219FD85A-BC15-6BEF-5AFA-52D81B45926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rPr b="1"/>
              <a:t>dApp</a:t>
            </a:r>
            <a:r>
              <a:t> = Smart contracts + </a:t>
            </a:r>
            <a:r>
              <a:t>Javascript</a:t>
            </a:r>
            <a:r>
              <a:t>/HTML</a:t>
            </a:r>
          </a:p>
          <a:p xmlns:a="http://schemas.openxmlformats.org/drawingml/2006/main">
            <a:r>
              <a:rPr b="1"/>
              <a:t>Backend</a:t>
            </a:r>
            <a:r>
              <a:t> - Smart contracts implement business logic and are run on one or many blockchains.</a:t>
            </a:r>
          </a:p>
          <a:p xmlns:a="http://schemas.openxmlformats.org/drawingml/2006/main">
            <a:r>
              <a:rPr b="1"/>
              <a:t>Frontend </a:t>
            </a:r>
            <a:r>
              <a:t>- </a:t>
            </a:r>
            <a:r>
              <a:t>Javascript</a:t>
            </a:r>
            <a:r>
              <a:t> / HTML implements the UI of the </a:t>
            </a:r>
            <a:r>
              <a:t>dApp</a:t>
            </a:r>
            <a:r>
              <a:t> and communicates with smart contracts through sending blockchain transactions.</a:t>
            </a:r>
            <a:endParaRPr/>
          </a:p>
        </p:txBody>
      </p:sp>
      <p:sp>
        <p:nvSpPr>
          <p:cNvPr id="4" name="Slide Number Placeholder 3">
            <a:extLst xmlns:a="http://schemas.openxmlformats.org/drawingml/2006/main">
              <a:ext uri="{FF2B5EF4-FFF2-40B4-BE49-F238E27FC236}">
                <a16:creationId xmlns:a16="http://schemas.microsoft.com/office/drawing/2014/main" id="{B9061B5B-8D40-C232-F51F-60566A42283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E6562B1-0B0F-0246-9532-09536BC2AE59}" type="slidenum">
              <a:t>5</a:t>
            </a:fld>
            <a:endParaRPr/>
          </a:p>
        </p:txBody>
      </p:sp>
    </p:spTree>
    <p:extLst>
      <p:ext uri="{BB962C8B-B14F-4D97-AF65-F5344CB8AC3E}">
        <p14:creationId xmlns:p14="http://schemas.microsoft.com/office/powerpoint/2010/main" val="122992107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4E2828-0120-D7E9-A223-64BC70197E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Lock </a:t>
            </a:r>
            <a:r>
              <a:t>dApp</a:t>
            </a:r>
            <a:endParaRPr/>
          </a:p>
        </p:txBody>
      </p:sp>
      <p:sp>
        <p:nvSpPr>
          <p:cNvPr id="3" name="Content Placeholder 2">
            <a:extLst xmlns:a="http://schemas.openxmlformats.org/drawingml/2006/main">
              <a:ext uri="{FF2B5EF4-FFF2-40B4-BE49-F238E27FC236}">
                <a16:creationId xmlns:a16="http://schemas.microsoft.com/office/drawing/2014/main" id="{A136F714-F76D-36D0-AEF0-7FD88BC96AD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Lock a certain amount of money with a given timestamp.</a:t>
            </a:r>
          </a:p>
          <a:p xmlns:a="http://schemas.openxmlformats.org/drawingml/2006/main">
            <a:r>
              <a:t>In the future, users can withdraw their money back.</a:t>
            </a:r>
          </a:p>
          <a:p xmlns:a="http://schemas.openxmlformats.org/drawingml/2006/main">
            <a:r>
              <a:t>Moreover, the owner can unlock the money if they want.</a:t>
            </a:r>
            <a:endParaRPr/>
          </a:p>
        </p:txBody>
      </p:sp>
      <p:sp>
        <p:nvSpPr>
          <p:cNvPr id="4" name="Slide Number Placeholder 3">
            <a:extLst xmlns:a="http://schemas.openxmlformats.org/drawingml/2006/main">
              <a:ext uri="{FF2B5EF4-FFF2-40B4-BE49-F238E27FC236}">
                <a16:creationId xmlns:a16="http://schemas.microsoft.com/office/drawing/2014/main" id="{DF9B89C5-A2A3-7BC2-8799-EDC1C036A71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E6562B1-0B0F-0246-9532-09536BC2AE59}" type="slidenum">
              <a:t>6</a:t>
            </a:fld>
            <a:endParaRPr/>
          </a:p>
        </p:txBody>
      </p:sp>
    </p:spTree>
    <p:extLst>
      <p:ext uri="{BB962C8B-B14F-4D97-AF65-F5344CB8AC3E}">
        <p14:creationId xmlns:p14="http://schemas.microsoft.com/office/powerpoint/2010/main" val="124861447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C47065-8B45-8F9A-E2F6-FB19A48BC47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Lock </a:t>
            </a:r>
            <a:r>
              <a:t>dApp</a:t>
            </a:r>
            <a:endParaRPr/>
          </a:p>
        </p:txBody>
      </p:sp>
      <p:sp>
        <p:nvSpPr>
          <p:cNvPr id="4" name="Slide Number Placeholder 3">
            <a:extLst xmlns:a="http://schemas.openxmlformats.org/drawingml/2006/main">
              <a:ext uri="{FF2B5EF4-FFF2-40B4-BE49-F238E27FC236}">
                <a16:creationId xmlns:a16="http://schemas.microsoft.com/office/drawing/2014/main" id="{7782B1D7-1EAF-9C4C-3C9A-79AC0DD7AE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E6562B1-0B0F-0246-9532-09536BC2AE59}" type="slidenum">
              <a:t>7</a:t>
            </a:fld>
            <a:endParaRPr/>
          </a:p>
        </p:txBody>
      </p:sp>
      <p:pic>
        <p:nvPicPr>
          <p:cNvPr id="8" name="Picture 5"/>
          <p:cNvPicPr>
            <a:picLocks xmlns:a="http://schemas.openxmlformats.org/drawingml/2006/main" noChangeAspect="1"/>
          </p:cNvPicPr>
          <p:nvPr/>
        </p:nvPicPr>
        <p:blipFill>
          <a:blip xmlns:r="http://schemas.openxmlformats.org/officeDocument/2006/relationships" xmlns:a="http://schemas.openxmlformats.org/drawingml/2006/main" r:embed="Rf7fe26af013b47c9"/>
          <a:stretch xmlns:a="http://schemas.openxmlformats.org/drawingml/2006/main">
            <a:fillRect l="0" t="0" r="0" b="0"/>
          </a:stretch>
        </p:blipFill>
        <p:spPr>
          <a:xfrm xmlns:a="http://schemas.openxmlformats.org/drawingml/2006/main">
            <a:off x="6110605" y="75616"/>
            <a:ext cx="5928995" cy="6260201"/>
          </a:xfrm>
          <a:prstGeom xmlns:a="http://schemas.openxmlformats.org/drawingml/2006/main" prst="rect">
            <a:avLst/>
          </a:prstGeom>
        </p:spPr>
      </p:pic>
    </p:spTree>
    <p:extLst>
      <p:ext uri="{BB962C8B-B14F-4D97-AF65-F5344CB8AC3E}">
        <p14:creationId xmlns:p14="http://schemas.microsoft.com/office/powerpoint/2010/main" val="372285789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C47065-8B45-8F9A-E2F6-FB19A48BC47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Lock </a:t>
            </a:r>
            <a:r>
              <a:t>dApp</a:t>
            </a:r>
            <a:endParaRPr/>
          </a:p>
        </p:txBody>
      </p:sp>
      <p:sp>
        <p:nvSpPr>
          <p:cNvPr id="4" name="Slide Number Placeholder 3">
            <a:extLst xmlns:a="http://schemas.openxmlformats.org/drawingml/2006/main">
              <a:ext uri="{FF2B5EF4-FFF2-40B4-BE49-F238E27FC236}">
                <a16:creationId xmlns:a16="http://schemas.microsoft.com/office/drawing/2014/main" id="{7782B1D7-1EAF-9C4C-3C9A-79AC0DD7AE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E6562B1-0B0F-0246-9532-09536BC2AE59}" type="slidenum">
              <a:t>8</a:t>
            </a:fld>
            <a:endParaRPr/>
          </a:p>
        </p:txBody>
      </p:sp>
      <p:pic>
        <p:nvPicPr>
          <p:cNvPr id="12" name="Picture 5"/>
          <p:cNvPicPr>
            <a:picLocks xmlns:a="http://schemas.openxmlformats.org/drawingml/2006/main" noChangeAspect="1"/>
          </p:cNvPicPr>
          <p:nvPr/>
        </p:nvPicPr>
        <p:blipFill>
          <a:blip xmlns:r="http://schemas.openxmlformats.org/officeDocument/2006/relationships" xmlns:a="http://schemas.openxmlformats.org/drawingml/2006/main" r:embed="R1355fee80d7b4281"/>
          <a:stretch xmlns:a="http://schemas.openxmlformats.org/drawingml/2006/main">
            <a:fillRect l="0" t="0" r="0" b="0"/>
          </a:stretch>
        </p:blipFill>
        <p:spPr>
          <a:xfrm xmlns:a="http://schemas.openxmlformats.org/drawingml/2006/main">
            <a:off x="6110605" y="75616"/>
            <a:ext cx="5928995" cy="6260201"/>
          </a:xfrm>
          <a:prstGeom xmlns:a="http://schemas.openxmlformats.org/drawingml/2006/main" prst="rect">
            <a:avLst/>
          </a:prstGeom>
        </p:spPr>
      </p:pic>
      <p:pic>
        <p:nvPicPr>
          <p:cNvPr id="13" name="Picture 7"/>
          <p:cNvPicPr>
            <a:picLocks xmlns:a="http://schemas.openxmlformats.org/drawingml/2006/main" noChangeAspect="1"/>
          </p:cNvPicPr>
          <p:nvPr/>
        </p:nvPicPr>
        <p:blipFill>
          <a:blip xmlns:r="http://schemas.openxmlformats.org/officeDocument/2006/relationships" xmlns:a="http://schemas.openxmlformats.org/drawingml/2006/main" r:embed="R95351d4cc0ce41fe"/>
          <a:stretch xmlns:a="http://schemas.openxmlformats.org/drawingml/2006/main">
            <a:fillRect l="0" t="0" r="0" b="0"/>
          </a:stretch>
        </p:blipFill>
        <p:spPr>
          <a:xfrm xmlns:a="http://schemas.openxmlformats.org/drawingml/2006/main">
            <a:off x="77996" y="1303369"/>
            <a:ext cx="6003400" cy="2392179"/>
          </a:xfrm>
          <a:prstGeom xmlns:a="http://schemas.openxmlformats.org/drawingml/2006/main" prst="rect">
            <a:avLst/>
          </a:prstGeom>
        </p:spPr>
      </p:pic>
      <p:sp>
        <p:nvSpPr>
          <p:cNvPr id="3" name="TextBox 2">
            <a:extLst xmlns:a="http://schemas.openxmlformats.org/drawingml/2006/main">
              <a:ext uri="{FF2B5EF4-FFF2-40B4-BE49-F238E27FC236}">
                <a16:creationId xmlns:a16="http://schemas.microsoft.com/office/drawing/2014/main" id="{58446C86-D17C-6B12-4E44-F9881A571C5D}"/>
              </a:ext>
            </a:extLst>
          </p:cNvPr>
          <p:cNvSpPr>
            <a:spLocks xmlns:a="http://schemas.openxmlformats.org/drawingml/2006/main" noGrp="1"/>
          </p:cNvSpPr>
          <p:nvPr/>
        </p:nvSpPr>
        <p:spPr>
          <a:xfrm xmlns:a="http://schemas.openxmlformats.org/drawingml/2006/main">
            <a:off x="2923993" y="2108963"/>
            <a:ext cx="3157403"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a:solidFill>
                  <a:srgbClr val="FF0000"/>
                </a:solidFill>
              </a:rPr>
              <a:t>Solidity Version Later than 0.8.9</a:t>
            </a:r>
            <a:endParaRPr>
              <a:solidFill>
                <a:srgbClr val="FF0000"/>
              </a:solidFill>
            </a:endParaRPr>
          </a:p>
        </p:txBody>
      </p:sp>
      <p:sp>
        <p:nvSpPr>
          <p:cNvPr id="5" name="TextBox 4">
            <a:extLst xmlns:a="http://schemas.openxmlformats.org/drawingml/2006/main">
              <a:ext uri="{FF2B5EF4-FFF2-40B4-BE49-F238E27FC236}">
                <a16:creationId xmlns:a16="http://schemas.microsoft.com/office/drawing/2014/main" id="{24EF0C8A-007E-F253-E435-4C44EE64F7A7}"/>
              </a:ext>
            </a:extLst>
          </p:cNvPr>
          <p:cNvSpPr>
            <a:spLocks xmlns:a="http://schemas.openxmlformats.org/drawingml/2006/main" noGrp="1"/>
          </p:cNvSpPr>
          <p:nvPr/>
        </p:nvSpPr>
        <p:spPr>
          <a:xfrm xmlns:a="http://schemas.openxmlformats.org/drawingml/2006/main">
            <a:off x="3736459" y="3429000"/>
            <a:ext cx="2344937"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a:solidFill>
                  <a:srgbClr val="FF0000"/>
                </a:solidFill>
              </a:rPr>
              <a:t>Import External Library</a:t>
            </a:r>
            <a:endParaRPr>
              <a:solidFill>
                <a:srgbClr val="FF0000"/>
              </a:solidFill>
            </a:endParaRPr>
          </a:p>
        </p:txBody>
      </p:sp>
      <p:sp>
        <p:nvSpPr>
          <p:cNvPr id="7" name="Rectangle 6">
            <a:extLst xmlns:a="http://schemas.openxmlformats.org/drawingml/2006/main">
              <a:ext uri="{FF2B5EF4-FFF2-40B4-BE49-F238E27FC236}">
                <a16:creationId xmlns:a16="http://schemas.microsoft.com/office/drawing/2014/main" id="{AAADE45E-84B0-31B9-52B0-E9659FFE728A}"/>
              </a:ext>
            </a:extLst>
          </p:cNvPr>
          <p:cNvSpPr>
            <a:spLocks xmlns:a="http://schemas.openxmlformats.org/drawingml/2006/main" noGrp="1"/>
          </p:cNvSpPr>
          <p:nvPr/>
        </p:nvSpPr>
        <p:spPr>
          <a:xfrm xmlns:a="http://schemas.openxmlformats.org/drawingml/2006/main">
            <a:off x="6400800" y="75617"/>
            <a:ext cx="2536466" cy="902394"/>
          </a:xfrm>
          <a:prstGeom xmlns:a="http://schemas.openxmlformats.org/drawingml/2006/main" prst="rect">
            <a:avLst/>
          </a:prstGeom>
          <a:noFill xmlns:a="http://schemas.openxmlformats.org/drawingml/2006/main"/>
          <a:ln xmlns:a="http://schemas.openxmlformats.org/drawingml/2006/main" w="28575">
            <a:solidFill>
              <a:srgbClr val="FF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extLst>
      <p:ext uri="{BB962C8B-B14F-4D97-AF65-F5344CB8AC3E}">
        <p14:creationId xmlns:p14="http://schemas.microsoft.com/office/powerpoint/2010/main" val="104272394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C47065-8B45-8F9A-E2F6-FB19A48BC47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Lock </a:t>
            </a:r>
            <a:r>
              <a:t>dApp</a:t>
            </a:r>
            <a:endParaRPr/>
          </a:p>
        </p:txBody>
      </p:sp>
      <p:sp>
        <p:nvSpPr>
          <p:cNvPr id="4" name="Slide Number Placeholder 3">
            <a:extLst xmlns:a="http://schemas.openxmlformats.org/drawingml/2006/main">
              <a:ext uri="{FF2B5EF4-FFF2-40B4-BE49-F238E27FC236}">
                <a16:creationId xmlns:a16="http://schemas.microsoft.com/office/drawing/2014/main" id="{7782B1D7-1EAF-9C4C-3C9A-79AC0DD7AE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E6562B1-0B0F-0246-9532-09536BC2AE59}" type="slidenum">
              <a:t>9</a:t>
            </a:fld>
            <a:endParaRPr/>
          </a:p>
        </p:txBody>
      </p:sp>
      <p:pic>
        <p:nvPicPr>
          <p:cNvPr id="16" name="Picture 5"/>
          <p:cNvPicPr>
            <a:picLocks xmlns:a="http://schemas.openxmlformats.org/drawingml/2006/main" noChangeAspect="1"/>
          </p:cNvPicPr>
          <p:nvPr/>
        </p:nvPicPr>
        <p:blipFill>
          <a:blip xmlns:r="http://schemas.openxmlformats.org/officeDocument/2006/relationships" xmlns:a="http://schemas.openxmlformats.org/drawingml/2006/main" r:embed="Rc44dba1ba0644cea"/>
          <a:stretch xmlns:a="http://schemas.openxmlformats.org/drawingml/2006/main">
            <a:fillRect l="0" t="0" r="0" b="0"/>
          </a:stretch>
        </p:blipFill>
        <p:spPr>
          <a:xfrm xmlns:a="http://schemas.openxmlformats.org/drawingml/2006/main">
            <a:off x="6110605" y="75616"/>
            <a:ext cx="5928995" cy="6260201"/>
          </a:xfrm>
          <a:prstGeom xmlns:a="http://schemas.openxmlformats.org/drawingml/2006/main" prst="rect">
            <a:avLst/>
          </a:prstGeom>
        </p:spPr>
      </p:pic>
      <p:pic>
        <p:nvPicPr>
          <p:cNvPr id="17" name="Picture 4"/>
          <p:cNvPicPr>
            <a:picLocks xmlns:a="http://schemas.openxmlformats.org/drawingml/2006/main" noChangeAspect="1"/>
          </p:cNvPicPr>
          <p:nvPr/>
        </p:nvPicPr>
        <p:blipFill>
          <a:blip xmlns:r="http://schemas.openxmlformats.org/officeDocument/2006/relationships" xmlns:a="http://schemas.openxmlformats.org/drawingml/2006/main" r:embed="Rd701c3c7c2bd4158"/>
          <a:stretch xmlns:a="http://schemas.openxmlformats.org/drawingml/2006/main">
            <a:fillRect l="0" t="0" r="0" b="0"/>
          </a:stretch>
        </p:blipFill>
        <p:spPr>
          <a:xfrm xmlns:a="http://schemas.openxmlformats.org/drawingml/2006/main">
            <a:off x="201825" y="1303369"/>
            <a:ext cx="5748359" cy="4484535"/>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01712331-3EE2-F9D1-E6BD-9C89821F5156}"/>
              </a:ext>
            </a:extLst>
          </p:cNvPr>
          <p:cNvSpPr>
            <a:spLocks xmlns:a="http://schemas.openxmlformats.org/drawingml/2006/main" noGrp="1"/>
          </p:cNvSpPr>
          <p:nvPr/>
        </p:nvSpPr>
        <p:spPr>
          <a:xfrm xmlns:a="http://schemas.openxmlformats.org/drawingml/2006/main">
            <a:off x="6400799" y="1069535"/>
            <a:ext cx="2874397" cy="2484698"/>
          </a:xfrm>
          <a:prstGeom xmlns:a="http://schemas.openxmlformats.org/drawingml/2006/main" prst="rect">
            <a:avLst/>
          </a:prstGeom>
          <a:noFill xmlns:a="http://schemas.openxmlformats.org/drawingml/2006/main"/>
          <a:ln xmlns:a="http://schemas.openxmlformats.org/drawingml/2006/main" w="28575">
            <a:solidFill>
              <a:srgbClr val="FF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1EED1A2-4FCC-B06B-48C7-B809C1CD65C8}"/>
              </a:ext>
            </a:extLst>
          </p:cNvPr>
          <p:cNvSpPr>
            <a:spLocks xmlns:a="http://schemas.openxmlformats.org/drawingml/2006/main" noGrp="1"/>
          </p:cNvSpPr>
          <p:nvPr/>
        </p:nvSpPr>
        <p:spPr>
          <a:xfrm xmlns:a="http://schemas.openxmlformats.org/drawingml/2006/main">
            <a:off x="3973930" y="1158258"/>
            <a:ext cx="2136675"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a:solidFill>
                  <a:srgbClr val="FF0000"/>
                </a:solidFill>
              </a:rPr>
              <a:t>Contract Name: Lock</a:t>
            </a:r>
            <a:endParaRPr>
              <a:solidFill>
                <a:srgbClr val="FF0000"/>
              </a:solidFill>
            </a:endParaRPr>
          </a:p>
        </p:txBody>
      </p:sp>
      <p:sp>
        <p:nvSpPr>
          <p:cNvPr id="9" name="TextBox 8">
            <a:extLst xmlns:a="http://schemas.openxmlformats.org/drawingml/2006/main">
              <a:ext uri="{FF2B5EF4-FFF2-40B4-BE49-F238E27FC236}">
                <a16:creationId xmlns:a16="http://schemas.microsoft.com/office/drawing/2014/main" id="{1337314A-B96B-C1D2-C02F-BC66C9EB4D3F}"/>
              </a:ext>
            </a:extLst>
          </p:cNvPr>
          <p:cNvSpPr>
            <a:spLocks xmlns:a="http://schemas.openxmlformats.org/drawingml/2006/main" noGrp="1"/>
          </p:cNvSpPr>
          <p:nvPr/>
        </p:nvSpPr>
        <p:spPr>
          <a:xfrm xmlns:a="http://schemas.openxmlformats.org/drawingml/2006/main">
            <a:off x="3914264" y="1672701"/>
            <a:ext cx="2167132"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a:solidFill>
                  <a:srgbClr val="FF0000"/>
                </a:solidFill>
              </a:rPr>
              <a:t>Variable Declarations</a:t>
            </a:r>
            <a:endParaRPr>
              <a:solidFill>
                <a:srgbClr val="FF0000"/>
              </a:solidFill>
            </a:endParaRPr>
          </a:p>
        </p:txBody>
      </p:sp>
      <p:sp>
        <p:nvSpPr>
          <p:cNvPr id="10" name="TextBox 9">
            <a:extLst xmlns:a="http://schemas.openxmlformats.org/drawingml/2006/main">
              <a:ext uri="{FF2B5EF4-FFF2-40B4-BE49-F238E27FC236}">
                <a16:creationId xmlns:a16="http://schemas.microsoft.com/office/drawing/2014/main" id="{851BCFE6-B280-A122-9C6C-A17985C07683}"/>
              </a:ext>
            </a:extLst>
          </p:cNvPr>
          <p:cNvSpPr>
            <a:spLocks xmlns:a="http://schemas.openxmlformats.org/drawingml/2006/main" noGrp="1"/>
          </p:cNvSpPr>
          <p:nvPr/>
        </p:nvSpPr>
        <p:spPr>
          <a:xfrm xmlns:a="http://schemas.openxmlformats.org/drawingml/2006/main">
            <a:off x="4246214" y="2661861"/>
            <a:ext cx="1835182"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a:solidFill>
                  <a:srgbClr val="FF0000"/>
                </a:solidFill>
              </a:rPr>
              <a:t>Event Declaration</a:t>
            </a:r>
            <a:endParaRPr>
              <a:solidFill>
                <a:srgbClr val="FF0000"/>
              </a:solidFill>
            </a:endParaRPr>
          </a:p>
        </p:txBody>
      </p:sp>
      <p:sp>
        <p:nvSpPr>
          <p:cNvPr id="11" name="TextBox 10">
            <a:extLst xmlns:a="http://schemas.openxmlformats.org/drawingml/2006/main">
              <a:ext uri="{FF2B5EF4-FFF2-40B4-BE49-F238E27FC236}">
                <a16:creationId xmlns:a16="http://schemas.microsoft.com/office/drawing/2014/main" id="{C3E96325-B5F8-FBA8-8CBA-8A46FA06FDB3}"/>
              </a:ext>
            </a:extLst>
          </p:cNvPr>
          <p:cNvSpPr>
            <a:spLocks xmlns:a="http://schemas.openxmlformats.org/drawingml/2006/main" noGrp="1"/>
          </p:cNvSpPr>
          <p:nvPr/>
        </p:nvSpPr>
        <p:spPr>
          <a:xfrm xmlns:a="http://schemas.openxmlformats.org/drawingml/2006/main">
            <a:off x="3950919" y="4336935"/>
            <a:ext cx="1999265"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a:solidFill>
                  <a:srgbClr val="FF0000"/>
                </a:solidFill>
              </a:rPr>
              <a:t>Condition Checking</a:t>
            </a:r>
            <a:endParaRPr>
              <a:solidFill>
                <a:srgbClr val="FF0000"/>
              </a:solidFill>
            </a:endParaRPr>
          </a:p>
        </p:txBody>
      </p:sp>
    </p:spTree>
    <p:extLst>
      <p:ext uri="{BB962C8B-B14F-4D97-AF65-F5344CB8AC3E}">
        <p14:creationId xmlns:p14="http://schemas.microsoft.com/office/powerpoint/2010/main" val="318328717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6" name="Picture 11"/>
          <p:cNvPicPr>
            <a:picLocks xmlns:a="http://schemas.openxmlformats.org/drawingml/2006/main" noChangeAspect="1"/>
          </p:cNvPicPr>
          <p:nvPr/>
        </p:nvPicPr>
        <p:blipFill>
          <a:blip xmlns:r="http://schemas.openxmlformats.org/officeDocument/2006/relationships" xmlns:a="http://schemas.openxmlformats.org/drawingml/2006/main" r:embed="Rb65624d6d1d94817"/>
          <a:stretch xmlns:a="http://schemas.openxmlformats.org/drawingml/2006/main">
            <a:fillRect l="0" t="0" r="0" b="0"/>
          </a:stretch>
        </p:blipFill>
        <p:spPr>
          <a:xfrm xmlns:a="http://schemas.openxmlformats.org/drawingml/2006/main">
            <a:off x="76539" y="1280110"/>
            <a:ext cx="6034066" cy="4175458"/>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51C47065-8B45-8F9A-E2F6-FB19A48BC47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Lock </a:t>
            </a:r>
            <a:r>
              <a:t>dApp</a:t>
            </a:r>
            <a:endParaRPr/>
          </a:p>
        </p:txBody>
      </p:sp>
      <p:sp>
        <p:nvSpPr>
          <p:cNvPr id="4" name="Slide Number Placeholder 3">
            <a:extLst xmlns:a="http://schemas.openxmlformats.org/drawingml/2006/main">
              <a:ext uri="{FF2B5EF4-FFF2-40B4-BE49-F238E27FC236}">
                <a16:creationId xmlns:a16="http://schemas.microsoft.com/office/drawing/2014/main" id="{7782B1D7-1EAF-9C4C-3C9A-79AC0DD7AE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E6562B1-0B0F-0246-9532-09536BC2AE59}" type="slidenum">
              <a:t>10</a:t>
            </a:fld>
            <a:endParaRPr/>
          </a:p>
        </p:txBody>
      </p:sp>
      <p:pic>
        <p:nvPicPr>
          <p:cNvPr id="19" name="Picture 5"/>
          <p:cNvPicPr>
            <a:picLocks xmlns:a="http://schemas.openxmlformats.org/drawingml/2006/main" noChangeAspect="1"/>
          </p:cNvPicPr>
          <p:nvPr/>
        </p:nvPicPr>
        <p:blipFill>
          <a:blip xmlns:r="http://schemas.openxmlformats.org/officeDocument/2006/relationships" xmlns:a="http://schemas.openxmlformats.org/drawingml/2006/main" r:embed="Recfd9e6e29ac4613"/>
          <a:stretch xmlns:a="http://schemas.openxmlformats.org/drawingml/2006/main">
            <a:fillRect l="0" t="0" r="0" b="0"/>
          </a:stretch>
        </p:blipFill>
        <p:spPr>
          <a:xfrm xmlns:a="http://schemas.openxmlformats.org/drawingml/2006/main">
            <a:off x="6110605" y="75616"/>
            <a:ext cx="5928995" cy="6260201"/>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01712331-3EE2-F9D1-E6BD-9C89821F5156}"/>
              </a:ext>
            </a:extLst>
          </p:cNvPr>
          <p:cNvSpPr>
            <a:spLocks xmlns:a="http://schemas.openxmlformats.org/drawingml/2006/main" noGrp="1"/>
          </p:cNvSpPr>
          <p:nvPr/>
        </p:nvSpPr>
        <p:spPr>
          <a:xfrm xmlns:a="http://schemas.openxmlformats.org/drawingml/2006/main">
            <a:off x="6528020" y="3545636"/>
            <a:ext cx="5462155" cy="2644454"/>
          </a:xfrm>
          <a:prstGeom xmlns:a="http://schemas.openxmlformats.org/drawingml/2006/main" prst="rect">
            <a:avLst/>
          </a:prstGeom>
          <a:noFill xmlns:a="http://schemas.openxmlformats.org/drawingml/2006/main"/>
          <a:ln xmlns:a="http://schemas.openxmlformats.org/drawingml/2006/main" w="28575">
            <a:solidFill>
              <a:srgbClr val="FF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1EED1A2-4FCC-B06B-48C7-B809C1CD65C8}"/>
              </a:ext>
            </a:extLst>
          </p:cNvPr>
          <p:cNvSpPr>
            <a:spLocks xmlns:a="http://schemas.openxmlformats.org/drawingml/2006/main" noGrp="1"/>
          </p:cNvSpPr>
          <p:nvPr/>
        </p:nvSpPr>
        <p:spPr>
          <a:xfrm xmlns:a="http://schemas.openxmlformats.org/drawingml/2006/main">
            <a:off x="3755503" y="5129969"/>
            <a:ext cx="2325893"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a:solidFill>
                  <a:srgbClr val="FF0000"/>
                </a:solidFill>
              </a:rPr>
              <a:t>Transfer Token Balance</a:t>
            </a:r>
            <a:endParaRPr>
              <a:solidFill>
                <a:srgbClr val="FF0000"/>
              </a:solidFill>
            </a:endParaRPr>
          </a:p>
        </p:txBody>
      </p:sp>
      <p:sp>
        <p:nvSpPr>
          <p:cNvPr id="10" name="TextBox 9">
            <a:extLst xmlns:a="http://schemas.openxmlformats.org/drawingml/2006/main">
              <a:ext uri="{FF2B5EF4-FFF2-40B4-BE49-F238E27FC236}">
                <a16:creationId xmlns:a16="http://schemas.microsoft.com/office/drawing/2014/main" id="{851BCFE6-B280-A122-9C6C-A17985C07683}"/>
              </a:ext>
            </a:extLst>
          </p:cNvPr>
          <p:cNvSpPr>
            <a:spLocks xmlns:a="http://schemas.openxmlformats.org/drawingml/2006/main" noGrp="1"/>
          </p:cNvSpPr>
          <p:nvPr/>
        </p:nvSpPr>
        <p:spPr>
          <a:xfrm xmlns:a="http://schemas.openxmlformats.org/drawingml/2006/main">
            <a:off x="4495382" y="4546239"/>
            <a:ext cx="1184812"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a:solidFill>
                  <a:srgbClr val="FF0000"/>
                </a:solidFill>
              </a:rPr>
              <a:t>Emit Event</a:t>
            </a:r>
            <a:endParaRPr>
              <a:solidFill>
                <a:srgbClr val="FF0000"/>
              </a:solidFill>
            </a:endParaRPr>
          </a:p>
        </p:txBody>
      </p:sp>
      <p:sp>
        <p:nvSpPr>
          <p:cNvPr id="11" name="TextBox 10">
            <a:extLst xmlns:a="http://schemas.openxmlformats.org/drawingml/2006/main">
              <a:ext uri="{FF2B5EF4-FFF2-40B4-BE49-F238E27FC236}">
                <a16:creationId xmlns:a16="http://schemas.microsoft.com/office/drawing/2014/main" id="{C3E96325-B5F8-FBA8-8CBA-8A46FA06FDB3}"/>
              </a:ext>
            </a:extLst>
          </p:cNvPr>
          <p:cNvSpPr>
            <a:spLocks xmlns:a="http://schemas.openxmlformats.org/drawingml/2006/main" noGrp="1"/>
          </p:cNvSpPr>
          <p:nvPr/>
        </p:nvSpPr>
        <p:spPr>
          <a:xfrm xmlns:a="http://schemas.openxmlformats.org/drawingml/2006/main">
            <a:off x="4026455" y="1797949"/>
            <a:ext cx="1999265"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a:solidFill>
                  <a:srgbClr val="FF0000"/>
                </a:solidFill>
              </a:rPr>
              <a:t>Condition Checking</a:t>
            </a:r>
            <a:endParaRPr>
              <a:solidFill>
                <a:srgbClr val="FF0000"/>
              </a:solidFill>
            </a:endParaRPr>
          </a:p>
        </p:txBody>
      </p:sp>
      <p:sp>
        <p:nvSpPr>
          <p:cNvPr id="13" name="TextBox 12">
            <a:extLst xmlns:a="http://schemas.openxmlformats.org/drawingml/2006/main">
              <a:ext uri="{FF2B5EF4-FFF2-40B4-BE49-F238E27FC236}">
                <a16:creationId xmlns:a16="http://schemas.microsoft.com/office/drawing/2014/main" id="{2CEA39F5-D89C-1801-FB05-A7A3FBB0150E}"/>
              </a:ext>
            </a:extLst>
          </p:cNvPr>
          <p:cNvSpPr>
            <a:spLocks xmlns:a="http://schemas.openxmlformats.org/drawingml/2006/main" noGrp="1"/>
          </p:cNvSpPr>
          <p:nvPr/>
        </p:nvSpPr>
        <p:spPr>
          <a:xfrm xmlns:a="http://schemas.openxmlformats.org/drawingml/2006/main">
            <a:off x="4026456" y="3996675"/>
            <a:ext cx="1999265"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a:solidFill>
                  <a:srgbClr val="FF0000"/>
                </a:solidFill>
              </a:rPr>
              <a:t>Condition Checking</a:t>
            </a:r>
            <a:endParaRPr>
              <a:solidFill>
                <a:srgbClr val="FF0000"/>
              </a:solidFill>
            </a:endParaRPr>
          </a:p>
        </p:txBody>
      </p:sp>
    </p:spTree>
    <p:extLst>
      <p:ext uri="{BB962C8B-B14F-4D97-AF65-F5344CB8AC3E}">
        <p14:creationId xmlns:p14="http://schemas.microsoft.com/office/powerpoint/2010/main" val="371278536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7B62CF8-1FD5-79D9-9519-71B7F6AD681C}"/>
              </a:ext>
            </a:extLst>
          </p:cNvPr>
          <p:cNvSpPr>
            <a:spLocks xmlns:a="http://schemas.openxmlformats.org/drawingml/2006/main" noGrp="1"/>
          </p:cNvSpPr>
          <p:nvPr>
            <p:ph type="title" idx="0"/>
          </p:nvPr>
        </p:nvSpPr>
        <p:spPr>
          <a:xfrm xmlns:a="http://schemas.openxmlformats.org/drawingml/2006/main">
            <a:off x="609600" y="220727"/>
            <a:ext cx="10972800" cy="937531"/>
          </a:xfrm>
        </p:spPr>
        <p:txBody>
          <a:bodyPr xmlns:a="http://schemas.openxmlformats.org/drawingml/2006/main" anchor="ctr">
            <a:normAutofit/>
          </a:bodyPr>
          <a:lstStyle xmlns:a="http://schemas.openxmlformats.org/drawingml/2006/main"/>
          <a:p xmlns:a="http://schemas.openxmlformats.org/drawingml/2006/main">
            <a:r>
              <a:t>Let’s try to run it!!</a:t>
            </a:r>
            <a:endParaRPr/>
          </a:p>
        </p:txBody>
      </p:sp>
      <p:sp>
        <p:nvSpPr>
          <p:cNvPr id="3" name="Content Placeholder 2">
            <a:extLst xmlns:a="http://schemas.openxmlformats.org/drawingml/2006/main">
              <a:ext uri="{FF2B5EF4-FFF2-40B4-BE49-F238E27FC236}">
                <a16:creationId xmlns:a16="http://schemas.microsoft.com/office/drawing/2014/main" id="{D408FBCC-CDFF-159B-B05D-A7401C757688}"/>
              </a:ext>
            </a:extLst>
          </p:cNvPr>
          <p:cNvSpPr>
            <a:spLocks xmlns:a="http://schemas.openxmlformats.org/drawingml/2006/main" noGrp="1"/>
          </p:cNvSpPr>
          <p:nvPr>
            <p:ph idx="1"/>
          </p:nvPr>
        </p:nvSpPr>
        <p:spPr>
          <a:xfrm xmlns:a="http://schemas.openxmlformats.org/drawingml/2006/main">
            <a:off x="609600" y="1600201"/>
            <a:ext cx="5384800" cy="4525963"/>
          </a:xfrm>
        </p:spPr>
        <p:txBody>
          <a:bodyPr xmlns:a="http://schemas.openxmlformats.org/drawingml/2006/main">
            <a:normAutofit/>
          </a:bodyPr>
          <a:lstStyle xmlns:a="http://schemas.openxmlformats.org/drawingml/2006/main"/>
          <a:p xmlns:a="http://schemas.openxmlformats.org/drawingml/2006/main">
            <a:pPr marL="0" indent="0">
              <a:buNone/>
            </a:pPr>
            <a:r>
              <a:t>https://github.com/BlockchainCourseNTU/hello-dapp</a:t>
            </a:r>
          </a:p>
          <a:p xmlns:a="http://schemas.openxmlformats.org/drawingml/2006/main">
            <a:endParaRPr/>
          </a:p>
          <a:p xmlns:a="http://schemas.openxmlformats.org/drawingml/2006/main">
            <a:pPr marL="0" indent="0">
              <a:buNone/>
            </a:pPr>
            <a:endParaRPr/>
          </a:p>
        </p:txBody>
      </p:sp>
      <p:pic>
        <p:nvPicPr>
          <p:cNvPr id="8" name="Picture 7"/>
          <p:cNvPicPr>
            <a:picLocks xmlns:a="http://schemas.openxmlformats.org/drawingml/2006/main" noChangeAspect="1"/>
          </p:cNvPicPr>
          <p:nvPr/>
        </p:nvPicPr>
        <p:blipFill>
          <a:blip xmlns:r="http://schemas.openxmlformats.org/officeDocument/2006/relationships" xmlns:a="http://schemas.openxmlformats.org/drawingml/2006/main" r:embed="R9e145f69a872451a"/>
          <a:stretch xmlns:a="http://schemas.openxmlformats.org/drawingml/2006/main">
            <a:fillRect l="0" t="0" r="0" b="0"/>
          </a:stretch>
        </p:blipFill>
        <p:spPr>
          <a:xfrm xmlns:a="http://schemas.openxmlformats.org/drawingml/2006/main">
            <a:off x="6701104" y="1600201"/>
            <a:ext cx="4377791" cy="4525963"/>
          </a:xfrm>
          <a:prstGeom xmlns:a="http://schemas.openxmlformats.org/drawingml/2006/main" prst="rect">
            <a:avLst/>
          </a:prstGeom>
        </p:spPr>
      </p:pic>
      <p:sp>
        <p:nvSpPr>
          <p:cNvPr id="4" name="Slide Number Placeholder 3">
            <a:extLst xmlns:a="http://schemas.openxmlformats.org/drawingml/2006/main">
              <a:ext uri="{FF2B5EF4-FFF2-40B4-BE49-F238E27FC236}">
                <a16:creationId xmlns:a16="http://schemas.microsoft.com/office/drawing/2014/main" id="{836EDF99-9451-A1DC-E0FB-6A50D0EEABD9}"/>
              </a:ext>
            </a:extLst>
          </p:cNvPr>
          <p:cNvSpPr>
            <a:spLocks xmlns:a="http://schemas.openxmlformats.org/drawingml/2006/main" noGrp="1"/>
          </p:cNvSpPr>
          <p:nvPr>
            <p:ph type="sldNum" idx="12"/>
          </p:nvPr>
        </p:nvSpPr>
        <p:spPr>
          <a:xfrm xmlns:a="http://schemas.openxmlformats.org/drawingml/2006/main">
            <a:off x="9194800" y="6492875"/>
            <a:ext cx="2844800" cy="365125"/>
          </a:xfrm>
        </p:spPr>
        <p:txBody>
          <a:bodyPr xmlns:a="http://schemas.openxmlformats.org/drawingml/2006/main" anchor="ctr">
            <a:normAutofit/>
          </a:bodyPr>
          <a:lstStyle xmlns:a="http://schemas.openxmlformats.org/drawingml/2006/main"/>
          <a:p xmlns:a="http://schemas.openxmlformats.org/drawingml/2006/main">
            <a:pPr>
              <a:spcAft>
                <a:spcPts val="600"/>
              </a:spcAft>
              <a:buNone/>
            </a:pPr>
            <a:fld id="{8E6562B1-0B0F-0246-9532-09536BC2AE59}" type="slidenum">
              <a:t>11</a:t>
            </a:fld>
            <a:endParaRPr/>
          </a:p>
        </p:txBody>
      </p:sp>
    </p:spTree>
    <p:extLst>
      <p:ext uri="{BB962C8B-B14F-4D97-AF65-F5344CB8AC3E}">
        <p14:creationId xmlns:p14="http://schemas.microsoft.com/office/powerpoint/2010/main" val="202635079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D272701-EA4D-F36C-DDDD-8FC150B27B1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Vote </a:t>
            </a:r>
            <a:r>
              <a:t>dApp</a:t>
            </a:r>
            <a:endParaRPr/>
          </a:p>
        </p:txBody>
      </p:sp>
      <p:sp>
        <p:nvSpPr>
          <p:cNvPr id="3" name="Content Placeholder 2">
            <a:extLst xmlns:a="http://schemas.openxmlformats.org/drawingml/2006/main">
              <a:ext uri="{FF2B5EF4-FFF2-40B4-BE49-F238E27FC236}">
                <a16:creationId xmlns:a16="http://schemas.microsoft.com/office/drawing/2014/main" id="{185825D4-D3C8-2C93-C047-9E90FE3D043C}"/>
              </a:ext>
            </a:extLst>
          </p:cNvPr>
          <p:cNvSpPr>
            <a:spLocks xmlns:a="http://schemas.openxmlformats.org/drawingml/2006/main" noGrp="1"/>
          </p:cNvSpPr>
          <p:nvPr>
            <p:ph idx="1"/>
          </p:nvPr>
        </p:nvSpPr>
        <p:spPr>
          <a:xfrm xmlns:a="http://schemas.openxmlformats.org/drawingml/2006/main">
            <a:off x="609600" y="1304926"/>
            <a:ext cx="10972800" cy="4249015"/>
          </a:xfrm>
        </p:spPr>
        <p:txBody>
          <a:bodyPr xmlns:a="http://schemas.openxmlformats.org/drawingml/2006/main">
            <a:normAutofit/>
          </a:bodyPr>
          <a:lstStyle xmlns:a="http://schemas.openxmlformats.org/drawingml/2006/main"/>
          <a:p xmlns:a="http://schemas.openxmlformats.org/drawingml/2006/main">
            <a:r>
              <a:rPr sz="2800"/>
              <a:t>Allows creation of multiple elections with a defined duration and admin control.</a:t>
            </a:r>
          </a:p>
          <a:p xmlns:a="http://schemas.openxmlformats.org/drawingml/2006/main">
            <a:r>
              <a:rPr sz="2800"/>
              <a:t>Admin registers constituencies, voters, and candidates, ensuring no self-registration.</a:t>
            </a:r>
          </a:p>
          <a:p xmlns:a="http://schemas.openxmlformats.org/drawingml/2006/main">
            <a:r>
              <a:rPr sz="2800"/>
              <a:t>Voters cast a single vote for candidates within their constituency.</a:t>
            </a:r>
          </a:p>
          <a:p xmlns:a="http://schemas.openxmlformats.org/drawingml/2006/main">
            <a:r>
              <a:rPr sz="2800"/>
              <a:t>Admin closes the election after the set duration, ending voting.</a:t>
            </a:r>
          </a:p>
          <a:p xmlns:a="http://schemas.openxmlformats.org/drawingml/2006/main">
            <a:r>
              <a:rPr sz="2800"/>
              <a:t>Tracks and displays votes for each candidate by constituency.</a:t>
            </a:r>
            <a:endParaRPr sz="2800"/>
          </a:p>
        </p:txBody>
      </p:sp>
      <p:sp>
        <p:nvSpPr>
          <p:cNvPr id="4" name="Slide Number Placeholder 3">
            <a:extLst xmlns:a="http://schemas.openxmlformats.org/drawingml/2006/main">
              <a:ext uri="{FF2B5EF4-FFF2-40B4-BE49-F238E27FC236}">
                <a16:creationId xmlns:a16="http://schemas.microsoft.com/office/drawing/2014/main" id="{1A80689D-6E17-C9C8-126D-8EE98287A41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E6562B1-0B0F-0246-9532-09536BC2AE59}" type="slidenum">
              <a:t>12</a:t>
            </a:fld>
            <a:endParaRPr/>
          </a:p>
        </p:txBody>
      </p:sp>
    </p:spTree>
    <p:extLst>
      <p:ext uri="{BB962C8B-B14F-4D97-AF65-F5344CB8AC3E}">
        <p14:creationId xmlns:p14="http://schemas.microsoft.com/office/powerpoint/2010/main" val="324882393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EABE9AE-F4CE-AC4E-D72E-0E940C83164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Vote </a:t>
            </a:r>
            <a:r>
              <a:t>dApp</a:t>
            </a:r>
            <a:endParaRPr/>
          </a:p>
        </p:txBody>
      </p:sp>
      <p:sp>
        <p:nvSpPr>
          <p:cNvPr id="4" name="Slide Number Placeholder 3">
            <a:extLst xmlns:a="http://schemas.openxmlformats.org/drawingml/2006/main">
              <a:ext uri="{FF2B5EF4-FFF2-40B4-BE49-F238E27FC236}">
                <a16:creationId xmlns:a16="http://schemas.microsoft.com/office/drawing/2014/main" id="{6CB08973-48BC-EF68-CFCA-5D55253653C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E6562B1-0B0F-0246-9532-09536BC2AE59}" type="slidenum">
              <a:t>13</a:t>
            </a:fld>
            <a:endParaRPr/>
          </a:p>
        </p:txBody>
      </p:sp>
      <p:sp>
        <p:nvSpPr>
          <p:cNvPr id="5" name="Flowchart: Document 4">
            <a:extLst xmlns:a="http://schemas.openxmlformats.org/drawingml/2006/main">
              <a:ext uri="{FF2B5EF4-FFF2-40B4-BE49-F238E27FC236}">
                <a16:creationId xmlns:a16="http://schemas.microsoft.com/office/drawing/2014/main" id="{3C082D7A-1548-AD8B-F73D-274C57798B4B}"/>
              </a:ext>
            </a:extLst>
          </p:cNvPr>
          <p:cNvSpPr>
            <a:spLocks xmlns:a="http://schemas.openxmlformats.org/drawingml/2006/main" noGrp="1"/>
          </p:cNvSpPr>
          <p:nvPr/>
        </p:nvSpPr>
        <p:spPr>
          <a:xfrm xmlns:a="http://schemas.openxmlformats.org/drawingml/2006/main">
            <a:off x="5005836" y="1258205"/>
            <a:ext cx="1968728" cy="1152486"/>
          </a:xfrm>
          <a:prstGeom xmlns:a="http://schemas.openxmlformats.org/drawingml/2006/main" prst="flowChartDocument">
            <a:avLst/>
          </a:prstGeom>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Election Factory</a:t>
            </a:r>
            <a:endParaRPr/>
          </a:p>
        </p:txBody>
      </p:sp>
      <p:cxnSp>
        <p:nvCxnSpPr>
          <p:cNvPr id="44" name="Straight Arrow Connector 6"/>
          <p:cNvCxnSpPr/>
          <p:nvPr/>
        </p:nvCxnSpPr>
        <p:spPr>
          <a:xfrm xmlns:a="http://schemas.openxmlformats.org/drawingml/2006/main" flipH="1">
            <a:off x="2479086" y="3063240"/>
            <a:ext cx="1711117" cy="1184564"/>
          </a:xfrm>
          <a:prstGeom xmlns:a="http://schemas.openxmlformats.org/drawingml/2006/main" prst="straightConnector1">
            <a:avLst/>
          </a:prstGeom>
          <a:ln xmlns:a="http://schemas.openxmlformats.org/drawingml/2006/main">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cxnSp>
        <p:nvCxnSpPr>
          <p:cNvPr id="45" name="Straight Arrow Connector 7"/>
          <p:cNvCxnSpPr/>
          <p:nvPr/>
        </p:nvCxnSpPr>
        <p:spPr>
          <a:xfrm xmlns:a="http://schemas.openxmlformats.org/drawingml/2006/main" flipH="1">
            <a:off x="4303222" y="3063240"/>
            <a:ext cx="702614" cy="1184564"/>
          </a:xfrm>
          <a:prstGeom xmlns:a="http://schemas.openxmlformats.org/drawingml/2006/main" prst="straightConnector1">
            <a:avLst/>
          </a:prstGeom>
          <a:ln xmlns:a="http://schemas.openxmlformats.org/drawingml/2006/main">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cxnSp>
        <p:nvCxnSpPr>
          <p:cNvPr id="46" name="Straight Arrow Connector 8"/>
          <p:cNvCxnSpPr/>
          <p:nvPr/>
        </p:nvCxnSpPr>
        <p:spPr>
          <a:xfrm xmlns:a="http://schemas.openxmlformats.org/drawingml/2006/main">
            <a:off x="5871638" y="3063240"/>
            <a:ext cx="166144" cy="1137805"/>
          </a:xfrm>
          <a:prstGeom xmlns:a="http://schemas.openxmlformats.org/drawingml/2006/main" prst="straightConnector1">
            <a:avLst/>
          </a:prstGeom>
          <a:ln xmlns:a="http://schemas.openxmlformats.org/drawingml/2006/main">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cxnSp>
        <p:nvCxnSpPr>
          <p:cNvPr id="47" name="Straight Arrow Connector 9"/>
          <p:cNvCxnSpPr/>
          <p:nvPr/>
        </p:nvCxnSpPr>
        <p:spPr>
          <a:xfrm xmlns:a="http://schemas.openxmlformats.org/drawingml/2006/main">
            <a:off x="6843511" y="3063240"/>
            <a:ext cx="1039379" cy="1137805"/>
          </a:xfrm>
          <a:prstGeom xmlns:a="http://schemas.openxmlformats.org/drawingml/2006/main" prst="straightConnector1">
            <a:avLst/>
          </a:prstGeom>
          <a:ln xmlns:a="http://schemas.openxmlformats.org/drawingml/2006/main">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sp>
        <p:nvSpPr>
          <p:cNvPr id="21" name="Flowchart: Document 20">
            <a:extLst xmlns:a="http://schemas.openxmlformats.org/drawingml/2006/main">
              <a:ext uri="{FF2B5EF4-FFF2-40B4-BE49-F238E27FC236}">
                <a16:creationId xmlns:a16="http://schemas.microsoft.com/office/drawing/2014/main" id="{7D937E10-DB28-ECEA-4F3F-84C98A1ADCD5}"/>
              </a:ext>
            </a:extLst>
          </p:cNvPr>
          <p:cNvSpPr>
            <a:spLocks xmlns:a="http://schemas.openxmlformats.org/drawingml/2006/main" noGrp="1"/>
          </p:cNvSpPr>
          <p:nvPr/>
        </p:nvSpPr>
        <p:spPr>
          <a:xfrm xmlns:a="http://schemas.openxmlformats.org/drawingml/2006/main">
            <a:off x="1575320" y="4546543"/>
            <a:ext cx="1252105" cy="670214"/>
          </a:xfrm>
          <a:prstGeom xmlns:a="http://schemas.openxmlformats.org/drawingml/2006/main" prst="flowChartDocument">
            <a:avLst/>
          </a:prstGeom>
        </p:spPr>
        <p:style>
          <a:lnRef xmlns:a="http://schemas.openxmlformats.org/drawingml/2006/main" idx="1">
            <a:schemeClr val="accent6"/>
          </a:lnRef>
          <a:fillRef xmlns:a="http://schemas.openxmlformats.org/drawingml/2006/main" idx="3">
            <a:schemeClr val="accent6"/>
          </a:fillRef>
          <a:effectRef xmlns:a="http://schemas.openxmlformats.org/drawingml/2006/main" idx="2">
            <a:schemeClr val="accent6"/>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Election 1</a:t>
            </a:r>
            <a:endParaRPr/>
          </a:p>
        </p:txBody>
      </p:sp>
      <p:sp>
        <p:nvSpPr>
          <p:cNvPr id="22" name="Flowchart: Document 21">
            <a:extLst xmlns:a="http://schemas.openxmlformats.org/drawingml/2006/main">
              <a:ext uri="{FF2B5EF4-FFF2-40B4-BE49-F238E27FC236}">
                <a16:creationId xmlns:a16="http://schemas.microsoft.com/office/drawing/2014/main" id="{771AC3BE-0AA1-9A3F-6B3B-D24F1AE232F8}"/>
              </a:ext>
            </a:extLst>
          </p:cNvPr>
          <p:cNvSpPr>
            <a:spLocks xmlns:a="http://schemas.openxmlformats.org/drawingml/2006/main" noGrp="1"/>
          </p:cNvSpPr>
          <p:nvPr/>
        </p:nvSpPr>
        <p:spPr>
          <a:xfrm xmlns:a="http://schemas.openxmlformats.org/drawingml/2006/main">
            <a:off x="3493525" y="4546543"/>
            <a:ext cx="1252105" cy="670214"/>
          </a:xfrm>
          <a:prstGeom xmlns:a="http://schemas.openxmlformats.org/drawingml/2006/main" prst="flowChartDocument">
            <a:avLst/>
          </a:prstGeom>
        </p:spPr>
        <p:style>
          <a:lnRef xmlns:a="http://schemas.openxmlformats.org/drawingml/2006/main" idx="1">
            <a:schemeClr val="accent6"/>
          </a:lnRef>
          <a:fillRef xmlns:a="http://schemas.openxmlformats.org/drawingml/2006/main" idx="3">
            <a:schemeClr val="accent6"/>
          </a:fillRef>
          <a:effectRef xmlns:a="http://schemas.openxmlformats.org/drawingml/2006/main" idx="2">
            <a:schemeClr val="accent6"/>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Election 2</a:t>
            </a:r>
            <a:endParaRPr/>
          </a:p>
        </p:txBody>
      </p:sp>
      <p:sp>
        <p:nvSpPr>
          <p:cNvPr id="23" name="Flowchart: Document 22">
            <a:extLst xmlns:a="http://schemas.openxmlformats.org/drawingml/2006/main">
              <a:ext uri="{FF2B5EF4-FFF2-40B4-BE49-F238E27FC236}">
                <a16:creationId xmlns:a16="http://schemas.microsoft.com/office/drawing/2014/main" id="{FB09E36B-52CF-C5DE-7DB7-7C510E597FB9}"/>
              </a:ext>
            </a:extLst>
          </p:cNvPr>
          <p:cNvSpPr>
            <a:spLocks xmlns:a="http://schemas.openxmlformats.org/drawingml/2006/main" noGrp="1"/>
          </p:cNvSpPr>
          <p:nvPr/>
        </p:nvSpPr>
        <p:spPr>
          <a:xfrm xmlns:a="http://schemas.openxmlformats.org/drawingml/2006/main">
            <a:off x="5411730" y="4546543"/>
            <a:ext cx="1252105" cy="670214"/>
          </a:xfrm>
          <a:prstGeom xmlns:a="http://schemas.openxmlformats.org/drawingml/2006/main" prst="flowChartDocument">
            <a:avLst/>
          </a:prstGeom>
        </p:spPr>
        <p:style>
          <a:lnRef xmlns:a="http://schemas.openxmlformats.org/drawingml/2006/main" idx="1">
            <a:schemeClr val="accent6"/>
          </a:lnRef>
          <a:fillRef xmlns:a="http://schemas.openxmlformats.org/drawingml/2006/main" idx="3">
            <a:schemeClr val="accent6"/>
          </a:fillRef>
          <a:effectRef xmlns:a="http://schemas.openxmlformats.org/drawingml/2006/main" idx="2">
            <a:schemeClr val="accent6"/>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Election 3</a:t>
            </a:r>
            <a:endParaRPr/>
          </a:p>
        </p:txBody>
      </p:sp>
      <p:sp>
        <p:nvSpPr>
          <p:cNvPr id="24" name="Flowchart: Document 23">
            <a:extLst xmlns:a="http://schemas.openxmlformats.org/drawingml/2006/main">
              <a:ext uri="{FF2B5EF4-FFF2-40B4-BE49-F238E27FC236}">
                <a16:creationId xmlns:a16="http://schemas.microsoft.com/office/drawing/2014/main" id="{5CC921FF-6FB4-343C-68C6-6A1EF6AE00FB}"/>
              </a:ext>
            </a:extLst>
          </p:cNvPr>
          <p:cNvSpPr>
            <a:spLocks xmlns:a="http://schemas.openxmlformats.org/drawingml/2006/main" noGrp="1"/>
          </p:cNvSpPr>
          <p:nvPr/>
        </p:nvSpPr>
        <p:spPr>
          <a:xfrm xmlns:a="http://schemas.openxmlformats.org/drawingml/2006/main">
            <a:off x="7329935" y="4546543"/>
            <a:ext cx="1252105" cy="670214"/>
          </a:xfrm>
          <a:prstGeom xmlns:a="http://schemas.openxmlformats.org/drawingml/2006/main" prst="flowChartDocument">
            <a:avLst/>
          </a:prstGeom>
        </p:spPr>
        <p:style>
          <a:lnRef xmlns:a="http://schemas.openxmlformats.org/drawingml/2006/main" idx="1">
            <a:schemeClr val="accent6"/>
          </a:lnRef>
          <a:fillRef xmlns:a="http://schemas.openxmlformats.org/drawingml/2006/main" idx="3">
            <a:schemeClr val="accent6"/>
          </a:fillRef>
          <a:effectRef xmlns:a="http://schemas.openxmlformats.org/drawingml/2006/main" idx="2">
            <a:schemeClr val="accent6"/>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Election 4</a:t>
            </a:r>
            <a:endParaRPr/>
          </a:p>
        </p:txBody>
      </p:sp>
      <p:sp>
        <p:nvSpPr>
          <p:cNvPr id="25" name="Flowchart: Document 24">
            <a:extLst xmlns:a="http://schemas.openxmlformats.org/drawingml/2006/main">
              <a:ext uri="{FF2B5EF4-FFF2-40B4-BE49-F238E27FC236}">
                <a16:creationId xmlns:a16="http://schemas.microsoft.com/office/drawing/2014/main" id="{09F63913-4421-C05C-3088-B47E09269CE0}"/>
              </a:ext>
            </a:extLst>
          </p:cNvPr>
          <p:cNvSpPr>
            <a:spLocks xmlns:a="http://schemas.openxmlformats.org/drawingml/2006/main" noGrp="1"/>
          </p:cNvSpPr>
          <p:nvPr/>
        </p:nvSpPr>
        <p:spPr>
          <a:xfrm xmlns:a="http://schemas.openxmlformats.org/drawingml/2006/main">
            <a:off x="9248140" y="4546543"/>
            <a:ext cx="1252105" cy="670214"/>
          </a:xfrm>
          <a:prstGeom xmlns:a="http://schemas.openxmlformats.org/drawingml/2006/main" prst="flowChartDocument">
            <a:avLst/>
          </a:prstGeom>
        </p:spPr>
        <p:style>
          <a:lnRef xmlns:a="http://schemas.openxmlformats.org/drawingml/2006/main" idx="1">
            <a:schemeClr val="accent6"/>
          </a:lnRef>
          <a:fillRef xmlns:a="http://schemas.openxmlformats.org/drawingml/2006/main" idx="3">
            <a:schemeClr val="accent6"/>
          </a:fillRef>
          <a:effectRef xmlns:a="http://schemas.openxmlformats.org/drawingml/2006/main" idx="2">
            <a:schemeClr val="accent6"/>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 …</a:t>
            </a:r>
            <a:endParaRPr/>
          </a:p>
        </p:txBody>
      </p:sp>
      <p:cxnSp>
        <p:nvCxnSpPr>
          <p:cNvPr id="53" name="Straight Arrow Connector 36"/>
          <p:cNvCxnSpPr/>
          <p:nvPr/>
        </p:nvCxnSpPr>
        <p:spPr>
          <a:xfrm xmlns:a="http://schemas.openxmlformats.org/drawingml/2006/main">
            <a:off x="7557185" y="3063240"/>
            <a:ext cx="2317007" cy="1184564"/>
          </a:xfrm>
          <a:prstGeom xmlns:a="http://schemas.openxmlformats.org/drawingml/2006/main" prst="straightConnector1">
            <a:avLst/>
          </a:prstGeom>
          <a:ln xmlns:a="http://schemas.openxmlformats.org/drawingml/2006/main">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sp>
        <p:nvSpPr>
          <p:cNvPr id="40" name="TextBox 39">
            <a:extLst xmlns:a="http://schemas.openxmlformats.org/drawingml/2006/main">
              <a:ext uri="{FF2B5EF4-FFF2-40B4-BE49-F238E27FC236}">
                <a16:creationId xmlns:a16="http://schemas.microsoft.com/office/drawing/2014/main" id="{104C50CB-A866-DBE7-928C-81CBB4EDE565}"/>
              </a:ext>
            </a:extLst>
          </p:cNvPr>
          <p:cNvSpPr>
            <a:spLocks xmlns:a="http://schemas.openxmlformats.org/drawingml/2006/main" noGrp="1"/>
          </p:cNvSpPr>
          <p:nvPr/>
        </p:nvSpPr>
        <p:spPr>
          <a:xfrm xmlns:a="http://schemas.openxmlformats.org/drawingml/2006/main">
            <a:off x="3416675" y="2593962"/>
            <a:ext cx="5076070"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a:solidFill>
                  <a:srgbClr val="0070C0"/>
                </a:solidFill>
              </a:rPr>
              <a:t>createElection</a:t>
            </a:r>
            <a:r>
              <a:rPr>
                <a:solidFill>
                  <a:srgbClr val="0070C0"/>
                </a:solidFill>
              </a:rPr>
              <a:t>(_</a:t>
            </a:r>
            <a:r>
              <a:rPr>
                <a:solidFill>
                  <a:srgbClr val="0070C0"/>
                </a:solidFill>
              </a:rPr>
              <a:t>durationInMinutes</a:t>
            </a:r>
            <a:r>
              <a:rPr>
                <a:solidFill>
                  <a:srgbClr val="0070C0"/>
                </a:solidFill>
              </a:rPr>
              <a:t>, _</a:t>
            </a:r>
            <a:r>
              <a:rPr>
                <a:solidFill>
                  <a:srgbClr val="0070C0"/>
                </a:solidFill>
              </a:rPr>
              <a:t>electionName</a:t>
            </a:r>
            <a:r>
              <a:rPr>
                <a:solidFill>
                  <a:srgbClr val="0070C0"/>
                </a:solidFill>
              </a:rPr>
              <a:t>)</a:t>
            </a:r>
            <a:endParaRPr>
              <a:solidFill>
                <a:srgbClr val="0070C0"/>
              </a:solidFill>
            </a:endParaRPr>
          </a:p>
        </p:txBody>
      </p:sp>
    </p:spTree>
    <p:extLst>
      <p:ext uri="{BB962C8B-B14F-4D97-AF65-F5344CB8AC3E}">
        <p14:creationId xmlns:p14="http://schemas.microsoft.com/office/powerpoint/2010/main" val="274905378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4C1E42ED-3748-C92C-023E-1D03C23B84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E6562B1-0B0F-0246-9532-09536BC2AE59}" type="slidenum">
              <a:t>14</a:t>
            </a:fld>
            <a:endParaRPr/>
          </a:p>
        </p:txBody>
      </p:sp>
      <p:sp>
        <p:nvSpPr>
          <p:cNvPr id="6" name="TextBox 5">
            <a:extLst xmlns:a="http://schemas.openxmlformats.org/drawingml/2006/main">
              <a:ext uri="{FF2B5EF4-FFF2-40B4-BE49-F238E27FC236}">
                <a16:creationId xmlns:a16="http://schemas.microsoft.com/office/drawing/2014/main" id="{47C0B791-7F66-2906-54A7-9DC21C8CFCD8}"/>
              </a:ext>
            </a:extLst>
          </p:cNvPr>
          <p:cNvSpPr>
            <a:spLocks xmlns:a="http://schemas.openxmlformats.org/drawingml/2006/main" noGrp="1"/>
          </p:cNvSpPr>
          <p:nvPr/>
        </p:nvSpPr>
        <p:spPr>
          <a:xfrm xmlns:a="http://schemas.openxmlformats.org/drawingml/2006/main">
            <a:off x="8552483" y="840636"/>
            <a:ext cx="3075709" cy="489364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mj-lt"/>
                <a:ea typeface="+mj-lt"/>
                <a:cs typeface="+mj-lt"/>
              </a:rPr>
              <a:t>Add</a:t>
            </a:r>
          </a:p>
          <a:p xmlns:a="http://schemas.openxmlformats.org/drawingml/2006/main">
            <a:pPr marL="285750" indent="-285750">
              <a:buFont typeface="Arial"/>
              <a:buChar char="•"/>
            </a:pPr>
            <a:r>
              <a:t>addConsituency</a:t>
            </a:r>
            <a:endParaRPr/>
          </a:p>
          <a:p xmlns:a="http://schemas.openxmlformats.org/drawingml/2006/main">
            <a:pPr marL="285750" indent="-285750">
              <a:buFont typeface="Arial"/>
              <a:buChar char="•"/>
            </a:pPr>
            <a:r>
              <a:t>addCandidate</a:t>
            </a:r>
            <a:endParaRPr/>
          </a:p>
          <a:p xmlns:a="http://schemas.openxmlformats.org/drawingml/2006/main">
            <a:pPr marL="285750" indent="-285750">
              <a:buFont typeface="Arial"/>
              <a:buChar char="•"/>
            </a:pPr>
            <a:r>
              <a:t>addVoter</a:t>
            </a:r>
            <a:endParaRPr/>
          </a:p>
          <a:p xmlns:a="http://schemas.openxmlformats.org/drawingml/2006/main">
            <a:r>
              <a:rPr sz="2000" b="1">
                <a:latin typeface="+mj-lt"/>
                <a:ea typeface="+mj-lt"/>
                <a:cs typeface="+mj-lt"/>
              </a:rPr>
              <a:t>Get</a:t>
            </a:r>
          </a:p>
          <a:p xmlns:a="http://schemas.openxmlformats.org/drawingml/2006/main">
            <a:pPr marL="285750" indent="-285750">
              <a:buFont typeface="Arial"/>
              <a:buChar char="•"/>
            </a:pPr>
            <a:r>
              <a:t>getCandidatesIdList</a:t>
            </a:r>
            <a:endParaRPr/>
          </a:p>
          <a:p xmlns:a="http://schemas.openxmlformats.org/drawingml/2006/main">
            <a:pPr marL="285750" indent="-285750">
              <a:buFont typeface="Arial"/>
              <a:buChar char="•"/>
            </a:pPr>
            <a:r>
              <a:t>getConsituencyCandidates</a:t>
            </a:r>
            <a:endParaRPr/>
          </a:p>
          <a:p xmlns:a="http://schemas.openxmlformats.org/drawingml/2006/main">
            <a:pPr marL="285750" indent="-285750">
              <a:buFont typeface="Arial"/>
              <a:buChar char="•"/>
            </a:pPr>
            <a:r>
              <a:t>getCandidateConsituency</a:t>
            </a:r>
            <a:endParaRPr/>
          </a:p>
          <a:p xmlns:a="http://schemas.openxmlformats.org/drawingml/2006/main">
            <a:pPr marL="285750" indent="-285750">
              <a:buFont typeface="Arial"/>
              <a:buChar char="•"/>
            </a:pPr>
            <a:r>
              <a:t>getConsituencyIdList</a:t>
            </a:r>
            <a:endParaRPr/>
          </a:p>
          <a:p xmlns:a="http://schemas.openxmlformats.org/drawingml/2006/main">
            <a:pPr marL="285750" indent="-285750">
              <a:buFont typeface="Arial"/>
              <a:buChar char="•"/>
            </a:pPr>
            <a:r>
              <a:t>getVotersIdList</a:t>
            </a:r>
            <a:endParaRPr/>
          </a:p>
          <a:p xmlns:a="http://schemas.openxmlformats.org/drawingml/2006/main">
            <a:pPr marL="285750" indent="-285750">
              <a:buFont typeface="Arial"/>
              <a:buChar char="•"/>
            </a:pPr>
            <a:r>
              <a:t>getConsituencyVoters</a:t>
            </a:r>
            <a:endParaRPr/>
          </a:p>
          <a:p xmlns:a="http://schemas.openxmlformats.org/drawingml/2006/main">
            <a:pPr marL="285750" indent="-285750">
              <a:buFont typeface="Arial"/>
              <a:buChar char="•"/>
            </a:pPr>
            <a:r>
              <a:t>getVoterConsituency</a:t>
            </a:r>
            <a:endParaRPr/>
          </a:p>
          <a:p xmlns:a="http://schemas.openxmlformats.org/drawingml/2006/main">
            <a:r>
              <a:rPr sz="2000" b="1">
                <a:latin typeface="+mj-lt"/>
                <a:ea typeface="+mj-lt"/>
                <a:cs typeface="+mj-lt"/>
              </a:rPr>
              <a:t>Vote</a:t>
            </a:r>
          </a:p>
          <a:p xmlns:a="http://schemas.openxmlformats.org/drawingml/2006/main">
            <a:pPr marL="285750" indent="-285750">
              <a:buFont typeface="Arial"/>
              <a:buChar char="•"/>
            </a:pPr>
            <a:r>
              <a:t>castVote</a:t>
            </a:r>
            <a:endParaRPr/>
          </a:p>
          <a:p xmlns:a="http://schemas.openxmlformats.org/drawingml/2006/main">
            <a:pPr marL="285750" indent="-285750">
              <a:buFont typeface="Arial"/>
              <a:buChar char="•"/>
            </a:pPr>
            <a:r>
              <a:t>getVotes</a:t>
            </a:r>
            <a:endParaRPr/>
          </a:p>
          <a:p xmlns:a="http://schemas.openxmlformats.org/drawingml/2006/main">
            <a:r>
              <a:rPr sz="2000" b="1">
                <a:latin typeface="+mj-lt"/>
                <a:ea typeface="+mj-lt"/>
                <a:cs typeface="+mj-lt"/>
              </a:rPr>
              <a:t>Close</a:t>
            </a:r>
          </a:p>
          <a:p xmlns:a="http://schemas.openxmlformats.org/drawingml/2006/main">
            <a:pPr marL="285750" indent="-285750">
              <a:buFont typeface="Arial"/>
              <a:buChar char="•"/>
            </a:pPr>
            <a:r>
              <a:t>closeElection</a:t>
            </a:r>
            <a:endParaRPr/>
          </a:p>
        </p:txBody>
      </p:sp>
      <p:sp>
        <p:nvSpPr>
          <p:cNvPr id="8" name="Flowchart: Document 7">
            <a:extLst xmlns:a="http://schemas.openxmlformats.org/drawingml/2006/main">
              <a:ext uri="{FF2B5EF4-FFF2-40B4-BE49-F238E27FC236}">
                <a16:creationId xmlns:a16="http://schemas.microsoft.com/office/drawing/2014/main" id="{487C511F-9449-7178-7711-FFA0B79B6AAC}"/>
              </a:ext>
            </a:extLst>
          </p:cNvPr>
          <p:cNvSpPr>
            <a:spLocks xmlns:a="http://schemas.openxmlformats.org/drawingml/2006/main" noGrp="1"/>
          </p:cNvSpPr>
          <p:nvPr/>
        </p:nvSpPr>
        <p:spPr>
          <a:xfrm xmlns:a="http://schemas.openxmlformats.org/drawingml/2006/main">
            <a:off x="865186" y="739878"/>
            <a:ext cx="1923871" cy="1118526"/>
          </a:xfrm>
          <a:prstGeom xmlns:a="http://schemas.openxmlformats.org/drawingml/2006/main" prst="flowChartDocument">
            <a:avLst/>
          </a:prstGeom>
        </p:spPr>
        <p:style>
          <a:lnRef xmlns:a="http://schemas.openxmlformats.org/drawingml/2006/main" idx="1">
            <a:schemeClr val="accent6"/>
          </a:lnRef>
          <a:fillRef xmlns:a="http://schemas.openxmlformats.org/drawingml/2006/main" idx="3">
            <a:schemeClr val="accent6"/>
          </a:fillRef>
          <a:effectRef xmlns:a="http://schemas.openxmlformats.org/drawingml/2006/main" idx="2">
            <a:schemeClr val="accent6"/>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3600"/>
              <a:t>Election</a:t>
            </a:r>
            <a:endParaRPr sz="3600"/>
          </a:p>
        </p:txBody>
      </p:sp>
      <p:sp>
        <p:nvSpPr>
          <p:cNvPr id="12" name="Rectangle 5">
            <a:extLst xmlns:a="http://schemas.openxmlformats.org/drawingml/2006/main">
              <a:ext uri="{FF2B5EF4-FFF2-40B4-BE49-F238E27FC236}">
                <a16:creationId xmlns:a16="http://schemas.microsoft.com/office/drawing/2014/main" id="{DD3A00EB-C914-FEA0-939C-2A7FA91D2D69}"/>
              </a:ext>
            </a:extLst>
          </p:cNvPr>
          <p:cNvSpPr>
            <a:spLocks xmlns:a="http://schemas.openxmlformats.org/drawingml/2006/main" noGrp="1"/>
          </p:cNvSpPr>
          <p:nvPr/>
        </p:nvSpPr>
        <p:spPr>
          <a:xfrm xmlns:a="http://schemas.openxmlformats.org/drawingml/2006/main">
            <a:off x="1282128" y="2925064"/>
            <a:ext cx="1886674" cy="26776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ctr">
            <a:spAutoFit/>
          </a:bodyPr>
          <a:lstStyle xmlns:a="http://schemas.openxmlformats.org/drawingml/2006/main"/>
          <a:p xmlns:a="http://schemas.openxmlformats.org/drawingml/2006/main">
            <a:pPr marL="0" marR="0" lvl="0" indent="0" algn="l" defTabSz="914400">
              <a:lnSpc>
                <a:spcPct val="100000"/>
              </a:lnSpc>
              <a:spcBef>
                <a:spcPct val="0"/>
              </a:spcBef>
              <a:spcAft>
                <a:spcPct val="0"/>
              </a:spcAft>
              <a:buClrTx/>
              <a:buSzTx/>
              <a:buFontTx/>
              <a:buNone/>
            </a:pPr>
            <a:r>
              <a:rPr b="1">
                <a:latin typeface="Arial Unicode MS"/>
                <a:ea typeface="Arial Unicode MS"/>
                <a:cs typeface="Arial Unicode MS"/>
              </a:rPr>
              <a:t>Voter</a:t>
            </a:r>
          </a:p>
          <a:p xmlns:a="http://schemas.openxmlformats.org/drawingml/2006/main">
            <a:pPr marL="285750" marR="0" lvl="0" indent="-285750" algn="l" defTabSz="914400">
              <a:lnSpc>
                <a:spcPct val="100000"/>
              </a:lnSpc>
              <a:spcBef>
                <a:spcPct val="0"/>
              </a:spcBef>
              <a:spcAft>
                <a:spcPct val="0"/>
              </a:spcAft>
              <a:buClrTx/>
              <a:buSzTx/>
              <a:buFont typeface="Arial"/>
              <a:buChar char="•"/>
            </a:pPr>
            <a:r>
              <a:rPr>
                <a:latin typeface="Arial Unicode MS"/>
                <a:ea typeface="Arial Unicode MS"/>
                <a:cs typeface="Arial Unicode MS"/>
              </a:rPr>
              <a:t>voterId</a:t>
            </a:r>
          </a:p>
          <a:p xmlns:a="http://schemas.openxmlformats.org/drawingml/2006/main">
            <a:pPr marL="285750" marR="0" lvl="0" indent="-285750" algn="l" defTabSz="914400">
              <a:lnSpc>
                <a:spcPct val="100000"/>
              </a:lnSpc>
              <a:spcBef>
                <a:spcPct val="0"/>
              </a:spcBef>
              <a:spcAft>
                <a:spcPct val="0"/>
              </a:spcAft>
              <a:buClrTx/>
              <a:buSzTx/>
              <a:buFont typeface="Arial"/>
              <a:buChar char="•"/>
            </a:pPr>
            <a:r>
              <a:rPr>
                <a:latin typeface="Arial Unicode MS"/>
                <a:ea typeface="Arial Unicode MS"/>
                <a:cs typeface="Arial Unicode MS"/>
              </a:rPr>
              <a:t>name</a:t>
            </a:r>
          </a:p>
          <a:p xmlns:a="http://schemas.openxmlformats.org/drawingml/2006/main">
            <a:pPr marL="285750" marR="0" lvl="0" indent="-285750" algn="l" defTabSz="914400">
              <a:lnSpc>
                <a:spcPct val="100000"/>
              </a:lnSpc>
              <a:spcBef>
                <a:spcPct val="0"/>
              </a:spcBef>
              <a:spcAft>
                <a:spcPct val="0"/>
              </a:spcAft>
              <a:buClrTx/>
              <a:buSzTx/>
              <a:buFont typeface="Arial"/>
              <a:buChar char="•"/>
            </a:pPr>
            <a:r>
              <a:rPr>
                <a:latin typeface="Arial Unicode MS"/>
                <a:ea typeface="Arial Unicode MS"/>
                <a:cs typeface="Arial Unicode MS"/>
              </a:rPr>
              <a:t>email</a:t>
            </a:r>
          </a:p>
          <a:p xmlns:a="http://schemas.openxmlformats.org/drawingml/2006/main">
            <a:pPr marL="285750" marR="0" lvl="0" indent="-285750" algn="l" defTabSz="914400">
              <a:lnSpc>
                <a:spcPct val="100000"/>
              </a:lnSpc>
              <a:spcBef>
                <a:spcPct val="0"/>
              </a:spcBef>
              <a:spcAft>
                <a:spcPct val="0"/>
              </a:spcAft>
              <a:buClrTx/>
              <a:buSzTx/>
              <a:buFont typeface="Arial"/>
              <a:buChar char="•"/>
            </a:pPr>
            <a:r>
              <a:rPr>
                <a:latin typeface="Arial Unicode MS"/>
                <a:ea typeface="Arial Unicode MS"/>
                <a:cs typeface="Arial Unicode MS"/>
              </a:rPr>
              <a:t>phoneNo</a:t>
            </a:r>
          </a:p>
          <a:p xmlns:a="http://schemas.openxmlformats.org/drawingml/2006/main">
            <a:pPr marL="285750" marR="0" lvl="0" indent="-285750" algn="l" defTabSz="914400">
              <a:lnSpc>
                <a:spcPct val="100000"/>
              </a:lnSpc>
              <a:spcBef>
                <a:spcPct val="0"/>
              </a:spcBef>
              <a:spcAft>
                <a:spcPct val="0"/>
              </a:spcAft>
              <a:buClrTx/>
              <a:buSzTx/>
              <a:buFont typeface="Arial"/>
              <a:buChar char="•"/>
            </a:pPr>
            <a:r>
              <a:rPr>
                <a:latin typeface="Arial Unicode MS"/>
                <a:ea typeface="Arial Unicode MS"/>
                <a:cs typeface="Arial Unicode MS"/>
              </a:rPr>
              <a:t>consituencyId</a:t>
            </a:r>
          </a:p>
          <a:p xmlns:a="http://schemas.openxmlformats.org/drawingml/2006/main">
            <a:pPr marL="285750" marR="0" lvl="0" indent="-285750" algn="l" defTabSz="914400">
              <a:lnSpc>
                <a:spcPct val="100000"/>
              </a:lnSpc>
              <a:spcBef>
                <a:spcPct val="0"/>
              </a:spcBef>
              <a:spcAft>
                <a:spcPct val="0"/>
              </a:spcAft>
              <a:buClrTx/>
              <a:buSzTx/>
              <a:buFont typeface="Arial"/>
              <a:buChar char="•"/>
            </a:pPr>
            <a:r>
              <a:rPr>
                <a:latin typeface="Arial Unicode MS"/>
                <a:ea typeface="Arial Unicode MS"/>
                <a:cs typeface="Arial Unicode MS"/>
              </a:rPr>
              <a:t>age</a:t>
            </a:r>
          </a:p>
          <a:p xmlns:a="http://schemas.openxmlformats.org/drawingml/2006/main">
            <a:pPr marL="285750" marR="0" lvl="0" indent="-285750" algn="l" defTabSz="914400">
              <a:lnSpc>
                <a:spcPct val="100000"/>
              </a:lnSpc>
              <a:spcBef>
                <a:spcPct val="0"/>
              </a:spcBef>
              <a:spcAft>
                <a:spcPct val="0"/>
              </a:spcAft>
              <a:buClrTx/>
              <a:buSzTx/>
              <a:buFont typeface="Arial"/>
              <a:buChar char="•"/>
            </a:pPr>
            <a:r>
              <a:rPr>
                <a:latin typeface="Arial Unicode MS"/>
                <a:ea typeface="Arial Unicode MS"/>
                <a:cs typeface="Arial Unicode MS"/>
              </a:rPr>
              <a:t>voted</a:t>
            </a:r>
          </a:p>
          <a:p xmlns:a="http://schemas.openxmlformats.org/drawingml/2006/main">
            <a:pPr marL="0" marR="0" lvl="0" indent="0" algn="l" defTabSz="914400">
              <a:lnSpc>
                <a:spcPct val="100000"/>
              </a:lnSpc>
              <a:spcBef>
                <a:spcPct val="0"/>
              </a:spcBef>
              <a:spcAft>
                <a:spcPct val="0"/>
              </a:spcAft>
              <a:buClrTx/>
              <a:buSzTx/>
              <a:buFontTx/>
              <a:buNone/>
            </a:pPr>
            <a:endParaRPr b="0" i="0" u="none" cap="none" baseline="0">
              <a:ln>
                <a:noFill/>
              </a:ln>
              <a:solidFill>
                <a:schemeClr val="tx1"/>
              </a:solidFill>
            </a:endParaRPr>
          </a:p>
        </p:txBody>
      </p:sp>
      <p:sp>
        <p:nvSpPr>
          <p:cNvPr id="13" name="Rectangle 6">
            <a:extLst xmlns:a="http://schemas.openxmlformats.org/drawingml/2006/main">
              <a:ext uri="{FF2B5EF4-FFF2-40B4-BE49-F238E27FC236}">
                <a16:creationId xmlns:a16="http://schemas.microsoft.com/office/drawing/2014/main" id="{4DBD6574-F894-3358-C1B8-736E07B4D158}"/>
              </a:ext>
            </a:extLst>
          </p:cNvPr>
          <p:cNvSpPr>
            <a:spLocks xmlns:a="http://schemas.openxmlformats.org/drawingml/2006/main" noGrp="1"/>
          </p:cNvSpPr>
          <p:nvPr/>
        </p:nvSpPr>
        <p:spPr>
          <a:xfrm xmlns:a="http://schemas.openxmlformats.org/drawingml/2006/main">
            <a:off x="3480517" y="2925064"/>
            <a:ext cx="1923871" cy="280076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ctr">
            <a:spAutoFit/>
          </a:bodyPr>
          <a:lstStyle xmlns:a="http://schemas.openxmlformats.org/drawingml/2006/main"/>
          <a:p xmlns:a="http://schemas.openxmlformats.org/drawingml/2006/main">
            <a:pPr marL="0" marR="0" lvl="0" indent="0" algn="l" defTabSz="914400">
              <a:lnSpc>
                <a:spcPct val="100000"/>
              </a:lnSpc>
              <a:spcBef>
                <a:spcPct val="0"/>
              </a:spcBef>
              <a:spcAft>
                <a:spcPct val="0"/>
              </a:spcAft>
              <a:buClrTx/>
              <a:buSzTx/>
              <a:buFontTx/>
              <a:buNone/>
            </a:pPr>
            <a:r>
              <a:rPr b="1" i="0" u="none" cap="none">
                <a:ln>
                  <a:noFill/>
                </a:ln>
                <a:solidFill>
                  <a:schemeClr val="tx1"/>
                </a:solidFill>
                <a:latin typeface="Arial Unicode MS"/>
                <a:ea typeface="Arial Unicode MS"/>
                <a:cs typeface="Arial Unicode MS"/>
              </a:rPr>
              <a:t>Candidate</a:t>
            </a:r>
            <a:endParaRPr sz="4000" b="0" i="0" u="none" cap="none" baseline="0">
              <a:ln>
                <a:noFill/>
              </a:ln>
              <a:solidFill>
                <a:schemeClr val="tx1"/>
              </a:solidFill>
              <a:latin typeface="Arial"/>
              <a:ea typeface="Arial"/>
              <a:cs typeface="Arial"/>
            </a:endParaRPr>
          </a:p>
          <a:p xmlns:a="http://schemas.openxmlformats.org/drawingml/2006/main">
            <a:pPr marL="285750" marR="0" lvl="0" indent="-285750" algn="l" defTabSz="914400">
              <a:lnSpc>
                <a:spcPct val="100000"/>
              </a:lnSpc>
              <a:spcBef>
                <a:spcPct val="0"/>
              </a:spcBef>
              <a:spcAft>
                <a:spcPct val="0"/>
              </a:spcAft>
              <a:buClrTx/>
              <a:buSzTx/>
              <a:buFont typeface="Arial"/>
              <a:buChar char="•"/>
            </a:pPr>
            <a:r>
              <a:rPr b="0" i="0" u="none" cap="none">
                <a:ln>
                  <a:noFill/>
                </a:ln>
                <a:solidFill>
                  <a:schemeClr val="tx1"/>
                </a:solidFill>
                <a:latin typeface="Arial Unicode MS"/>
                <a:ea typeface="Arial Unicode MS"/>
                <a:cs typeface="Arial Unicode MS"/>
              </a:rPr>
              <a:t>candidateId</a:t>
            </a:r>
            <a:endParaRPr sz="1000" b="0" i="0" u="none" cap="none" baseline="0">
              <a:ln>
                <a:noFill/>
              </a:ln>
              <a:solidFill>
                <a:schemeClr val="tx1"/>
              </a:solidFill>
            </a:endParaRPr>
          </a:p>
          <a:p xmlns:a="http://schemas.openxmlformats.org/drawingml/2006/main">
            <a:pPr marL="285750" marR="0" lvl="0" indent="-285750" algn="l" defTabSz="914400">
              <a:lnSpc>
                <a:spcPct val="100000"/>
              </a:lnSpc>
              <a:spcBef>
                <a:spcPct val="0"/>
              </a:spcBef>
              <a:spcAft>
                <a:spcPct val="0"/>
              </a:spcAft>
              <a:buClrTx/>
              <a:buSzTx/>
              <a:buFont typeface="Arial"/>
              <a:buChar char="•"/>
            </a:pPr>
            <a:r>
              <a:rPr b="0" i="0" u="none" cap="none">
                <a:ln>
                  <a:noFill/>
                </a:ln>
                <a:solidFill>
                  <a:schemeClr val="tx1"/>
                </a:solidFill>
                <a:latin typeface="Arial Unicode MS"/>
                <a:ea typeface="Arial Unicode MS"/>
                <a:cs typeface="Arial Unicode MS"/>
              </a:rPr>
              <a:t>name</a:t>
            </a:r>
            <a:endParaRPr sz="1000" b="0" i="0" u="none" cap="none" baseline="0">
              <a:ln>
                <a:noFill/>
              </a:ln>
              <a:solidFill>
                <a:schemeClr val="tx1"/>
              </a:solidFill>
            </a:endParaRPr>
          </a:p>
          <a:p xmlns:a="http://schemas.openxmlformats.org/drawingml/2006/main">
            <a:pPr marL="285750" marR="0" lvl="0" indent="-285750" algn="l" defTabSz="914400">
              <a:lnSpc>
                <a:spcPct val="100000"/>
              </a:lnSpc>
              <a:spcBef>
                <a:spcPct val="0"/>
              </a:spcBef>
              <a:spcAft>
                <a:spcPct val="0"/>
              </a:spcAft>
              <a:buClrTx/>
              <a:buSzTx/>
              <a:buFont typeface="Arial"/>
              <a:buChar char="•"/>
            </a:pPr>
            <a:r>
              <a:rPr b="0" i="0" u="none" cap="none">
                <a:ln>
                  <a:noFill/>
                </a:ln>
                <a:solidFill>
                  <a:schemeClr val="tx1"/>
                </a:solidFill>
                <a:latin typeface="Arial Unicode MS"/>
                <a:ea typeface="Arial Unicode MS"/>
                <a:cs typeface="Arial Unicode MS"/>
              </a:rPr>
              <a:t>email</a:t>
            </a:r>
            <a:endParaRPr sz="1000" b="0" i="0" u="none" cap="none" baseline="0">
              <a:ln>
                <a:noFill/>
              </a:ln>
              <a:solidFill>
                <a:schemeClr val="tx1"/>
              </a:solidFill>
            </a:endParaRPr>
          </a:p>
          <a:p xmlns:a="http://schemas.openxmlformats.org/drawingml/2006/main">
            <a:pPr marL="285750" marR="0" lvl="0" indent="-285750" algn="l" defTabSz="914400">
              <a:lnSpc>
                <a:spcPct val="100000"/>
              </a:lnSpc>
              <a:spcBef>
                <a:spcPct val="0"/>
              </a:spcBef>
              <a:spcAft>
                <a:spcPct val="0"/>
              </a:spcAft>
              <a:buClrTx/>
              <a:buSzTx/>
              <a:buFont typeface="Arial"/>
              <a:buChar char="•"/>
            </a:pPr>
            <a:r>
              <a:rPr b="0" i="0" u="none" cap="none">
                <a:ln>
                  <a:noFill/>
                </a:ln>
                <a:solidFill>
                  <a:schemeClr val="tx1"/>
                </a:solidFill>
                <a:latin typeface="Arial Unicode MS"/>
                <a:ea typeface="Arial Unicode MS"/>
                <a:cs typeface="Arial Unicode MS"/>
              </a:rPr>
              <a:t>phoneNo</a:t>
            </a:r>
            <a:endParaRPr sz="1000" b="0" i="0" u="none" cap="none" baseline="0">
              <a:ln>
                <a:noFill/>
              </a:ln>
              <a:solidFill>
                <a:schemeClr val="tx1"/>
              </a:solidFill>
            </a:endParaRPr>
          </a:p>
          <a:p xmlns:a="http://schemas.openxmlformats.org/drawingml/2006/main">
            <a:pPr marL="285750" marR="0" lvl="0" indent="-285750" algn="l" defTabSz="914400">
              <a:lnSpc>
                <a:spcPct val="100000"/>
              </a:lnSpc>
              <a:spcBef>
                <a:spcPct val="0"/>
              </a:spcBef>
              <a:spcAft>
                <a:spcPct val="0"/>
              </a:spcAft>
              <a:buClrTx/>
              <a:buSzTx/>
              <a:buFont typeface="Arial"/>
              <a:buChar char="•"/>
            </a:pPr>
            <a:r>
              <a:rPr b="0" i="0" u="none" cap="none">
                <a:ln>
                  <a:noFill/>
                </a:ln>
                <a:solidFill>
                  <a:schemeClr val="tx1"/>
                </a:solidFill>
                <a:latin typeface="Arial Unicode MS"/>
                <a:ea typeface="Arial Unicode MS"/>
                <a:cs typeface="Arial Unicode MS"/>
              </a:rPr>
              <a:t>consituencyId</a:t>
            </a:r>
            <a:endParaRPr sz="1000" b="0" i="0" u="none" cap="none" baseline="0">
              <a:ln>
                <a:noFill/>
              </a:ln>
              <a:solidFill>
                <a:schemeClr val="tx1"/>
              </a:solidFill>
            </a:endParaRPr>
          </a:p>
          <a:p xmlns:a="http://schemas.openxmlformats.org/drawingml/2006/main">
            <a:pPr marL="285750" marR="0" lvl="0" indent="-285750" algn="l" defTabSz="914400">
              <a:lnSpc>
                <a:spcPct val="100000"/>
              </a:lnSpc>
              <a:spcBef>
                <a:spcPct val="0"/>
              </a:spcBef>
              <a:spcAft>
                <a:spcPct val="0"/>
              </a:spcAft>
              <a:buClrTx/>
              <a:buSzTx/>
              <a:buFont typeface="Arial"/>
              <a:buChar char="•"/>
            </a:pPr>
            <a:r>
              <a:rPr b="0" i="0" u="none" cap="none">
                <a:ln>
                  <a:noFill/>
                </a:ln>
                <a:solidFill>
                  <a:schemeClr val="tx1"/>
                </a:solidFill>
                <a:latin typeface="Arial Unicode MS"/>
                <a:ea typeface="Arial Unicode MS"/>
                <a:cs typeface="Arial Unicode MS"/>
              </a:rPr>
              <a:t>party</a:t>
            </a:r>
            <a:endParaRPr sz="1000" b="0" i="0" u="none" cap="none" baseline="0">
              <a:ln>
                <a:noFill/>
              </a:ln>
              <a:solidFill>
                <a:schemeClr val="tx1"/>
              </a:solidFill>
            </a:endParaRPr>
          </a:p>
          <a:p xmlns:a="http://schemas.openxmlformats.org/drawingml/2006/main">
            <a:pPr marL="0" marR="0" lvl="0" indent="0" algn="l" defTabSz="914400">
              <a:lnSpc>
                <a:spcPct val="100000"/>
              </a:lnSpc>
              <a:spcBef>
                <a:spcPct val="0"/>
              </a:spcBef>
              <a:spcAft>
                <a:spcPct val="0"/>
              </a:spcAft>
              <a:buClrTx/>
              <a:buSzTx/>
              <a:buFontTx/>
              <a:buNone/>
            </a:pPr>
            <a:endParaRPr sz="4400" b="0" i="0" u="none" cap="none" baseline="0">
              <a:ln>
                <a:noFill/>
              </a:ln>
              <a:solidFill>
                <a:schemeClr val="tx1"/>
              </a:solidFill>
              <a:latin typeface="Arial"/>
              <a:ea typeface="Arial"/>
              <a:cs typeface="Arial"/>
            </a:endParaRPr>
          </a:p>
        </p:txBody>
      </p:sp>
      <p:sp>
        <p:nvSpPr>
          <p:cNvPr id="14" name="Rectangle 7">
            <a:extLst xmlns:a="http://schemas.openxmlformats.org/drawingml/2006/main">
              <a:ext uri="{FF2B5EF4-FFF2-40B4-BE49-F238E27FC236}">
                <a16:creationId xmlns:a16="http://schemas.microsoft.com/office/drawing/2014/main" id="{7822F6EF-59F9-C8C2-2B72-28D0B49CFCE2}"/>
              </a:ext>
            </a:extLst>
          </p:cNvPr>
          <p:cNvSpPr>
            <a:spLocks xmlns:a="http://schemas.openxmlformats.org/drawingml/2006/main" noGrp="1"/>
          </p:cNvSpPr>
          <p:nvPr/>
        </p:nvSpPr>
        <p:spPr>
          <a:xfrm xmlns:a="http://schemas.openxmlformats.org/drawingml/2006/main">
            <a:off x="5716103" y="2925064"/>
            <a:ext cx="2007854" cy="28623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ctr">
            <a:spAutoFit/>
          </a:bodyPr>
          <a:lstStyle xmlns:a="http://schemas.openxmlformats.org/drawingml/2006/main"/>
          <a:p xmlns:a="http://schemas.openxmlformats.org/drawingml/2006/main">
            <a:pPr marL="0" marR="0" lvl="0" indent="0" algn="l" defTabSz="914400">
              <a:lnSpc>
                <a:spcPct val="100000"/>
              </a:lnSpc>
              <a:spcBef>
                <a:spcPct val="0"/>
              </a:spcBef>
              <a:spcAft>
                <a:spcPct val="0"/>
              </a:spcAft>
              <a:buClrTx/>
              <a:buSzTx/>
              <a:buFontTx/>
              <a:buNone/>
            </a:pPr>
            <a:r>
              <a:rPr b="1" i="0" u="none" cap="none">
                <a:ln>
                  <a:noFill/>
                </a:ln>
                <a:solidFill>
                  <a:schemeClr val="tx1"/>
                </a:solidFill>
                <a:latin typeface="Arial Unicode MS"/>
                <a:ea typeface="Arial Unicode MS"/>
                <a:cs typeface="Arial Unicode MS"/>
              </a:rPr>
              <a:t>Consituency</a:t>
            </a:r>
            <a:endParaRPr sz="4000" b="0" i="0" u="none" cap="none" baseline="0">
              <a:ln>
                <a:noFill/>
              </a:ln>
              <a:solidFill>
                <a:schemeClr val="tx1"/>
              </a:solidFill>
              <a:latin typeface="Arial"/>
              <a:ea typeface="Arial"/>
              <a:cs typeface="Arial"/>
            </a:endParaRPr>
          </a:p>
          <a:p xmlns:a="http://schemas.openxmlformats.org/drawingml/2006/main">
            <a:pPr marL="285750" marR="0" lvl="0" indent="-285750" algn="l" defTabSz="914400">
              <a:lnSpc>
                <a:spcPct val="100000"/>
              </a:lnSpc>
              <a:spcBef>
                <a:spcPct val="0"/>
              </a:spcBef>
              <a:spcAft>
                <a:spcPct val="0"/>
              </a:spcAft>
              <a:buClrTx/>
              <a:buSzTx/>
              <a:buFont typeface="Arial"/>
              <a:buChar char="•"/>
            </a:pPr>
            <a:r>
              <a:rPr b="0" i="0" u="none" cap="none">
                <a:ln>
                  <a:noFill/>
                </a:ln>
                <a:solidFill>
                  <a:schemeClr val="tx1"/>
                </a:solidFill>
                <a:latin typeface="Arial Unicode MS"/>
                <a:ea typeface="Arial Unicode MS"/>
                <a:cs typeface="Arial Unicode MS"/>
              </a:rPr>
              <a:t>consituencyId</a:t>
            </a:r>
            <a:endParaRPr sz="1000" b="0" i="0" u="none" cap="none" baseline="0">
              <a:ln>
                <a:noFill/>
              </a:ln>
              <a:solidFill>
                <a:schemeClr val="tx1"/>
              </a:solidFill>
            </a:endParaRPr>
          </a:p>
          <a:p xmlns:a="http://schemas.openxmlformats.org/drawingml/2006/main">
            <a:pPr marL="285750" marR="0" lvl="0" indent="-285750" algn="l" defTabSz="914400">
              <a:lnSpc>
                <a:spcPct val="100000"/>
              </a:lnSpc>
              <a:spcBef>
                <a:spcPct val="0"/>
              </a:spcBef>
              <a:spcAft>
                <a:spcPct val="0"/>
              </a:spcAft>
              <a:buClrTx/>
              <a:buSzTx/>
              <a:buFont typeface="Arial"/>
              <a:buChar char="•"/>
            </a:pPr>
            <a:r>
              <a:rPr b="0" i="0" u="none" cap="none">
                <a:ln>
                  <a:noFill/>
                </a:ln>
                <a:solidFill>
                  <a:schemeClr val="tx1"/>
                </a:solidFill>
                <a:latin typeface="Arial Unicode MS"/>
                <a:ea typeface="Arial Unicode MS"/>
                <a:cs typeface="Arial Unicode MS"/>
              </a:rPr>
              <a:t>name</a:t>
            </a:r>
            <a:endParaRPr sz="1000" b="0" i="0" u="none" cap="none" baseline="0">
              <a:ln>
                <a:noFill/>
              </a:ln>
              <a:solidFill>
                <a:schemeClr val="tx1"/>
              </a:solidFill>
            </a:endParaRPr>
          </a:p>
          <a:p xmlns:a="http://schemas.openxmlformats.org/drawingml/2006/main">
            <a:pPr marL="285750" marR="0" lvl="0" indent="-285750" algn="l" defTabSz="914400">
              <a:lnSpc>
                <a:spcPct val="100000"/>
              </a:lnSpc>
              <a:spcBef>
                <a:spcPct val="0"/>
              </a:spcBef>
              <a:spcAft>
                <a:spcPct val="0"/>
              </a:spcAft>
              <a:buClrTx/>
              <a:buSzTx/>
              <a:buFont typeface="Arial"/>
              <a:buChar char="•"/>
            </a:pPr>
            <a:r>
              <a:rPr b="0" i="0" u="none" cap="none">
                <a:ln>
                  <a:noFill/>
                </a:ln>
                <a:solidFill>
                  <a:schemeClr val="tx1"/>
                </a:solidFill>
                <a:latin typeface="Arial Unicode MS"/>
                <a:ea typeface="Arial Unicode MS"/>
                <a:cs typeface="Arial Unicode MS"/>
              </a:rPr>
              <a:t>candidates</a:t>
            </a:r>
            <a:endParaRPr sz="1000" b="0" i="0" u="none" cap="none" baseline="0">
              <a:ln>
                <a:noFill/>
              </a:ln>
              <a:solidFill>
                <a:schemeClr val="tx1"/>
              </a:solidFill>
            </a:endParaRPr>
          </a:p>
          <a:p xmlns:a="http://schemas.openxmlformats.org/drawingml/2006/main">
            <a:pPr marL="285750" marR="0" lvl="0" indent="-285750" algn="l" defTabSz="914400">
              <a:lnSpc>
                <a:spcPct val="100000"/>
              </a:lnSpc>
              <a:spcBef>
                <a:spcPct val="0"/>
              </a:spcBef>
              <a:spcAft>
                <a:spcPct val="0"/>
              </a:spcAft>
              <a:buClrTx/>
              <a:buSzTx/>
              <a:buFont typeface="Arial"/>
              <a:buChar char="•"/>
            </a:pPr>
            <a:r>
              <a:rPr b="0" i="0" u="none" cap="none">
                <a:ln>
                  <a:noFill/>
                </a:ln>
                <a:solidFill>
                  <a:schemeClr val="tx1"/>
                </a:solidFill>
                <a:latin typeface="Arial Unicode MS"/>
                <a:ea typeface="Arial Unicode MS"/>
                <a:cs typeface="Arial Unicode MS"/>
              </a:rPr>
              <a:t>voters</a:t>
            </a:r>
            <a:endParaRPr sz="1000" b="0" i="0" u="none" cap="none" baseline="0">
              <a:ln>
                <a:noFill/>
              </a:ln>
              <a:solidFill>
                <a:schemeClr val="tx1"/>
              </a:solidFill>
            </a:endParaRPr>
          </a:p>
          <a:p xmlns:a="http://schemas.openxmlformats.org/drawingml/2006/main">
            <a:pPr marL="285750" marR="0" lvl="0" indent="-285750" algn="l" defTabSz="914400">
              <a:lnSpc>
                <a:spcPct val="100000"/>
              </a:lnSpc>
              <a:spcBef>
                <a:spcPct val="0"/>
              </a:spcBef>
              <a:spcAft>
                <a:spcPct val="0"/>
              </a:spcAft>
              <a:buClrTx/>
              <a:buSzTx/>
              <a:buFont typeface="Arial"/>
              <a:buChar char="•"/>
            </a:pPr>
            <a:r>
              <a:rPr b="0" i="0" u="none" cap="none">
                <a:ln>
                  <a:noFill/>
                </a:ln>
                <a:solidFill>
                  <a:schemeClr val="tx1"/>
                </a:solidFill>
                <a:latin typeface="Arial Unicode MS"/>
                <a:ea typeface="Arial Unicode MS"/>
                <a:cs typeface="Arial Unicode MS"/>
              </a:rPr>
              <a:t>votes</a:t>
            </a:r>
            <a:r>
              <a:rPr sz="1000" b="0" i="0" u="none" cap="none">
                <a:ln>
                  <a:noFill/>
                </a:ln>
                <a:solidFill>
                  <a:schemeClr val="tx1"/>
                </a:solidFill>
              </a:rPr>
              <a:t> </a:t>
            </a:r>
            <a:r>
              <a:rPr sz="1400" b="0" i="0" u="none" cap="none">
                <a:ln>
                  <a:noFill/>
                </a:ln>
                <a:solidFill>
                  <a:schemeClr val="tx1"/>
                </a:solidFill>
              </a:rPr>
              <a:t>(mapping of address to uint)</a:t>
            </a:r>
            <a:endParaRPr sz="6000" b="0" i="0" u="none" cap="none" baseline="0">
              <a:ln>
                <a:noFill/>
              </a:ln>
              <a:solidFill>
                <a:schemeClr val="tx1"/>
              </a:solidFill>
              <a:latin typeface="Arial"/>
              <a:ea typeface="Arial"/>
              <a:cs typeface="Arial"/>
            </a:endParaRPr>
          </a:p>
          <a:p xmlns:a="http://schemas.openxmlformats.org/drawingml/2006/main">
            <a:pPr marL="285750" marR="0" lvl="0" indent="-285750" algn="l" defTabSz="914400">
              <a:lnSpc>
                <a:spcPct val="100000"/>
              </a:lnSpc>
              <a:spcBef>
                <a:spcPct val="0"/>
              </a:spcBef>
              <a:spcAft>
                <a:spcPct val="0"/>
              </a:spcAft>
              <a:buClrTx/>
              <a:buSzTx/>
              <a:buFont typeface="Arial"/>
              <a:buChar char="•"/>
            </a:pPr>
            <a:r>
              <a:rPr b="0" i="0" u="none" cap="none">
                <a:ln>
                  <a:noFill/>
                </a:ln>
                <a:solidFill>
                  <a:schemeClr val="tx1"/>
                </a:solidFill>
                <a:latin typeface="Arial Unicode MS"/>
                <a:ea typeface="Arial Unicode MS"/>
                <a:cs typeface="Arial Unicode MS"/>
              </a:rPr>
              <a:t>winner</a:t>
            </a:r>
            <a:endParaRPr sz="1000" b="0" i="0" u="none" cap="none" baseline="0">
              <a:ln>
                <a:noFill/>
              </a:ln>
              <a:solidFill>
                <a:schemeClr val="tx1"/>
              </a:solidFill>
            </a:endParaRPr>
          </a:p>
          <a:p xmlns:a="http://schemas.openxmlformats.org/drawingml/2006/main">
            <a:pPr marL="0" marR="0" lvl="0" indent="0" algn="l" defTabSz="914400">
              <a:lnSpc>
                <a:spcPct val="100000"/>
              </a:lnSpc>
              <a:spcBef>
                <a:spcPct val="0"/>
              </a:spcBef>
              <a:spcAft>
                <a:spcPct val="0"/>
              </a:spcAft>
              <a:buClrTx/>
              <a:buSzTx/>
              <a:buFontTx/>
              <a:buNone/>
            </a:pPr>
            <a:endParaRPr sz="4000" b="0" i="0" u="none" cap="none" baseline="0">
              <a:ln>
                <a:noFill/>
              </a:ln>
              <a:solidFill>
                <a:schemeClr val="tx1"/>
              </a:solidFill>
              <a:latin typeface="Arial"/>
              <a:ea typeface="Arial"/>
              <a:cs typeface="Arial"/>
            </a:endParaRPr>
          </a:p>
        </p:txBody>
      </p:sp>
      <p:sp>
        <p:nvSpPr>
          <p:cNvPr id="15" name="Rectangle: Rounded Corners 14">
            <a:extLst xmlns:a="http://schemas.openxmlformats.org/drawingml/2006/main">
              <a:ext uri="{FF2B5EF4-FFF2-40B4-BE49-F238E27FC236}">
                <a16:creationId xmlns:a16="http://schemas.microsoft.com/office/drawing/2014/main" id="{A1CD4165-FBB3-A0A0-4414-6ECB80F3AB4F}"/>
              </a:ext>
            </a:extLst>
          </p:cNvPr>
          <p:cNvSpPr>
            <a:spLocks xmlns:a="http://schemas.openxmlformats.org/drawingml/2006/main" noGrp="1"/>
          </p:cNvSpPr>
          <p:nvPr/>
        </p:nvSpPr>
        <p:spPr>
          <a:xfrm xmlns:a="http://schemas.openxmlformats.org/drawingml/2006/main">
            <a:off x="584827" y="2422271"/>
            <a:ext cx="7450332" cy="3283732"/>
          </a:xfrm>
          <a:prstGeom xmlns:a="http://schemas.openxmlformats.org/drawingml/2006/main" prst="roundRect">
            <a:avLst/>
          </a:prstGeom>
          <a:noFill xmlns:a="http://schemas.openxmlformats.org/drawingml/2006/main"/>
          <a:ln xmlns:a="http://schemas.openxmlformats.org/drawingml/2006/main" w="28575">
            <a:solidFill>
              <a:srgbClr val="0070C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Rectangle: Rounded Corners 15">
            <a:extLst xmlns:a="http://schemas.openxmlformats.org/drawingml/2006/main">
              <a:ext uri="{FF2B5EF4-FFF2-40B4-BE49-F238E27FC236}">
                <a16:creationId xmlns:a16="http://schemas.microsoft.com/office/drawing/2014/main" id="{CD84ECEF-E701-330B-0C50-D9D3F0BB19A6}"/>
              </a:ext>
            </a:extLst>
          </p:cNvPr>
          <p:cNvSpPr>
            <a:spLocks xmlns:a="http://schemas.openxmlformats.org/drawingml/2006/main" noGrp="1"/>
          </p:cNvSpPr>
          <p:nvPr/>
        </p:nvSpPr>
        <p:spPr>
          <a:xfrm xmlns:a="http://schemas.openxmlformats.org/drawingml/2006/main">
            <a:off x="8315518" y="488986"/>
            <a:ext cx="3300247" cy="5217017"/>
          </a:xfrm>
          <a:prstGeom xmlns:a="http://schemas.openxmlformats.org/drawingml/2006/main" prst="roundRect">
            <a:avLst/>
          </a:prstGeom>
          <a:noFill xmlns:a="http://schemas.openxmlformats.org/drawingml/2006/main"/>
          <a:ln xmlns:a="http://schemas.openxmlformats.org/drawingml/2006/main" w="28575">
            <a:solidFill>
              <a:srgbClr val="FF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49B072C8-B063-F7F4-3030-37C93B9B0C32}"/>
              </a:ext>
            </a:extLst>
          </p:cNvPr>
          <p:cNvSpPr>
            <a:spLocks xmlns:a="http://schemas.openxmlformats.org/drawingml/2006/main" noGrp="1"/>
          </p:cNvSpPr>
          <p:nvPr/>
        </p:nvSpPr>
        <p:spPr>
          <a:xfrm xmlns:a="http://schemas.openxmlformats.org/drawingml/2006/main">
            <a:off x="865186" y="2460883"/>
            <a:ext cx="833883"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a:solidFill>
                  <a:schemeClr val="accent1">
                    <a:lumMod val="75000"/>
                  </a:schemeClr>
                </a:solidFill>
              </a:rPr>
              <a:t>Structs</a:t>
            </a:r>
            <a:endParaRPr>
              <a:solidFill>
                <a:schemeClr val="accent1">
                  <a:lumMod val="75000"/>
                </a:schemeClr>
              </a:solidFill>
            </a:endParaRPr>
          </a:p>
        </p:txBody>
      </p:sp>
      <p:sp>
        <p:nvSpPr>
          <p:cNvPr id="18" name="TextBox 17">
            <a:extLst xmlns:a="http://schemas.openxmlformats.org/drawingml/2006/main">
              <a:ext uri="{FF2B5EF4-FFF2-40B4-BE49-F238E27FC236}">
                <a16:creationId xmlns:a16="http://schemas.microsoft.com/office/drawing/2014/main" id="{F2ADF50B-86C5-E435-EBF1-EA82D5ED945C}"/>
              </a:ext>
            </a:extLst>
          </p:cNvPr>
          <p:cNvSpPr>
            <a:spLocks xmlns:a="http://schemas.openxmlformats.org/drawingml/2006/main" noGrp="1"/>
          </p:cNvSpPr>
          <p:nvPr/>
        </p:nvSpPr>
        <p:spPr>
          <a:xfrm xmlns:a="http://schemas.openxmlformats.org/drawingml/2006/main">
            <a:off x="8552483" y="506665"/>
            <a:ext cx="1095172"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a:solidFill>
                  <a:srgbClr val="FF0000"/>
                </a:solidFill>
              </a:rPr>
              <a:t>Functions</a:t>
            </a:r>
            <a:endParaRPr>
              <a:solidFill>
                <a:srgbClr val="FF0000"/>
              </a:solidFill>
            </a:endParaRPr>
          </a:p>
        </p:txBody>
      </p:sp>
      <p:sp>
        <p:nvSpPr>
          <p:cNvPr id="19" name="Rectangle: Rounded Corners 18">
            <a:extLst xmlns:a="http://schemas.openxmlformats.org/drawingml/2006/main">
              <a:ext uri="{FF2B5EF4-FFF2-40B4-BE49-F238E27FC236}">
                <a16:creationId xmlns:a16="http://schemas.microsoft.com/office/drawing/2014/main" id="{5A183C2B-95D9-5EFC-0371-8D09720EE525}"/>
              </a:ext>
            </a:extLst>
          </p:cNvPr>
          <p:cNvSpPr>
            <a:spLocks xmlns:a="http://schemas.openxmlformats.org/drawingml/2006/main" noGrp="1"/>
          </p:cNvSpPr>
          <p:nvPr/>
        </p:nvSpPr>
        <p:spPr>
          <a:xfrm xmlns:a="http://schemas.openxmlformats.org/drawingml/2006/main">
            <a:off x="350595" y="278296"/>
            <a:ext cx="11490810" cy="5661327"/>
          </a:xfrm>
          <a:prstGeom xmlns:a="http://schemas.openxmlformats.org/drawingml/2006/main" prst="roundRect">
            <a:avLst>
              <a:gd name="adj" fmla="val 10732"/>
            </a:avLst>
          </a:prstGeom>
          <a:noFill xmlns:a="http://schemas.openxmlformats.org/drawingml/2006/main"/>
          <a:ln xmlns:a="http://schemas.openxmlformats.org/drawingml/2006/main" w="28575">
            <a:solidFill>
              <a:srgbClr val="FFC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98B53712-5F69-FF23-3D09-63B09AE6935E}"/>
              </a:ext>
            </a:extLst>
          </p:cNvPr>
          <p:cNvSpPr>
            <a:spLocks xmlns:a="http://schemas.openxmlformats.org/drawingml/2006/main" noGrp="1"/>
          </p:cNvSpPr>
          <p:nvPr/>
        </p:nvSpPr>
        <p:spPr>
          <a:xfrm xmlns:a="http://schemas.openxmlformats.org/drawingml/2006/main">
            <a:off x="3828579" y="421144"/>
            <a:ext cx="1813521" cy="212365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t>Variables</a:t>
            </a:r>
          </a:p>
          <a:p xmlns:a="http://schemas.openxmlformats.org/drawingml/2006/main">
            <a:r>
              <a:rPr sz="1600"/>
              <a:t>admin</a:t>
            </a:r>
          </a:p>
          <a:p xmlns:a="http://schemas.openxmlformats.org/drawingml/2006/main">
            <a:r>
              <a:rPr sz="1600"/>
              <a:t>electionName</a:t>
            </a:r>
            <a:endParaRPr sz="1600"/>
          </a:p>
          <a:p xmlns:a="http://schemas.openxmlformats.org/drawingml/2006/main">
            <a:r>
              <a:rPr sz="1600"/>
              <a:t>electionStatus</a:t>
            </a:r>
            <a:endParaRPr sz="1600"/>
          </a:p>
          <a:p xmlns:a="http://schemas.openxmlformats.org/drawingml/2006/main">
            <a:r>
              <a:rPr sz="1600"/>
              <a:t>electionDuration</a:t>
            </a:r>
            <a:endParaRPr sz="1600"/>
          </a:p>
          <a:p xmlns:a="http://schemas.openxmlformats.org/drawingml/2006/main">
            <a:r>
              <a:rPr sz="1600"/>
              <a:t>votersList</a:t>
            </a:r>
            <a:endParaRPr sz="1600"/>
          </a:p>
          <a:p xmlns:a="http://schemas.openxmlformats.org/drawingml/2006/main">
            <a:r>
              <a:rPr sz="1600"/>
              <a:t>voterExist</a:t>
            </a:r>
            <a:endParaRPr sz="1600"/>
          </a:p>
          <a:p xmlns:a="http://schemas.openxmlformats.org/drawingml/2006/main">
            <a:endParaRPr sz="1600"/>
          </a:p>
        </p:txBody>
      </p:sp>
      <p:sp>
        <p:nvSpPr>
          <p:cNvPr id="23" name="TextBox 22">
            <a:extLst xmlns:a="http://schemas.openxmlformats.org/drawingml/2006/main">
              <a:ext uri="{FF2B5EF4-FFF2-40B4-BE49-F238E27FC236}">
                <a16:creationId xmlns:a16="http://schemas.microsoft.com/office/drawing/2014/main" id="{65AB0E03-0499-FE15-8FCA-920B9AA019F7}"/>
              </a:ext>
            </a:extLst>
          </p:cNvPr>
          <p:cNvSpPr>
            <a:spLocks xmlns:a="http://schemas.openxmlformats.org/drawingml/2006/main" noGrp="1"/>
          </p:cNvSpPr>
          <p:nvPr/>
        </p:nvSpPr>
        <p:spPr>
          <a:xfrm xmlns:a="http://schemas.openxmlformats.org/drawingml/2006/main">
            <a:off x="5654527" y="421144"/>
            <a:ext cx="2264249" cy="181588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t>voterData</a:t>
            </a:r>
            <a:endParaRPr sz="1600"/>
          </a:p>
          <a:p xmlns:a="http://schemas.openxmlformats.org/drawingml/2006/main">
            <a:r>
              <a:rPr sz="1600"/>
              <a:t>candidateList</a:t>
            </a:r>
            <a:endParaRPr sz="1600"/>
          </a:p>
          <a:p xmlns:a="http://schemas.openxmlformats.org/drawingml/2006/main">
            <a:r>
              <a:rPr sz="1600"/>
              <a:t>candidateExist</a:t>
            </a:r>
            <a:endParaRPr sz="1600"/>
          </a:p>
          <a:p xmlns:a="http://schemas.openxmlformats.org/drawingml/2006/main">
            <a:r>
              <a:rPr sz="1600"/>
              <a:t>candidateData</a:t>
            </a:r>
            <a:endParaRPr sz="1600"/>
          </a:p>
          <a:p xmlns:a="http://schemas.openxmlformats.org/drawingml/2006/main">
            <a:r>
              <a:rPr sz="1600"/>
              <a:t>consituencyList</a:t>
            </a:r>
            <a:endParaRPr sz="1600"/>
          </a:p>
          <a:p xmlns:a="http://schemas.openxmlformats.org/drawingml/2006/main">
            <a:r>
              <a:rPr sz="1600"/>
              <a:t>consituencyExist</a:t>
            </a:r>
            <a:endParaRPr sz="1600"/>
          </a:p>
          <a:p xmlns:a="http://schemas.openxmlformats.org/drawingml/2006/main">
            <a:r>
              <a:rPr sz="1600"/>
              <a:t>consituencyData</a:t>
            </a:r>
            <a:r>
              <a:rPr sz="1600"/>
              <a:t> </a:t>
            </a:r>
          </a:p>
        </p:txBody>
      </p:sp>
      <p:sp>
        <p:nvSpPr>
          <p:cNvPr id="3" name="TextBox 2">
            <a:extLst xmlns:a="http://schemas.openxmlformats.org/drawingml/2006/main">
              <a:ext uri="{FF2B5EF4-FFF2-40B4-BE49-F238E27FC236}">
                <a16:creationId xmlns:a16="http://schemas.microsoft.com/office/drawing/2014/main" id="{05C19B48-2D59-DC91-8AAD-E49F29A4D743}"/>
              </a:ext>
            </a:extLst>
          </p:cNvPr>
          <p:cNvSpPr>
            <a:spLocks xmlns:a="http://schemas.openxmlformats.org/drawingml/2006/main" noGrp="1"/>
          </p:cNvSpPr>
          <p:nvPr/>
        </p:nvSpPr>
        <p:spPr>
          <a:xfrm xmlns:a="http://schemas.openxmlformats.org/drawingml/2006/main">
            <a:off x="1875073" y="6112010"/>
            <a:ext cx="10316927"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a:solidFill>
                  <a:schemeClr val="tx1">
                    <a:lumMod val="65000"/>
                    <a:lumOff val="35000"/>
                  </a:schemeClr>
                </a:solidFill>
              </a:rPr>
              <a:t>https://github.com/schadokar/election-ethereum-react-dapp/blob/master/ethereum/contracts/election.sol</a:t>
            </a:r>
            <a:endParaRPr>
              <a:solidFill>
                <a:schemeClr val="tx1">
                  <a:lumMod val="65000"/>
                  <a:lumOff val="35000"/>
                </a:schemeClr>
              </a:solidFill>
            </a:endParaRPr>
          </a:p>
        </p:txBody>
      </p:sp>
    </p:spTree>
    <p:extLst>
      <p:ext uri="{BB962C8B-B14F-4D97-AF65-F5344CB8AC3E}">
        <p14:creationId xmlns:p14="http://schemas.microsoft.com/office/powerpoint/2010/main" val="30104340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CA74A8-537E-126F-5B75-91913630DE3F}"/>
              </a:ext>
            </a:extLst>
          </p:cNvPr>
          <p:cNvSpPr>
            <a:spLocks xmlns:a="http://schemas.openxmlformats.org/drawingml/2006/main" noGrp="1"/>
          </p:cNvSpPr>
          <p:nvPr>
            <p:ph type="title" idx="0"/>
          </p:nvPr>
        </p:nvSpPr>
        <p:spPr>
          <a:xfrm xmlns:a="http://schemas.openxmlformats.org/drawingml/2006/main">
            <a:off x="609600" y="220727"/>
            <a:ext cx="10972800" cy="937531"/>
          </a:xfrm>
        </p:spPr>
        <p:txBody>
          <a:bodyPr xmlns:a="http://schemas.openxmlformats.org/drawingml/2006/main" anchor="ctr">
            <a:normAutofit/>
          </a:bodyPr>
          <a:lstStyle xmlns:a="http://schemas.openxmlformats.org/drawingml/2006/main"/>
          <a:p xmlns:a="http://schemas.openxmlformats.org/drawingml/2006/main">
            <a:r>
              <a:t>Let’s try to run it!!</a:t>
            </a:r>
            <a:endParaRPr/>
          </a:p>
        </p:txBody>
      </p:sp>
      <p:sp>
        <p:nvSpPr>
          <p:cNvPr id="3" name="Content Placeholder 2">
            <a:extLst xmlns:a="http://schemas.openxmlformats.org/drawingml/2006/main">
              <a:ext uri="{FF2B5EF4-FFF2-40B4-BE49-F238E27FC236}">
                <a16:creationId xmlns:a16="http://schemas.microsoft.com/office/drawing/2014/main" id="{DD482608-7D4B-97B1-8501-2AE2B083E840}"/>
              </a:ext>
            </a:extLst>
          </p:cNvPr>
          <p:cNvSpPr>
            <a:spLocks xmlns:a="http://schemas.openxmlformats.org/drawingml/2006/main" noGrp="1"/>
          </p:cNvSpPr>
          <p:nvPr>
            <p:ph idx="1"/>
          </p:nvPr>
        </p:nvSpPr>
        <p:spPr>
          <a:xfrm xmlns:a="http://schemas.openxmlformats.org/drawingml/2006/main">
            <a:off x="609600" y="1600201"/>
            <a:ext cx="5384800" cy="4525963"/>
          </a:xfrm>
        </p:spPr>
        <p:txBody>
          <a:bodyPr xmlns:a="http://schemas.openxmlformats.org/drawingml/2006/main">
            <a:normAutofit/>
          </a:bodyPr>
          <a:lstStyle xmlns:a="http://schemas.openxmlformats.org/drawingml/2006/main"/>
          <a:p xmlns:a="http://schemas.openxmlformats.org/drawingml/2006/main">
            <a:pPr marL="0" indent="0">
              <a:buNone/>
            </a:pPr>
            <a:r>
              <a:t>https://github.com/schadokar/election-ethereum-react-dapp</a:t>
            </a:r>
            <a:endParaRPr/>
          </a:p>
        </p:txBody>
      </p:sp>
      <p:pic>
        <p:nvPicPr>
          <p:cNvPr id="8" name="Picture 5"/>
          <p:cNvPicPr>
            <a:picLocks xmlns:a="http://schemas.openxmlformats.org/drawingml/2006/main" noChangeAspect="1"/>
          </p:cNvPicPr>
          <p:nvPr/>
        </p:nvPicPr>
        <p:blipFill rotWithShape="1">
          <a:blip xmlns:r="http://schemas.openxmlformats.org/officeDocument/2006/relationships" xmlns:a="http://schemas.openxmlformats.org/drawingml/2006/main" r:embed="R04e89a9848a64e4a"/>
          <a:srcRect xmlns:a="http://schemas.openxmlformats.org/drawingml/2006/main" l="15437" t="14235" r="15705" b="6733"/>
          <a:stretch xmlns:a="http://schemas.openxmlformats.org/drawingml/2006/main"/>
        </p:blipFill>
        <p:spPr>
          <a:xfrm xmlns:a="http://schemas.openxmlformats.org/drawingml/2006/main">
            <a:off x="6692201" y="1673051"/>
            <a:ext cx="4054511" cy="3955621"/>
          </a:xfrm>
          <a:prstGeom xmlns:a="http://schemas.openxmlformats.org/drawingml/2006/main" prst="rect">
            <a:avLst/>
          </a:prstGeom>
        </p:spPr>
      </p:pic>
      <p:sp>
        <p:nvSpPr>
          <p:cNvPr id="4" name="Slide Number Placeholder 3">
            <a:extLst xmlns:a="http://schemas.openxmlformats.org/drawingml/2006/main">
              <a:ext uri="{FF2B5EF4-FFF2-40B4-BE49-F238E27FC236}">
                <a16:creationId xmlns:a16="http://schemas.microsoft.com/office/drawing/2014/main" id="{A3A1AA46-D07C-8817-76A3-19C4D7A7AEFC}"/>
              </a:ext>
            </a:extLst>
          </p:cNvPr>
          <p:cNvSpPr>
            <a:spLocks xmlns:a="http://schemas.openxmlformats.org/drawingml/2006/main" noGrp="1"/>
          </p:cNvSpPr>
          <p:nvPr>
            <p:ph type="sldNum" idx="12"/>
          </p:nvPr>
        </p:nvSpPr>
        <p:spPr>
          <a:xfrm xmlns:a="http://schemas.openxmlformats.org/drawingml/2006/main">
            <a:off x="9194800" y="6492875"/>
            <a:ext cx="2844800" cy="365125"/>
          </a:xfrm>
        </p:spPr>
        <p:txBody>
          <a:bodyPr xmlns:a="http://schemas.openxmlformats.org/drawingml/2006/main" anchor="ctr">
            <a:normAutofit/>
          </a:bodyPr>
          <a:lstStyle xmlns:a="http://schemas.openxmlformats.org/drawingml/2006/main"/>
          <a:p xmlns:a="http://schemas.openxmlformats.org/drawingml/2006/main">
            <a:pPr>
              <a:spcAft>
                <a:spcPts val="600"/>
              </a:spcAft>
              <a:buNone/>
            </a:pPr>
            <a:fld id="{8E6562B1-0B0F-0246-9532-09536BC2AE59}" type="slidenum">
              <a:t>15</a:t>
            </a:fld>
            <a:endParaRPr/>
          </a:p>
        </p:txBody>
      </p:sp>
    </p:spTree>
    <p:extLst>
      <p:ext uri="{BB962C8B-B14F-4D97-AF65-F5344CB8AC3E}">
        <p14:creationId xmlns:p14="http://schemas.microsoft.com/office/powerpoint/2010/main" val="52983436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AC08A1E-8DD1-4327-8E73-67C29970AFB5}"/>
              </a:ext>
            </a:extLst>
          </p:cNvPr>
          <p:cNvSpPr>
            <a:spLocks xmlns:a="http://schemas.openxmlformats.org/drawingml/2006/main" noGrp="1"/>
          </p:cNvSpPr>
          <p:nvPr/>
        </p:nvSpPr>
        <p:spPr>
          <a:xfrm xmlns:a="http://schemas.openxmlformats.org/drawingml/2006/main">
            <a:off x="628650" y="3048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925" b="0">
                <a:solidFill>
                  <a:srgbClr val="000000"/>
                </a:solidFill>
                <a:latin typeface="Arial"/>
                <a:ea typeface="Arial"/>
                <a:cs typeface="Arial"/>
              </a:defRPr>
            </a:pPr>
            <a:r>
              <a:rPr sz="2925" b="0">
                <a:solidFill>
                  <a:srgbClr val="000000"/>
                </a:solidFill>
                <a:latin typeface="Arial"/>
                <a:ea typeface="Arial"/>
                <a:cs typeface="Arial"/>
              </a:rPr>
              <a:t>60-minute session map</a:t>
            </a:r>
          </a:p>
        </p:txBody>
      </p:sp>
      <p:sp>
        <p:nvSpPr>
          <p:cNvPr id="2" name="">
            <a:extLst xmlns:a="http://schemas.openxmlformats.org/drawingml/2006/main">
              <a:ext uri="{FF2B5EF4-FFF2-40B4-BE49-F238E27FC236}">
                <a16:creationId xmlns:a16="http://schemas.microsoft.com/office/drawing/2014/main" id="{356FA7BD-588F-4DE8-88C1-F9D1F7202514}"/>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8266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E7A02B1-9A9E-4C8C-B6B0-0887D6743F5D}"/>
              </a:ext>
            </a:extLst>
          </p:cNvPr>
          <p:cNvSpPr>
            <a:spLocks xmlns:a="http://schemas.openxmlformats.org/drawingml/2006/main" noGrp="1"/>
          </p:cNvSpPr>
          <p:nvPr/>
        </p:nvSpPr>
        <p:spPr>
          <a:xfrm xmlns:a="http://schemas.openxmlformats.org/drawingml/2006/main">
            <a:off x="11049000" y="6781800"/>
            <a:ext cx="1143000" cy="76200"/>
          </a:xfrm>
          <a:prstGeom xmlns:a="http://schemas.openxmlformats.org/drawingml/2006/main" prst="rect">
            <a:avLst/>
          </a:prstGeom>
          <a:solidFill xmlns:a="http://schemas.openxmlformats.org/drawingml/2006/main">
            <a:srgbClr val="E3193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76A0CFD-6752-4736-A70F-88D97D48AB65}"/>
              </a:ext>
            </a:extLst>
          </p:cNvPr>
          <p:cNvSpPr>
            <a:spLocks xmlns:a="http://schemas.openxmlformats.org/drawingml/2006/main" noGrp="1"/>
          </p:cNvSpPr>
          <p:nvPr/>
        </p:nvSpPr>
        <p:spPr>
          <a:xfrm xmlns:a="http://schemas.openxmlformats.org/drawingml/2006/main">
            <a:off x="685800" y="6553200"/>
            <a:ext cx="514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FFFFFF"/>
                </a:solidFill>
                <a:latin typeface="Arial"/>
                <a:ea typeface="Arial"/>
                <a:cs typeface="Arial"/>
              </a:defRPr>
            </a:pPr>
            <a:r>
              <a:rPr sz="825" b="1">
                <a:solidFill>
                  <a:srgbClr val="FFFFFF"/>
                </a:solidFill>
                <a:latin typeface="Arial"/>
                <a:ea typeface="Arial"/>
                <a:cs typeface="Arial"/>
              </a:rPr>
              <a:t>NANYANG TECHNOLOGICAL UNIVERSITY | SINGAPORE</a:t>
            </a:r>
          </a:p>
        </p:txBody>
      </p:sp>
      <p:sp>
        <p:nvSpPr>
          <p:cNvPr id="5" name="">
            <a:extLst xmlns:a="http://schemas.openxmlformats.org/drawingml/2006/main">
              <a:ext uri="{FF2B5EF4-FFF2-40B4-BE49-F238E27FC236}">
                <a16:creationId xmlns:a16="http://schemas.microsoft.com/office/drawing/2014/main" id="{BA9CC252-581F-4E60-B8DB-1B34C8DA0379}"/>
              </a:ext>
            </a:extLst>
          </p:cNvPr>
          <p:cNvSpPr>
            <a:spLocks xmlns:a="http://schemas.openxmlformats.org/drawingml/2006/main" noGrp="1"/>
          </p:cNvSpPr>
          <p:nvPr/>
        </p:nvSpPr>
        <p:spPr>
          <a:xfrm xmlns:a="http://schemas.openxmlformats.org/drawingml/2006/main">
            <a:off x="11506200" y="65436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defRPr sz="1200" b="1">
                <a:solidFill>
                  <a:srgbClr val="FFFFFF"/>
                </a:solidFill>
                <a:latin typeface="Arial"/>
                <a:ea typeface="Arial"/>
                <a:cs typeface="Arial"/>
              </a:defRPr>
            </a:pPr>
            <a:r>
              <a:rPr sz="1200" b="1">
                <a:solidFill>
                  <a:srgbClr val="FFFFFF"/>
                </a:solidFill>
                <a:latin typeface="Arial"/>
                <a:ea typeface="Arial"/>
                <a:cs typeface="Arial"/>
              </a:rPr>
              <a:t>16</a:t>
            </a:r>
          </a:p>
        </p:txBody>
      </p:sp>
      <p:sp>
        <p:nvSpPr>
          <p:cNvPr id="6" name="">
            <a:extLst xmlns:a="http://schemas.openxmlformats.org/drawingml/2006/main">
              <a:ext uri="{FF2B5EF4-FFF2-40B4-BE49-F238E27FC236}">
                <a16:creationId xmlns:a16="http://schemas.microsoft.com/office/drawing/2014/main" id="{EA052EDB-956E-403A-9E92-06E613967A10}"/>
              </a:ext>
            </a:extLst>
          </p:cNvPr>
          <p:cNvSpPr>
            <a:spLocks xmlns:a="http://schemas.openxmlformats.org/drawingml/2006/main" noGrp="1"/>
          </p:cNvSpPr>
          <p:nvPr/>
        </p:nvSpPr>
        <p:spPr>
          <a:xfrm xmlns:a="http://schemas.openxmlformats.org/drawingml/2006/main">
            <a:off x="647700" y="2019300"/>
            <a:ext cx="1619250" cy="876300"/>
          </a:xfrm>
          <a:prstGeom xmlns:a="http://schemas.openxmlformats.org/drawingml/2006/main" prst="rect">
            <a:avLst/>
          </a:prstGeom>
          <a:solidFill xmlns:a="http://schemas.openxmlformats.org/drawingml/2006/main">
            <a:srgbClr val="1473B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629A53A-A92E-4AFC-AA82-A42D7DACD774}"/>
              </a:ext>
            </a:extLst>
          </p:cNvPr>
          <p:cNvSpPr>
            <a:spLocks xmlns:a="http://schemas.openxmlformats.org/drawingml/2006/main" noGrp="1"/>
          </p:cNvSpPr>
          <p:nvPr/>
        </p:nvSpPr>
        <p:spPr>
          <a:xfrm xmlns:a="http://schemas.openxmlformats.org/drawingml/2006/main">
            <a:off x="723900" y="2095500"/>
            <a:ext cx="146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00–09</a:t>
            </a:r>
          </a:p>
        </p:txBody>
      </p:sp>
      <p:sp>
        <p:nvSpPr>
          <p:cNvPr id="8" name="">
            <a:extLst xmlns:a="http://schemas.openxmlformats.org/drawingml/2006/main">
              <a:ext uri="{FF2B5EF4-FFF2-40B4-BE49-F238E27FC236}">
                <a16:creationId xmlns:a16="http://schemas.microsoft.com/office/drawing/2014/main" id="{6303E4E8-2287-4BAD-B3C3-E913F3643A17}"/>
              </a:ext>
            </a:extLst>
          </p:cNvPr>
          <p:cNvSpPr>
            <a:spLocks xmlns:a="http://schemas.openxmlformats.org/drawingml/2006/main" noGrp="1"/>
          </p:cNvSpPr>
          <p:nvPr/>
        </p:nvSpPr>
        <p:spPr>
          <a:xfrm xmlns:a="http://schemas.openxmlformats.org/drawingml/2006/main">
            <a:off x="723900" y="2400300"/>
            <a:ext cx="1466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775"/>
          </a:bodyPr>
          <a:lstStyle xmlns:a="http://schemas.openxmlformats.org/drawingml/2006/main"/>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dApp foundations</a:t>
            </a:r>
          </a:p>
        </p:txBody>
      </p:sp>
      <p:sp>
        <p:nvSpPr>
          <p:cNvPr id="9" name="">
            <a:extLst xmlns:a="http://schemas.openxmlformats.org/drawingml/2006/main">
              <a:ext uri="{FF2B5EF4-FFF2-40B4-BE49-F238E27FC236}">
                <a16:creationId xmlns:a16="http://schemas.microsoft.com/office/drawing/2014/main" id="{2C2307E8-9684-4D8A-A40C-9BD679E98F6E}"/>
              </a:ext>
            </a:extLst>
          </p:cNvPr>
          <p:cNvSpPr>
            <a:spLocks xmlns:a="http://schemas.openxmlformats.org/drawingml/2006/main" noGrp="1"/>
          </p:cNvSpPr>
          <p:nvPr/>
        </p:nvSpPr>
        <p:spPr>
          <a:xfrm xmlns:a="http://schemas.openxmlformats.org/drawingml/2006/main">
            <a:off x="2266950" y="2019300"/>
            <a:ext cx="2190750" cy="876300"/>
          </a:xfrm>
          <a:prstGeom xmlns:a="http://schemas.openxmlformats.org/drawingml/2006/main" prst="rect">
            <a:avLst/>
          </a:prstGeom>
          <a:solidFill xmlns:a="http://schemas.openxmlformats.org/drawingml/2006/main">
            <a:srgbClr val="214F8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3A74281-F9EB-42DE-86FE-822D2BC1FBC4}"/>
              </a:ext>
            </a:extLst>
          </p:cNvPr>
          <p:cNvSpPr>
            <a:spLocks xmlns:a="http://schemas.openxmlformats.org/drawingml/2006/main" noGrp="1"/>
          </p:cNvSpPr>
          <p:nvPr/>
        </p:nvSpPr>
        <p:spPr>
          <a:xfrm xmlns:a="http://schemas.openxmlformats.org/drawingml/2006/main">
            <a:off x="2343150" y="20955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09–23</a:t>
            </a:r>
          </a:p>
        </p:txBody>
      </p:sp>
      <p:sp>
        <p:nvSpPr>
          <p:cNvPr id="11" name="">
            <a:extLst xmlns:a="http://schemas.openxmlformats.org/drawingml/2006/main">
              <a:ext uri="{FF2B5EF4-FFF2-40B4-BE49-F238E27FC236}">
                <a16:creationId xmlns:a16="http://schemas.microsoft.com/office/drawing/2014/main" id="{C90CF305-7201-4317-8F39-71EA6519D1B3}"/>
              </a:ext>
            </a:extLst>
          </p:cNvPr>
          <p:cNvSpPr>
            <a:spLocks xmlns:a="http://schemas.openxmlformats.org/drawingml/2006/main" noGrp="1"/>
          </p:cNvSpPr>
          <p:nvPr/>
        </p:nvSpPr>
        <p:spPr>
          <a:xfrm xmlns:a="http://schemas.openxmlformats.org/drawingml/2006/main">
            <a:off x="2343150" y="2400300"/>
            <a:ext cx="2038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Lock and MetaMask</a:t>
            </a:r>
          </a:p>
        </p:txBody>
      </p:sp>
      <p:sp>
        <p:nvSpPr>
          <p:cNvPr id="12" name="">
            <a:extLst xmlns:a="http://schemas.openxmlformats.org/drawingml/2006/main">
              <a:ext uri="{FF2B5EF4-FFF2-40B4-BE49-F238E27FC236}">
                <a16:creationId xmlns:a16="http://schemas.microsoft.com/office/drawing/2014/main" id="{A45465DD-8B3A-49F1-9ADB-E8E3BC26910F}"/>
              </a:ext>
            </a:extLst>
          </p:cNvPr>
          <p:cNvSpPr>
            <a:spLocks xmlns:a="http://schemas.openxmlformats.org/drawingml/2006/main" noGrp="1"/>
          </p:cNvSpPr>
          <p:nvPr/>
        </p:nvSpPr>
        <p:spPr>
          <a:xfrm xmlns:a="http://schemas.openxmlformats.org/drawingml/2006/main">
            <a:off x="4457700" y="2019300"/>
            <a:ext cx="2381250" cy="876300"/>
          </a:xfrm>
          <a:prstGeom xmlns:a="http://schemas.openxmlformats.org/drawingml/2006/main" prst="rect">
            <a:avLst/>
          </a:prstGeom>
          <a:solidFill xmlns:a="http://schemas.openxmlformats.org/drawingml/2006/main">
            <a:srgbClr val="5B4B9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CF3F002-6FB8-4012-9B0C-CFCAC3D4A951}"/>
              </a:ext>
            </a:extLst>
          </p:cNvPr>
          <p:cNvSpPr>
            <a:spLocks xmlns:a="http://schemas.openxmlformats.org/drawingml/2006/main" noGrp="1"/>
          </p:cNvSpPr>
          <p:nvPr/>
        </p:nvSpPr>
        <p:spPr>
          <a:xfrm xmlns:a="http://schemas.openxmlformats.org/drawingml/2006/main">
            <a:off x="4533900" y="209550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23–37</a:t>
            </a:r>
          </a:p>
        </p:txBody>
      </p:sp>
      <p:sp>
        <p:nvSpPr>
          <p:cNvPr id="14" name="">
            <a:extLst xmlns:a="http://schemas.openxmlformats.org/drawingml/2006/main">
              <a:ext uri="{FF2B5EF4-FFF2-40B4-BE49-F238E27FC236}">
                <a16:creationId xmlns:a16="http://schemas.microsoft.com/office/drawing/2014/main" id="{83D6B227-F4F6-4464-BAA8-612AA47C86C4}"/>
              </a:ext>
            </a:extLst>
          </p:cNvPr>
          <p:cNvSpPr>
            <a:spLocks xmlns:a="http://schemas.openxmlformats.org/drawingml/2006/main" noGrp="1"/>
          </p:cNvSpPr>
          <p:nvPr/>
        </p:nvSpPr>
        <p:spPr>
          <a:xfrm xmlns:a="http://schemas.openxmlformats.org/drawingml/2006/main">
            <a:off x="4533900" y="2400300"/>
            <a:ext cx="2228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Election frontend/backend</a:t>
            </a:r>
          </a:p>
        </p:txBody>
      </p:sp>
      <p:sp>
        <p:nvSpPr>
          <p:cNvPr id="15" name="">
            <a:extLst xmlns:a="http://schemas.openxmlformats.org/drawingml/2006/main">
              <a:ext uri="{FF2B5EF4-FFF2-40B4-BE49-F238E27FC236}">
                <a16:creationId xmlns:a16="http://schemas.microsoft.com/office/drawing/2014/main" id="{3A069002-0B86-4011-8F2C-4B1317A519A4}"/>
              </a:ext>
            </a:extLst>
          </p:cNvPr>
          <p:cNvSpPr>
            <a:spLocks xmlns:a="http://schemas.openxmlformats.org/drawingml/2006/main" noGrp="1"/>
          </p:cNvSpPr>
          <p:nvPr/>
        </p:nvSpPr>
        <p:spPr>
          <a:xfrm xmlns:a="http://schemas.openxmlformats.org/drawingml/2006/main">
            <a:off x="6838950" y="2019300"/>
            <a:ext cx="2286000" cy="876300"/>
          </a:xfrm>
          <a:prstGeom xmlns:a="http://schemas.openxmlformats.org/drawingml/2006/main" prst="rect">
            <a:avLst/>
          </a:prstGeom>
          <a:solidFill xmlns:a="http://schemas.openxmlformats.org/drawingml/2006/main">
            <a:srgbClr val="00847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770AFD1-41CB-4508-893E-70F593989EA5}"/>
              </a:ext>
            </a:extLst>
          </p:cNvPr>
          <p:cNvSpPr>
            <a:spLocks xmlns:a="http://schemas.openxmlformats.org/drawingml/2006/main" noGrp="1"/>
          </p:cNvSpPr>
          <p:nvPr/>
        </p:nvSpPr>
        <p:spPr>
          <a:xfrm xmlns:a="http://schemas.openxmlformats.org/drawingml/2006/main">
            <a:off x="6915150" y="2095500"/>
            <a:ext cx="213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37–54</a:t>
            </a:r>
          </a:p>
        </p:txBody>
      </p:sp>
      <p:sp>
        <p:nvSpPr>
          <p:cNvPr id="17" name="">
            <a:extLst xmlns:a="http://schemas.openxmlformats.org/drawingml/2006/main">
              <a:ext uri="{FF2B5EF4-FFF2-40B4-BE49-F238E27FC236}">
                <a16:creationId xmlns:a16="http://schemas.microsoft.com/office/drawing/2014/main" id="{547E45D8-6E0E-41E3-A9C1-0A5B931D0AED}"/>
              </a:ext>
            </a:extLst>
          </p:cNvPr>
          <p:cNvSpPr>
            <a:spLocks xmlns:a="http://schemas.openxmlformats.org/drawingml/2006/main" noGrp="1"/>
          </p:cNvSpPr>
          <p:nvPr/>
        </p:nvSpPr>
        <p:spPr>
          <a:xfrm xmlns:a="http://schemas.openxmlformats.org/drawingml/2006/main">
            <a:off x="6915150" y="2400300"/>
            <a:ext cx="2133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Tokenization</a:t>
            </a:r>
          </a:p>
        </p:txBody>
      </p:sp>
      <p:sp>
        <p:nvSpPr>
          <p:cNvPr id="18" name="">
            <a:extLst xmlns:a="http://schemas.openxmlformats.org/drawingml/2006/main">
              <a:ext uri="{FF2B5EF4-FFF2-40B4-BE49-F238E27FC236}">
                <a16:creationId xmlns:a16="http://schemas.microsoft.com/office/drawing/2014/main" id="{901511CF-EC1A-4949-AA99-FBECF8FB47E2}"/>
              </a:ext>
            </a:extLst>
          </p:cNvPr>
          <p:cNvSpPr>
            <a:spLocks xmlns:a="http://schemas.openxmlformats.org/drawingml/2006/main" noGrp="1"/>
          </p:cNvSpPr>
          <p:nvPr/>
        </p:nvSpPr>
        <p:spPr>
          <a:xfrm xmlns:a="http://schemas.openxmlformats.org/drawingml/2006/main">
            <a:off x="9124950" y="2019300"/>
            <a:ext cx="1428750" cy="876300"/>
          </a:xfrm>
          <a:prstGeom xmlns:a="http://schemas.openxmlformats.org/drawingml/2006/main" prst="rect">
            <a:avLst/>
          </a:prstGeom>
          <a:solidFill xmlns:a="http://schemas.openxmlformats.org/drawingml/2006/main">
            <a:srgbClr val="E3193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00E8C39-9FAB-4597-B4DE-B768C156A8CE}"/>
              </a:ext>
            </a:extLst>
          </p:cNvPr>
          <p:cNvSpPr>
            <a:spLocks xmlns:a="http://schemas.openxmlformats.org/drawingml/2006/main" noGrp="1"/>
          </p:cNvSpPr>
          <p:nvPr/>
        </p:nvSpPr>
        <p:spPr>
          <a:xfrm xmlns:a="http://schemas.openxmlformats.org/drawingml/2006/main">
            <a:off x="9201150" y="2095500"/>
            <a:ext cx="1276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54–60</a:t>
            </a:r>
          </a:p>
        </p:txBody>
      </p:sp>
      <p:sp>
        <p:nvSpPr>
          <p:cNvPr id="20" name="">
            <a:extLst xmlns:a="http://schemas.openxmlformats.org/drawingml/2006/main">
              <a:ext uri="{FF2B5EF4-FFF2-40B4-BE49-F238E27FC236}">
                <a16:creationId xmlns:a16="http://schemas.microsoft.com/office/drawing/2014/main" id="{40ABDBA2-D1FB-4BC8-98FB-D60D75CBFEE7}"/>
              </a:ext>
            </a:extLst>
          </p:cNvPr>
          <p:cNvSpPr>
            <a:spLocks xmlns:a="http://schemas.openxmlformats.org/drawingml/2006/main" noGrp="1"/>
          </p:cNvSpPr>
          <p:nvPr/>
        </p:nvSpPr>
        <p:spPr>
          <a:xfrm xmlns:a="http://schemas.openxmlformats.org/drawingml/2006/main">
            <a:off x="9201150" y="2400300"/>
            <a:ext cx="1276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Questions</a:t>
            </a:r>
          </a:p>
        </p:txBody>
      </p:sp>
      <p:sp>
        <p:nvSpPr>
          <p:cNvPr id="21" name="">
            <a:extLst xmlns:a="http://schemas.openxmlformats.org/drawingml/2006/main">
              <a:ext uri="{FF2B5EF4-FFF2-40B4-BE49-F238E27FC236}">
                <a16:creationId xmlns:a16="http://schemas.microsoft.com/office/drawing/2014/main" id="{674943FA-33E1-4018-9DAF-35E1951C8DEF}"/>
              </a:ext>
            </a:extLst>
          </p:cNvPr>
          <p:cNvSpPr>
            <a:spLocks xmlns:a="http://schemas.openxmlformats.org/drawingml/2006/main" noGrp="1"/>
          </p:cNvSpPr>
          <p:nvPr/>
        </p:nvSpPr>
        <p:spPr>
          <a:xfrm xmlns:a="http://schemas.openxmlformats.org/drawingml/2006/main">
            <a:off x="857250" y="35242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0">
                <a:solidFill>
                  <a:srgbClr val="214F86"/>
                </a:solidFill>
                <a:latin typeface="Arial"/>
                <a:ea typeface="Arial"/>
                <a:cs typeface="Arial"/>
              </a:defRPr>
            </a:pPr>
            <a:r>
              <a:rPr sz="1950" b="0">
                <a:solidFill>
                  <a:srgbClr val="214F86"/>
                </a:solidFill>
                <a:latin typeface="Arial"/>
                <a:ea typeface="Arial"/>
                <a:cs typeface="Arial"/>
              </a:rPr>
              <a:t>Pre-class: install dependencies, add the local MetaMask network, and run all checks.</a:t>
            </a:r>
          </a:p>
        </p:txBody>
      </p:sp>
    </p:spTree>
    <p:extLst>
      <p:ext uri="{BB962C8B-B14F-4D97-AF65-F5344CB8AC3E}">
        <p14:creationId xmlns:p14="http://schemas.microsoft.com/office/powerpoint/2010/main" val="163727328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ECC5A2C-0942-4401-836E-18F91580566C}"/>
              </a:ext>
            </a:extLst>
          </p:cNvPr>
          <p:cNvSpPr>
            <a:spLocks xmlns:a="http://schemas.openxmlformats.org/drawingml/2006/main" noGrp="1"/>
          </p:cNvSpPr>
          <p:nvPr/>
        </p:nvSpPr>
        <p:spPr>
          <a:xfrm xmlns:a="http://schemas.openxmlformats.org/drawingml/2006/main">
            <a:off x="628650" y="3048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925" b="0">
                <a:solidFill>
                  <a:srgbClr val="000000"/>
                </a:solidFill>
                <a:latin typeface="Arial"/>
                <a:ea typeface="Arial"/>
                <a:cs typeface="Arial"/>
              </a:defRPr>
            </a:pPr>
            <a:r>
              <a:rPr sz="2925" b="0">
                <a:solidFill>
                  <a:srgbClr val="000000"/>
                </a:solidFill>
                <a:latin typeface="Arial"/>
                <a:ea typeface="Arial"/>
                <a:cs typeface="Arial"/>
              </a:rPr>
              <a:t>Three transaction paths</a:t>
            </a:r>
          </a:p>
        </p:txBody>
      </p:sp>
      <p:sp>
        <p:nvSpPr>
          <p:cNvPr id="2" name="">
            <a:extLst xmlns:a="http://schemas.openxmlformats.org/drawingml/2006/main">
              <a:ext uri="{FF2B5EF4-FFF2-40B4-BE49-F238E27FC236}">
                <a16:creationId xmlns:a16="http://schemas.microsoft.com/office/drawing/2014/main" id="{EE2800A5-D2DE-4854-9C48-82CE439E5007}"/>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8266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90FE819-D037-4FFF-AE82-5C4FB06E2E56}"/>
              </a:ext>
            </a:extLst>
          </p:cNvPr>
          <p:cNvSpPr>
            <a:spLocks xmlns:a="http://schemas.openxmlformats.org/drawingml/2006/main" noGrp="1"/>
          </p:cNvSpPr>
          <p:nvPr/>
        </p:nvSpPr>
        <p:spPr>
          <a:xfrm xmlns:a="http://schemas.openxmlformats.org/drawingml/2006/main">
            <a:off x="11049000" y="6781800"/>
            <a:ext cx="1143000" cy="76200"/>
          </a:xfrm>
          <a:prstGeom xmlns:a="http://schemas.openxmlformats.org/drawingml/2006/main" prst="rect">
            <a:avLst/>
          </a:prstGeom>
          <a:solidFill xmlns:a="http://schemas.openxmlformats.org/drawingml/2006/main">
            <a:srgbClr val="E3193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BA02224-C1A6-44B6-9493-9A9CA1FA1CD1}"/>
              </a:ext>
            </a:extLst>
          </p:cNvPr>
          <p:cNvSpPr>
            <a:spLocks xmlns:a="http://schemas.openxmlformats.org/drawingml/2006/main" noGrp="1"/>
          </p:cNvSpPr>
          <p:nvPr/>
        </p:nvSpPr>
        <p:spPr>
          <a:xfrm xmlns:a="http://schemas.openxmlformats.org/drawingml/2006/main">
            <a:off x="685800" y="6553200"/>
            <a:ext cx="514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FFFFFF"/>
                </a:solidFill>
                <a:latin typeface="Arial"/>
                <a:ea typeface="Arial"/>
                <a:cs typeface="Arial"/>
              </a:defRPr>
            </a:pPr>
            <a:r>
              <a:rPr sz="825" b="1">
                <a:solidFill>
                  <a:srgbClr val="FFFFFF"/>
                </a:solidFill>
                <a:latin typeface="Arial"/>
                <a:ea typeface="Arial"/>
                <a:cs typeface="Arial"/>
              </a:rPr>
              <a:t>NANYANG TECHNOLOGICAL UNIVERSITY | SINGAPORE</a:t>
            </a:r>
          </a:p>
        </p:txBody>
      </p:sp>
      <p:sp>
        <p:nvSpPr>
          <p:cNvPr id="5" name="">
            <a:extLst xmlns:a="http://schemas.openxmlformats.org/drawingml/2006/main">
              <a:ext uri="{FF2B5EF4-FFF2-40B4-BE49-F238E27FC236}">
                <a16:creationId xmlns:a16="http://schemas.microsoft.com/office/drawing/2014/main" id="{DB66F223-B185-41BE-AE0A-68F5F4905F56}"/>
              </a:ext>
            </a:extLst>
          </p:cNvPr>
          <p:cNvSpPr>
            <a:spLocks xmlns:a="http://schemas.openxmlformats.org/drawingml/2006/main" noGrp="1"/>
          </p:cNvSpPr>
          <p:nvPr/>
        </p:nvSpPr>
        <p:spPr>
          <a:xfrm xmlns:a="http://schemas.openxmlformats.org/drawingml/2006/main">
            <a:off x="11506200" y="65436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defRPr sz="1200" b="1">
                <a:solidFill>
                  <a:srgbClr val="FFFFFF"/>
                </a:solidFill>
                <a:latin typeface="Arial"/>
                <a:ea typeface="Arial"/>
                <a:cs typeface="Arial"/>
              </a:defRPr>
            </a:pPr>
            <a:r>
              <a:rPr sz="1200" b="1">
                <a:solidFill>
                  <a:srgbClr val="FFFFFF"/>
                </a:solidFill>
                <a:latin typeface="Arial"/>
                <a:ea typeface="Arial"/>
                <a:cs typeface="Arial"/>
              </a:rPr>
              <a:t>17</a:t>
            </a:r>
          </a:p>
        </p:txBody>
      </p:sp>
      <p:sp>
        <p:nvSpPr>
          <p:cNvPr id="6" name="">
            <a:extLst xmlns:a="http://schemas.openxmlformats.org/drawingml/2006/main">
              <a:ext uri="{FF2B5EF4-FFF2-40B4-BE49-F238E27FC236}">
                <a16:creationId xmlns:a16="http://schemas.microsoft.com/office/drawing/2014/main" id="{F67F0F29-77B3-42B1-BDFB-7B0E3BE91D26}"/>
              </a:ext>
            </a:extLst>
          </p:cNvPr>
          <p:cNvSpPr>
            <a:spLocks xmlns:a="http://schemas.openxmlformats.org/drawingml/2006/main" noGrp="1"/>
          </p:cNvSpPr>
          <p:nvPr/>
        </p:nvSpPr>
        <p:spPr>
          <a:xfrm xmlns:a="http://schemas.openxmlformats.org/drawingml/2006/main">
            <a:off x="714375" y="14478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214F86"/>
                </a:solidFill>
                <a:latin typeface="Arial"/>
                <a:ea typeface="Arial"/>
                <a:cs typeface="Arial"/>
              </a:defRPr>
            </a:pPr>
            <a:r>
              <a:rPr sz="1350" b="1">
                <a:solidFill>
                  <a:srgbClr val="214F86"/>
                </a:solidFill>
                <a:latin typeface="Arial"/>
                <a:ea typeface="Arial"/>
                <a:cs typeface="Arial"/>
              </a:rPr>
              <a:t>LOCK</a:t>
            </a:r>
          </a:p>
        </p:txBody>
      </p:sp>
      <p:sp>
        <p:nvSpPr>
          <p:cNvPr id="7" name="">
            <a:extLst xmlns:a="http://schemas.openxmlformats.org/drawingml/2006/main">
              <a:ext uri="{FF2B5EF4-FFF2-40B4-BE49-F238E27FC236}">
                <a16:creationId xmlns:a16="http://schemas.microsoft.com/office/drawing/2014/main" id="{6BD0163A-AE86-443C-8CF4-DB024D2B6DAA}"/>
              </a:ext>
            </a:extLst>
          </p:cNvPr>
          <p:cNvSpPr>
            <a:spLocks xmlns:a="http://schemas.openxmlformats.org/drawingml/2006/main" noGrp="1"/>
          </p:cNvSpPr>
          <p:nvPr/>
        </p:nvSpPr>
        <p:spPr>
          <a:xfrm xmlns:a="http://schemas.openxmlformats.org/drawingml/2006/main">
            <a:off x="714375" y="18859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171717"/>
                </a:solidFill>
                <a:latin typeface="Arial"/>
                <a:ea typeface="Arial"/>
                <a:cs typeface="Arial"/>
              </a:defRPr>
            </a:pPr>
            <a:r>
              <a:rPr sz="2250" b="1">
                <a:solidFill>
                  <a:srgbClr val="171717"/>
                </a:solidFill>
                <a:latin typeface="Arial"/>
                <a:ea typeface="Arial"/>
                <a:cs typeface="Arial"/>
              </a:rPr>
              <a:t>React + MetaMask</a:t>
            </a:r>
          </a:p>
        </p:txBody>
      </p:sp>
      <p:sp>
        <p:nvSpPr>
          <p:cNvPr id="8" name="">
            <a:extLst xmlns:a="http://schemas.openxmlformats.org/drawingml/2006/main">
              <a:ext uri="{FF2B5EF4-FFF2-40B4-BE49-F238E27FC236}">
                <a16:creationId xmlns:a16="http://schemas.microsoft.com/office/drawing/2014/main" id="{2877B24B-0DCE-4744-92FC-F31C4481E058}"/>
              </a:ext>
            </a:extLst>
          </p:cNvPr>
          <p:cNvSpPr>
            <a:spLocks xmlns:a="http://schemas.openxmlformats.org/drawingml/2006/main" noGrp="1"/>
          </p:cNvSpPr>
          <p:nvPr/>
        </p:nvSpPr>
        <p:spPr>
          <a:xfrm xmlns:a="http://schemas.openxmlformats.org/drawingml/2006/main">
            <a:off x="714375" y="2647950"/>
            <a:ext cx="2857500" cy="0"/>
          </a:xfrm>
          <a:prstGeom xmlns:a="http://schemas.openxmlformats.org/drawingml/2006/main" prst="line">
            <a:avLst/>
          </a:prstGeom>
          <a:noFill xmlns:a="http://schemas.openxmlformats.org/drawingml/2006/main"/>
          <a:ln xmlns:a="http://schemas.openxmlformats.org/drawingml/2006/main" w="38100">
            <a:solidFill>
              <a:srgbClr val="214F86"/>
            </a:solidFill>
          </a:ln>
        </p:spPr>
      </p:sp>
      <p:sp>
        <p:nvSpPr>
          <p:cNvPr id="9" name="">
            <a:extLst xmlns:a="http://schemas.openxmlformats.org/drawingml/2006/main">
              <a:ext uri="{FF2B5EF4-FFF2-40B4-BE49-F238E27FC236}">
                <a16:creationId xmlns:a16="http://schemas.microsoft.com/office/drawing/2014/main" id="{584A0C8D-63C7-462C-8A6F-4CD6D5DAD8D2}"/>
              </a:ext>
            </a:extLst>
          </p:cNvPr>
          <p:cNvSpPr>
            <a:spLocks xmlns:a="http://schemas.openxmlformats.org/drawingml/2006/main" noGrp="1"/>
          </p:cNvSpPr>
          <p:nvPr/>
        </p:nvSpPr>
        <p:spPr>
          <a:xfrm xmlns:a="http://schemas.openxmlformats.org/drawingml/2006/main">
            <a:off x="714375" y="2895600"/>
            <a:ext cx="304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5B6574"/>
                </a:solidFill>
                <a:latin typeface="Arial"/>
                <a:ea typeface="Arial"/>
                <a:cs typeface="Arial"/>
              </a:defRPr>
            </a:pPr>
            <a:r>
              <a:rPr sz="1650" b="0">
                <a:solidFill>
                  <a:srgbClr val="5B6574"/>
                </a:solidFill>
                <a:latin typeface="Arial"/>
                <a:ea typeface="Arial"/>
                <a:cs typeface="Arial"/>
              </a:rPr>
              <a:t>User sees and approves each write</a:t>
            </a:r>
          </a:p>
        </p:txBody>
      </p:sp>
      <p:sp>
        <p:nvSpPr>
          <p:cNvPr id="10" name="">
            <a:extLst xmlns:a="http://schemas.openxmlformats.org/drawingml/2006/main">
              <a:ext uri="{FF2B5EF4-FFF2-40B4-BE49-F238E27FC236}">
                <a16:creationId xmlns:a16="http://schemas.microsoft.com/office/drawing/2014/main" id="{59223471-2163-45E6-992D-E1BC52BA7A4C}"/>
              </a:ext>
            </a:extLst>
          </p:cNvPr>
          <p:cNvSpPr>
            <a:spLocks xmlns:a="http://schemas.openxmlformats.org/drawingml/2006/main" noGrp="1"/>
          </p:cNvSpPr>
          <p:nvPr/>
        </p:nvSpPr>
        <p:spPr>
          <a:xfrm xmlns:a="http://schemas.openxmlformats.org/drawingml/2006/main">
            <a:off x="4238625" y="14478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5B4B9A"/>
                </a:solidFill>
                <a:latin typeface="Arial"/>
                <a:ea typeface="Arial"/>
                <a:cs typeface="Arial"/>
              </a:defRPr>
            </a:pPr>
            <a:r>
              <a:rPr sz="1350" b="1">
                <a:solidFill>
                  <a:srgbClr val="5B4B9A"/>
                </a:solidFill>
                <a:latin typeface="Arial"/>
                <a:ea typeface="Arial"/>
                <a:cs typeface="Arial"/>
              </a:rPr>
              <a:t>ELECTION</a:t>
            </a:r>
          </a:p>
        </p:txBody>
      </p:sp>
      <p:sp>
        <p:nvSpPr>
          <p:cNvPr id="11" name="">
            <a:extLst xmlns:a="http://schemas.openxmlformats.org/drawingml/2006/main">
              <a:ext uri="{FF2B5EF4-FFF2-40B4-BE49-F238E27FC236}">
                <a16:creationId xmlns:a16="http://schemas.microsoft.com/office/drawing/2014/main" id="{B9201C02-3EFB-4310-A246-3B33D1BCC365}"/>
              </a:ext>
            </a:extLst>
          </p:cNvPr>
          <p:cNvSpPr>
            <a:spLocks xmlns:a="http://schemas.openxmlformats.org/drawingml/2006/main" noGrp="1"/>
          </p:cNvSpPr>
          <p:nvPr/>
        </p:nvSpPr>
        <p:spPr>
          <a:xfrm xmlns:a="http://schemas.openxmlformats.org/drawingml/2006/main">
            <a:off x="4238625" y="18859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171717"/>
                </a:solidFill>
                <a:latin typeface="Arial"/>
                <a:ea typeface="Arial"/>
                <a:cs typeface="Arial"/>
              </a:defRPr>
            </a:pPr>
            <a:r>
              <a:rPr sz="2250" b="1">
                <a:solidFill>
                  <a:srgbClr val="171717"/>
                </a:solidFill>
                <a:latin typeface="Arial"/>
                <a:ea typeface="Arial"/>
                <a:cs typeface="Arial"/>
              </a:rPr>
              <a:t>React + Express</a:t>
            </a:r>
          </a:p>
        </p:txBody>
      </p:sp>
      <p:sp>
        <p:nvSpPr>
          <p:cNvPr id="12" name="">
            <a:extLst xmlns:a="http://schemas.openxmlformats.org/drawingml/2006/main">
              <a:ext uri="{FF2B5EF4-FFF2-40B4-BE49-F238E27FC236}">
                <a16:creationId xmlns:a16="http://schemas.microsoft.com/office/drawing/2014/main" id="{C062EF57-E41E-4D34-8F94-9222C4FB7FCA}"/>
              </a:ext>
            </a:extLst>
          </p:cNvPr>
          <p:cNvSpPr>
            <a:spLocks xmlns:a="http://schemas.openxmlformats.org/drawingml/2006/main" noGrp="1"/>
          </p:cNvSpPr>
          <p:nvPr/>
        </p:nvSpPr>
        <p:spPr>
          <a:xfrm xmlns:a="http://schemas.openxmlformats.org/drawingml/2006/main">
            <a:off x="4238625" y="2647950"/>
            <a:ext cx="2857500" cy="0"/>
          </a:xfrm>
          <a:prstGeom xmlns:a="http://schemas.openxmlformats.org/drawingml/2006/main" prst="line">
            <a:avLst/>
          </a:prstGeom>
          <a:noFill xmlns:a="http://schemas.openxmlformats.org/drawingml/2006/main"/>
          <a:ln xmlns:a="http://schemas.openxmlformats.org/drawingml/2006/main" w="38100">
            <a:solidFill>
              <a:srgbClr val="5B4B9A"/>
            </a:solidFill>
          </a:ln>
        </p:spPr>
      </p:sp>
      <p:sp>
        <p:nvSpPr>
          <p:cNvPr id="13" name="">
            <a:extLst xmlns:a="http://schemas.openxmlformats.org/drawingml/2006/main">
              <a:ext uri="{FF2B5EF4-FFF2-40B4-BE49-F238E27FC236}">
                <a16:creationId xmlns:a16="http://schemas.microsoft.com/office/drawing/2014/main" id="{A1830A1C-9B08-4899-B608-C5E09E8EC63C}"/>
              </a:ext>
            </a:extLst>
          </p:cNvPr>
          <p:cNvSpPr>
            <a:spLocks xmlns:a="http://schemas.openxmlformats.org/drawingml/2006/main" noGrp="1"/>
          </p:cNvSpPr>
          <p:nvPr/>
        </p:nvSpPr>
        <p:spPr>
          <a:xfrm xmlns:a="http://schemas.openxmlformats.org/drawingml/2006/main">
            <a:off x="4238625" y="2895600"/>
            <a:ext cx="304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5B6574"/>
                </a:solidFill>
                <a:latin typeface="Arial"/>
                <a:ea typeface="Arial"/>
                <a:cs typeface="Arial"/>
              </a:defRPr>
            </a:pPr>
            <a:r>
              <a:rPr sz="1650" b="0">
                <a:solidFill>
                  <a:srgbClr val="5B6574"/>
                </a:solidFill>
                <a:latin typeface="Arial"/>
                <a:ea typeface="Arial"/>
                <a:cs typeface="Arial"/>
              </a:rPr>
              <a:t>Server chooses and signs</a:t>
            </a:r>
          </a:p>
        </p:txBody>
      </p:sp>
      <p:sp>
        <p:nvSpPr>
          <p:cNvPr id="14" name="">
            <a:extLst xmlns:a="http://schemas.openxmlformats.org/drawingml/2006/main">
              <a:ext uri="{FF2B5EF4-FFF2-40B4-BE49-F238E27FC236}">
                <a16:creationId xmlns:a16="http://schemas.microsoft.com/office/drawing/2014/main" id="{13F72F66-5DCC-439D-B9E8-D1A607A15072}"/>
              </a:ext>
            </a:extLst>
          </p:cNvPr>
          <p:cNvSpPr>
            <a:spLocks xmlns:a="http://schemas.openxmlformats.org/drawingml/2006/main" noGrp="1"/>
          </p:cNvSpPr>
          <p:nvPr/>
        </p:nvSpPr>
        <p:spPr>
          <a:xfrm xmlns:a="http://schemas.openxmlformats.org/drawingml/2006/main">
            <a:off x="7762875" y="14478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00847E"/>
                </a:solidFill>
                <a:latin typeface="Arial"/>
                <a:ea typeface="Arial"/>
                <a:cs typeface="Arial"/>
              </a:defRPr>
            </a:pPr>
            <a:r>
              <a:rPr sz="1350" b="1">
                <a:solidFill>
                  <a:srgbClr val="00847E"/>
                </a:solidFill>
                <a:latin typeface="Arial"/>
                <a:ea typeface="Arial"/>
                <a:cs typeface="Arial"/>
              </a:rPr>
              <a:t>TOKENIZATION</a:t>
            </a:r>
          </a:p>
        </p:txBody>
      </p:sp>
      <p:sp>
        <p:nvSpPr>
          <p:cNvPr id="15" name="">
            <a:extLst xmlns:a="http://schemas.openxmlformats.org/drawingml/2006/main">
              <a:ext uri="{FF2B5EF4-FFF2-40B4-BE49-F238E27FC236}">
                <a16:creationId xmlns:a16="http://schemas.microsoft.com/office/drawing/2014/main" id="{AFE4D1D0-FED1-45AB-88B7-7DF94DCA8AEC}"/>
              </a:ext>
            </a:extLst>
          </p:cNvPr>
          <p:cNvSpPr>
            <a:spLocks xmlns:a="http://schemas.openxmlformats.org/drawingml/2006/main" noGrp="1"/>
          </p:cNvSpPr>
          <p:nvPr/>
        </p:nvSpPr>
        <p:spPr>
          <a:xfrm xmlns:a="http://schemas.openxmlformats.org/drawingml/2006/main">
            <a:off x="7762875" y="18859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171717"/>
                </a:solidFill>
                <a:latin typeface="Arial"/>
                <a:ea typeface="Arial"/>
                <a:cs typeface="Arial"/>
              </a:defRPr>
            </a:pPr>
            <a:r>
              <a:rPr sz="2250" b="1">
                <a:solidFill>
                  <a:srgbClr val="171717"/>
                </a:solidFill>
                <a:latin typeface="Arial"/>
                <a:ea typeface="Arial"/>
                <a:cs typeface="Arial"/>
              </a:rPr>
              <a:t>Next.js + wallet</a:t>
            </a:r>
          </a:p>
        </p:txBody>
      </p:sp>
      <p:sp>
        <p:nvSpPr>
          <p:cNvPr id="16" name="">
            <a:extLst xmlns:a="http://schemas.openxmlformats.org/drawingml/2006/main">
              <a:ext uri="{FF2B5EF4-FFF2-40B4-BE49-F238E27FC236}">
                <a16:creationId xmlns:a16="http://schemas.microsoft.com/office/drawing/2014/main" id="{4CE6CC72-2738-4A17-8812-FD5C4B311E52}"/>
              </a:ext>
            </a:extLst>
          </p:cNvPr>
          <p:cNvSpPr>
            <a:spLocks xmlns:a="http://schemas.openxmlformats.org/drawingml/2006/main" noGrp="1"/>
          </p:cNvSpPr>
          <p:nvPr/>
        </p:nvSpPr>
        <p:spPr>
          <a:xfrm xmlns:a="http://schemas.openxmlformats.org/drawingml/2006/main">
            <a:off x="7762875" y="2647950"/>
            <a:ext cx="2857500" cy="0"/>
          </a:xfrm>
          <a:prstGeom xmlns:a="http://schemas.openxmlformats.org/drawingml/2006/main" prst="line">
            <a:avLst/>
          </a:prstGeom>
          <a:noFill xmlns:a="http://schemas.openxmlformats.org/drawingml/2006/main"/>
          <a:ln xmlns:a="http://schemas.openxmlformats.org/drawingml/2006/main" w="38100">
            <a:solidFill>
              <a:srgbClr val="00847E"/>
            </a:solidFill>
          </a:ln>
        </p:spPr>
      </p:sp>
      <p:sp>
        <p:nvSpPr>
          <p:cNvPr id="17" name="">
            <a:extLst xmlns:a="http://schemas.openxmlformats.org/drawingml/2006/main">
              <a:ext uri="{FF2B5EF4-FFF2-40B4-BE49-F238E27FC236}">
                <a16:creationId xmlns:a16="http://schemas.microsoft.com/office/drawing/2014/main" id="{2668E687-5177-45C2-B0C9-EAAAA9412647}"/>
              </a:ext>
            </a:extLst>
          </p:cNvPr>
          <p:cNvSpPr>
            <a:spLocks xmlns:a="http://schemas.openxmlformats.org/drawingml/2006/main" noGrp="1"/>
          </p:cNvSpPr>
          <p:nvPr/>
        </p:nvSpPr>
        <p:spPr>
          <a:xfrm xmlns:a="http://schemas.openxmlformats.org/drawingml/2006/main">
            <a:off x="7762875" y="2895600"/>
            <a:ext cx="304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5B6574"/>
                </a:solidFill>
                <a:latin typeface="Arial"/>
                <a:ea typeface="Arial"/>
                <a:cs typeface="Arial"/>
              </a:defRPr>
            </a:pPr>
            <a:r>
              <a:rPr sz="1650" b="0">
                <a:solidFill>
                  <a:srgbClr val="5B6574"/>
                </a:solidFill>
                <a:latin typeface="Arial"/>
                <a:ea typeface="Arial"/>
                <a:cs typeface="Arial"/>
              </a:rPr>
              <a:t>Burner wallet or MetaMask signs</a:t>
            </a:r>
          </a:p>
        </p:txBody>
      </p:sp>
      <p:sp>
        <p:nvSpPr>
          <p:cNvPr id="18" name="">
            <a:extLst xmlns:a="http://schemas.openxmlformats.org/drawingml/2006/main">
              <a:ext uri="{FF2B5EF4-FFF2-40B4-BE49-F238E27FC236}">
                <a16:creationId xmlns:a16="http://schemas.microsoft.com/office/drawing/2014/main" id="{EA034E3E-30C2-457F-815E-5B0DDF4FB565}"/>
              </a:ext>
            </a:extLst>
          </p:cNvPr>
          <p:cNvSpPr>
            <a:spLocks xmlns:a="http://schemas.openxmlformats.org/drawingml/2006/main" noGrp="1"/>
          </p:cNvSpPr>
          <p:nvPr/>
        </p:nvSpPr>
        <p:spPr>
          <a:xfrm xmlns:a="http://schemas.openxmlformats.org/drawingml/2006/main">
            <a:off x="876300" y="4762500"/>
            <a:ext cx="10439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0">
                <a:solidFill>
                  <a:srgbClr val="214F86"/>
                </a:solidFill>
                <a:latin typeface="Arial"/>
                <a:ea typeface="Arial"/>
                <a:cs typeface="Arial"/>
              </a:defRPr>
            </a:pPr>
            <a:r>
              <a:rPr sz="1950" b="0">
                <a:solidFill>
                  <a:srgbClr val="214F86"/>
                </a:solidFill>
                <a:latin typeface="Arial"/>
                <a:ea typeface="Arial"/>
                <a:cs typeface="Arial"/>
              </a:rPr>
              <a:t>Ask four questions: where is the key, who signs, what reaches RPC, and what becomes contract state?</a:t>
            </a:r>
          </a:p>
        </p:txBody>
      </p:sp>
    </p:spTree>
    <p:extLst>
      <p:ext uri="{BB962C8B-B14F-4D97-AF65-F5344CB8AC3E}">
        <p14:creationId xmlns:p14="http://schemas.microsoft.com/office/powerpoint/2010/main" val="102870941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C93C123-2B9E-4EB8-9F56-EB65BF42D3FD}"/>
              </a:ext>
            </a:extLst>
          </p:cNvPr>
          <p:cNvSpPr>
            <a:spLocks xmlns:a="http://schemas.openxmlformats.org/drawingml/2006/main" noGrp="1"/>
          </p:cNvSpPr>
          <p:nvPr/>
        </p:nvSpPr>
        <p:spPr>
          <a:xfrm xmlns:a="http://schemas.openxmlformats.org/drawingml/2006/main">
            <a:off x="628650" y="3048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925" b="0">
                <a:solidFill>
                  <a:srgbClr val="000000"/>
                </a:solidFill>
                <a:latin typeface="Arial"/>
                <a:ea typeface="Arial"/>
                <a:cs typeface="Arial"/>
              </a:defRPr>
            </a:pPr>
            <a:r>
              <a:rPr sz="2925" b="0">
                <a:solidFill>
                  <a:srgbClr val="000000"/>
                </a:solidFill>
                <a:latin typeface="Arial"/>
                <a:ea typeface="Arial"/>
                <a:cs typeface="Arial"/>
              </a:rPr>
              <a:t>Lock frontend, wallet and contract</a:t>
            </a:r>
          </a:p>
        </p:txBody>
      </p:sp>
      <p:sp>
        <p:nvSpPr>
          <p:cNvPr id="2" name="">
            <a:extLst xmlns:a="http://schemas.openxmlformats.org/drawingml/2006/main">
              <a:ext uri="{FF2B5EF4-FFF2-40B4-BE49-F238E27FC236}">
                <a16:creationId xmlns:a16="http://schemas.microsoft.com/office/drawing/2014/main" id="{5C34108F-E879-442B-B423-131BEBFE6DB2}"/>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8266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02CDD41-76AA-4839-8751-7A6A8C0D8B87}"/>
              </a:ext>
            </a:extLst>
          </p:cNvPr>
          <p:cNvSpPr>
            <a:spLocks xmlns:a="http://schemas.openxmlformats.org/drawingml/2006/main" noGrp="1"/>
          </p:cNvSpPr>
          <p:nvPr/>
        </p:nvSpPr>
        <p:spPr>
          <a:xfrm xmlns:a="http://schemas.openxmlformats.org/drawingml/2006/main">
            <a:off x="11049000" y="6781800"/>
            <a:ext cx="1143000" cy="76200"/>
          </a:xfrm>
          <a:prstGeom xmlns:a="http://schemas.openxmlformats.org/drawingml/2006/main" prst="rect">
            <a:avLst/>
          </a:prstGeom>
          <a:solidFill xmlns:a="http://schemas.openxmlformats.org/drawingml/2006/main">
            <a:srgbClr val="E3193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C5FEB2B-615D-4E10-858D-EDA1FAB9DC32}"/>
              </a:ext>
            </a:extLst>
          </p:cNvPr>
          <p:cNvSpPr>
            <a:spLocks xmlns:a="http://schemas.openxmlformats.org/drawingml/2006/main" noGrp="1"/>
          </p:cNvSpPr>
          <p:nvPr/>
        </p:nvSpPr>
        <p:spPr>
          <a:xfrm xmlns:a="http://schemas.openxmlformats.org/drawingml/2006/main">
            <a:off x="685800" y="6553200"/>
            <a:ext cx="514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FFFFFF"/>
                </a:solidFill>
                <a:latin typeface="Arial"/>
                <a:ea typeface="Arial"/>
                <a:cs typeface="Arial"/>
              </a:defRPr>
            </a:pPr>
            <a:r>
              <a:rPr sz="825" b="1">
                <a:solidFill>
                  <a:srgbClr val="FFFFFF"/>
                </a:solidFill>
                <a:latin typeface="Arial"/>
                <a:ea typeface="Arial"/>
                <a:cs typeface="Arial"/>
              </a:rPr>
              <a:t>NANYANG TECHNOLOGICAL UNIVERSITY | SINGAPORE</a:t>
            </a:r>
          </a:p>
        </p:txBody>
      </p:sp>
      <p:sp>
        <p:nvSpPr>
          <p:cNvPr id="5" name="">
            <a:extLst xmlns:a="http://schemas.openxmlformats.org/drawingml/2006/main">
              <a:ext uri="{FF2B5EF4-FFF2-40B4-BE49-F238E27FC236}">
                <a16:creationId xmlns:a16="http://schemas.microsoft.com/office/drawing/2014/main" id="{D24A6717-5961-41D1-A0E2-1F8EB8EE45E2}"/>
              </a:ext>
            </a:extLst>
          </p:cNvPr>
          <p:cNvSpPr>
            <a:spLocks xmlns:a="http://schemas.openxmlformats.org/drawingml/2006/main" noGrp="1"/>
          </p:cNvSpPr>
          <p:nvPr/>
        </p:nvSpPr>
        <p:spPr>
          <a:xfrm xmlns:a="http://schemas.openxmlformats.org/drawingml/2006/main">
            <a:off x="11506200" y="65436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defRPr sz="1200" b="1">
                <a:solidFill>
                  <a:srgbClr val="FFFFFF"/>
                </a:solidFill>
                <a:latin typeface="Arial"/>
                <a:ea typeface="Arial"/>
                <a:cs typeface="Arial"/>
              </a:defRPr>
            </a:pPr>
            <a:r>
              <a:rPr sz="1200" b="1">
                <a:solidFill>
                  <a:srgbClr val="FFFFFF"/>
                </a:solidFill>
                <a:latin typeface="Arial"/>
                <a:ea typeface="Arial"/>
                <a:cs typeface="Arial"/>
              </a:rPr>
              <a:t>18</a:t>
            </a:r>
          </a:p>
        </p:txBody>
      </p:sp>
      <p:sp>
        <p:nvSpPr>
          <p:cNvPr id="6" name="">
            <a:extLst xmlns:a="http://schemas.openxmlformats.org/drawingml/2006/main">
              <a:ext uri="{FF2B5EF4-FFF2-40B4-BE49-F238E27FC236}">
                <a16:creationId xmlns:a16="http://schemas.microsoft.com/office/drawing/2014/main" id="{BB4AC068-0285-43D9-A253-52E45B02F95E}"/>
              </a:ext>
            </a:extLst>
          </p:cNvPr>
          <p:cNvSpPr>
            <a:spLocks xmlns:a="http://schemas.openxmlformats.org/drawingml/2006/main" noGrp="1"/>
          </p:cNvSpPr>
          <p:nvPr/>
        </p:nvSpPr>
        <p:spPr>
          <a:xfrm xmlns:a="http://schemas.openxmlformats.org/drawingml/2006/main">
            <a:off x="552450" y="2000250"/>
            <a:ext cx="2381250" cy="12001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1473B8"/>
            </a:solidFill>
            <a:prstDash val="solid"/>
          </a:ln>
        </p:spPr>
      </p:sp>
      <p:sp>
        <p:nvSpPr>
          <p:cNvPr id="7" name="">
            <a:extLst xmlns:a="http://schemas.openxmlformats.org/drawingml/2006/main">
              <a:ext uri="{FF2B5EF4-FFF2-40B4-BE49-F238E27FC236}">
                <a16:creationId xmlns:a16="http://schemas.microsoft.com/office/drawing/2014/main" id="{032CE1EA-BAD9-4848-9683-7A18CDA6D0F2}"/>
              </a:ext>
            </a:extLst>
          </p:cNvPr>
          <p:cNvSpPr>
            <a:spLocks xmlns:a="http://schemas.openxmlformats.org/drawingml/2006/main" noGrp="1"/>
          </p:cNvSpPr>
          <p:nvPr/>
        </p:nvSpPr>
        <p:spPr>
          <a:xfrm xmlns:a="http://schemas.openxmlformats.org/drawingml/2006/main">
            <a:off x="666750" y="2133600"/>
            <a:ext cx="2152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defRPr sz="1800" b="1">
                <a:solidFill>
                  <a:srgbClr val="1473B8"/>
                </a:solidFill>
                <a:latin typeface="Arial"/>
                <a:ea typeface="Arial"/>
                <a:cs typeface="Arial"/>
              </a:defRPr>
            </a:pPr>
            <a:r>
              <a:rPr sz="1800" b="1">
                <a:solidFill>
                  <a:srgbClr val="1473B8"/>
                </a:solidFill>
                <a:latin typeface="Arial"/>
                <a:ea typeface="Arial"/>
                <a:cs typeface="Arial"/>
              </a:rPr>
              <a:t>Original React UI</a:t>
            </a:r>
          </a:p>
        </p:txBody>
      </p:sp>
      <p:sp>
        <p:nvSpPr>
          <p:cNvPr id="8" name="">
            <a:extLst xmlns:a="http://schemas.openxmlformats.org/drawingml/2006/main">
              <a:ext uri="{FF2B5EF4-FFF2-40B4-BE49-F238E27FC236}">
                <a16:creationId xmlns:a16="http://schemas.microsoft.com/office/drawing/2014/main" id="{28565B36-42AF-4F06-B219-6FF0FB2B48CF}"/>
              </a:ext>
            </a:extLst>
          </p:cNvPr>
          <p:cNvSpPr>
            <a:spLocks xmlns:a="http://schemas.openxmlformats.org/drawingml/2006/main" noGrp="1"/>
          </p:cNvSpPr>
          <p:nvPr/>
        </p:nvSpPr>
        <p:spPr>
          <a:xfrm xmlns:a="http://schemas.openxmlformats.org/drawingml/2006/main">
            <a:off x="666750" y="2514600"/>
            <a:ext cx="2152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B6574"/>
                </a:solidFill>
                <a:latin typeface="Arial"/>
                <a:ea typeface="Arial"/>
                <a:cs typeface="Arial"/>
              </a:defRPr>
            </a:pPr>
            <a:r>
              <a:rPr sz="1275" b="0">
                <a:solidFill>
                  <a:srgbClr val="5B6574"/>
                </a:solidFill>
                <a:latin typeface="Arial"/>
                <a:ea typeface="Arial"/>
                <a:cs typeface="Arial"/>
              </a:rPr>
              <a:t>Builds deployment and method requests</a:t>
            </a:r>
          </a:p>
        </p:txBody>
      </p:sp>
      <p:sp>
        <p:nvSpPr>
          <p:cNvPr id="9" name="">
            <a:extLst xmlns:a="http://schemas.openxmlformats.org/drawingml/2006/main">
              <a:ext uri="{FF2B5EF4-FFF2-40B4-BE49-F238E27FC236}">
                <a16:creationId xmlns:a16="http://schemas.microsoft.com/office/drawing/2014/main" id="{E46A44BF-B931-43D4-BFD1-5DAFF55A7770}"/>
              </a:ext>
            </a:extLst>
          </p:cNvPr>
          <p:cNvSpPr>
            <a:spLocks xmlns:a="http://schemas.openxmlformats.org/drawingml/2006/main" noGrp="1"/>
          </p:cNvSpPr>
          <p:nvPr/>
        </p:nvSpPr>
        <p:spPr>
          <a:xfrm xmlns:a="http://schemas.openxmlformats.org/drawingml/2006/main">
            <a:off x="3381375" y="2000250"/>
            <a:ext cx="2381250" cy="12001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E31937"/>
            </a:solidFill>
            <a:prstDash val="solid"/>
          </a:ln>
        </p:spPr>
      </p:sp>
      <p:sp>
        <p:nvSpPr>
          <p:cNvPr id="10" name="">
            <a:extLst xmlns:a="http://schemas.openxmlformats.org/drawingml/2006/main">
              <a:ext uri="{FF2B5EF4-FFF2-40B4-BE49-F238E27FC236}">
                <a16:creationId xmlns:a16="http://schemas.microsoft.com/office/drawing/2014/main" id="{98610E4F-CB02-48B5-A703-4F3517A026DE}"/>
              </a:ext>
            </a:extLst>
          </p:cNvPr>
          <p:cNvSpPr>
            <a:spLocks xmlns:a="http://schemas.openxmlformats.org/drawingml/2006/main" noGrp="1"/>
          </p:cNvSpPr>
          <p:nvPr/>
        </p:nvSpPr>
        <p:spPr>
          <a:xfrm xmlns:a="http://schemas.openxmlformats.org/drawingml/2006/main">
            <a:off x="3495675" y="2133600"/>
            <a:ext cx="2152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defRPr sz="1800" b="1">
                <a:solidFill>
                  <a:srgbClr val="E31937"/>
                </a:solidFill>
                <a:latin typeface="Arial"/>
                <a:ea typeface="Arial"/>
                <a:cs typeface="Arial"/>
              </a:defRPr>
            </a:pPr>
            <a:r>
              <a:rPr sz="1800" b="1">
                <a:solidFill>
                  <a:srgbClr val="E31937"/>
                </a:solidFill>
                <a:latin typeface="Arial"/>
                <a:ea typeface="Arial"/>
                <a:cs typeface="Arial"/>
              </a:rPr>
              <a:t>MetaMask</a:t>
            </a:r>
          </a:p>
        </p:txBody>
      </p:sp>
      <p:sp>
        <p:nvSpPr>
          <p:cNvPr id="11" name="">
            <a:extLst xmlns:a="http://schemas.openxmlformats.org/drawingml/2006/main">
              <a:ext uri="{FF2B5EF4-FFF2-40B4-BE49-F238E27FC236}">
                <a16:creationId xmlns:a16="http://schemas.microsoft.com/office/drawing/2014/main" id="{5D228110-5B24-4798-A34F-565D5780A4B6}"/>
              </a:ext>
            </a:extLst>
          </p:cNvPr>
          <p:cNvSpPr>
            <a:spLocks xmlns:a="http://schemas.openxmlformats.org/drawingml/2006/main" noGrp="1"/>
          </p:cNvSpPr>
          <p:nvPr/>
        </p:nvSpPr>
        <p:spPr>
          <a:xfrm xmlns:a="http://schemas.openxmlformats.org/drawingml/2006/main">
            <a:off x="3495675" y="2514600"/>
            <a:ext cx="2152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B6574"/>
                </a:solidFill>
                <a:latin typeface="Arial"/>
                <a:ea typeface="Arial"/>
                <a:cs typeface="Arial"/>
              </a:defRPr>
            </a:pPr>
            <a:r>
              <a:rPr sz="1275" b="0">
                <a:solidFill>
                  <a:srgbClr val="5B6574"/>
                </a:solidFill>
                <a:latin typeface="Arial"/>
                <a:ea typeface="Arial"/>
                <a:cs typeface="Arial"/>
              </a:rPr>
              <a:t>Holds the key and asks the user to sign</a:t>
            </a:r>
          </a:p>
        </p:txBody>
      </p:sp>
      <p:sp>
        <p:nvSpPr>
          <p:cNvPr id="12" name="">
            <a:extLst xmlns:a="http://schemas.openxmlformats.org/drawingml/2006/main">
              <a:ext uri="{FF2B5EF4-FFF2-40B4-BE49-F238E27FC236}">
                <a16:creationId xmlns:a16="http://schemas.microsoft.com/office/drawing/2014/main" id="{99083998-F9E2-4302-8425-BD52CBA76174}"/>
              </a:ext>
            </a:extLst>
          </p:cNvPr>
          <p:cNvSpPr>
            <a:spLocks xmlns:a="http://schemas.openxmlformats.org/drawingml/2006/main" noGrp="1"/>
          </p:cNvSpPr>
          <p:nvPr/>
        </p:nvSpPr>
        <p:spPr>
          <a:xfrm xmlns:a="http://schemas.openxmlformats.org/drawingml/2006/main">
            <a:off x="6210300" y="2000250"/>
            <a:ext cx="2381250" cy="12001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214F86"/>
            </a:solidFill>
            <a:prstDash val="solid"/>
          </a:ln>
        </p:spPr>
      </p:sp>
      <p:sp>
        <p:nvSpPr>
          <p:cNvPr id="13" name="">
            <a:extLst xmlns:a="http://schemas.openxmlformats.org/drawingml/2006/main">
              <a:ext uri="{FF2B5EF4-FFF2-40B4-BE49-F238E27FC236}">
                <a16:creationId xmlns:a16="http://schemas.microsoft.com/office/drawing/2014/main" id="{26DAA08B-2E66-41E8-9A35-A2712D3D514E}"/>
              </a:ext>
            </a:extLst>
          </p:cNvPr>
          <p:cNvSpPr>
            <a:spLocks xmlns:a="http://schemas.openxmlformats.org/drawingml/2006/main" noGrp="1"/>
          </p:cNvSpPr>
          <p:nvPr/>
        </p:nvSpPr>
        <p:spPr>
          <a:xfrm xmlns:a="http://schemas.openxmlformats.org/drawingml/2006/main">
            <a:off x="6324600" y="2133600"/>
            <a:ext cx="2152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defRPr sz="1800" b="1">
                <a:solidFill>
                  <a:srgbClr val="214F86"/>
                </a:solidFill>
                <a:latin typeface="Arial"/>
                <a:ea typeface="Arial"/>
                <a:cs typeface="Arial"/>
              </a:defRPr>
            </a:pPr>
            <a:r>
              <a:rPr sz="1800" b="1">
                <a:solidFill>
                  <a:srgbClr val="214F86"/>
                </a:solidFill>
                <a:latin typeface="Arial"/>
                <a:ea typeface="Arial"/>
                <a:cs typeface="Arial"/>
              </a:rPr>
              <a:t>Ganache RPC</a:t>
            </a:r>
          </a:p>
        </p:txBody>
      </p:sp>
      <p:sp>
        <p:nvSpPr>
          <p:cNvPr id="14" name="">
            <a:extLst xmlns:a="http://schemas.openxmlformats.org/drawingml/2006/main">
              <a:ext uri="{FF2B5EF4-FFF2-40B4-BE49-F238E27FC236}">
                <a16:creationId xmlns:a16="http://schemas.microsoft.com/office/drawing/2014/main" id="{6B22AA41-45CE-4D57-A0D6-EE3FD94204AE}"/>
              </a:ext>
            </a:extLst>
          </p:cNvPr>
          <p:cNvSpPr>
            <a:spLocks xmlns:a="http://schemas.openxmlformats.org/drawingml/2006/main" noGrp="1"/>
          </p:cNvSpPr>
          <p:nvPr/>
        </p:nvSpPr>
        <p:spPr>
          <a:xfrm xmlns:a="http://schemas.openxmlformats.org/drawingml/2006/main">
            <a:off x="6324600" y="2514600"/>
            <a:ext cx="2152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B6574"/>
                </a:solidFill>
                <a:latin typeface="Arial"/>
                <a:ea typeface="Arial"/>
                <a:cs typeface="Arial"/>
              </a:defRPr>
            </a:pPr>
            <a:r>
              <a:rPr sz="1275" b="0">
                <a:solidFill>
                  <a:srgbClr val="5B6574"/>
                </a:solidFill>
                <a:latin typeface="Arial"/>
                <a:ea typeface="Arial"/>
                <a:cs typeface="Arial"/>
              </a:rPr>
              <a:t>Local chain 31337 mines the transaction</a:t>
            </a:r>
          </a:p>
        </p:txBody>
      </p:sp>
      <p:sp>
        <p:nvSpPr>
          <p:cNvPr id="15" name="">
            <a:extLst xmlns:a="http://schemas.openxmlformats.org/drawingml/2006/main">
              <a:ext uri="{FF2B5EF4-FFF2-40B4-BE49-F238E27FC236}">
                <a16:creationId xmlns:a16="http://schemas.microsoft.com/office/drawing/2014/main" id="{C6D5287A-E813-49E6-AF02-B32B9CE1F088}"/>
              </a:ext>
            </a:extLst>
          </p:cNvPr>
          <p:cNvSpPr>
            <a:spLocks xmlns:a="http://schemas.openxmlformats.org/drawingml/2006/main" noGrp="1"/>
          </p:cNvSpPr>
          <p:nvPr/>
        </p:nvSpPr>
        <p:spPr>
          <a:xfrm xmlns:a="http://schemas.openxmlformats.org/drawingml/2006/main">
            <a:off x="9039225" y="2000250"/>
            <a:ext cx="2381250" cy="12001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00847E"/>
            </a:solidFill>
            <a:prstDash val="solid"/>
          </a:ln>
        </p:spPr>
      </p:sp>
      <p:sp>
        <p:nvSpPr>
          <p:cNvPr id="16" name="">
            <a:extLst xmlns:a="http://schemas.openxmlformats.org/drawingml/2006/main">
              <a:ext uri="{FF2B5EF4-FFF2-40B4-BE49-F238E27FC236}">
                <a16:creationId xmlns:a16="http://schemas.microsoft.com/office/drawing/2014/main" id="{F77DA9E9-000B-444D-B7A1-0B3C846B5361}"/>
              </a:ext>
            </a:extLst>
          </p:cNvPr>
          <p:cNvSpPr>
            <a:spLocks xmlns:a="http://schemas.openxmlformats.org/drawingml/2006/main" noGrp="1"/>
          </p:cNvSpPr>
          <p:nvPr/>
        </p:nvSpPr>
        <p:spPr>
          <a:xfrm xmlns:a="http://schemas.openxmlformats.org/drawingml/2006/main">
            <a:off x="9153525" y="2133600"/>
            <a:ext cx="2152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defRPr sz="1800" b="1">
                <a:solidFill>
                  <a:srgbClr val="00847E"/>
                </a:solidFill>
                <a:latin typeface="Arial"/>
                <a:ea typeface="Arial"/>
                <a:cs typeface="Arial"/>
              </a:defRPr>
            </a:pPr>
            <a:r>
              <a:rPr sz="1800" b="1">
                <a:solidFill>
                  <a:srgbClr val="00847E"/>
                </a:solidFill>
                <a:latin typeface="Arial"/>
                <a:ea typeface="Arial"/>
                <a:cs typeface="Arial"/>
              </a:rPr>
              <a:t>Lock.sol</a:t>
            </a:r>
          </a:p>
        </p:txBody>
      </p:sp>
      <p:sp>
        <p:nvSpPr>
          <p:cNvPr id="17" name="">
            <a:extLst xmlns:a="http://schemas.openxmlformats.org/drawingml/2006/main">
              <a:ext uri="{FF2B5EF4-FFF2-40B4-BE49-F238E27FC236}">
                <a16:creationId xmlns:a16="http://schemas.microsoft.com/office/drawing/2014/main" id="{54833DB7-AC51-402B-9EFE-9BAFC5826085}"/>
              </a:ext>
            </a:extLst>
          </p:cNvPr>
          <p:cNvSpPr>
            <a:spLocks xmlns:a="http://schemas.openxmlformats.org/drawingml/2006/main" noGrp="1"/>
          </p:cNvSpPr>
          <p:nvPr/>
        </p:nvSpPr>
        <p:spPr>
          <a:xfrm xmlns:a="http://schemas.openxmlformats.org/drawingml/2006/main">
            <a:off x="9153525" y="2514600"/>
            <a:ext cx="2152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B6574"/>
                </a:solidFill>
                <a:latin typeface="Arial"/>
                <a:ea typeface="Arial"/>
                <a:cs typeface="Arial"/>
              </a:defRPr>
            </a:pPr>
            <a:r>
              <a:rPr sz="1275" b="0">
                <a:solidFill>
                  <a:srgbClr val="5B6574"/>
                </a:solidFill>
                <a:latin typeface="Arial"/>
                <a:ea typeface="Arial"/>
                <a:cs typeface="Arial"/>
              </a:rPr>
              <a:t>Stores owner, unlock time and ETH</a:t>
            </a:r>
          </a:p>
        </p:txBody>
      </p:sp>
      <p:cxnSp>
        <p:nvCxnSpPr>
          <p:cNvPr id="39" name=""/>
          <p:cNvCxnSpPr>
            <a:stCxn xmlns:a="http://schemas.openxmlformats.org/drawingml/2006/main" id="6" idx="3"/>
            <a:endCxn xmlns:a="http://schemas.openxmlformats.org/drawingml/2006/main" id="9" idx="1"/>
          </p:cNvCxnSpPr>
          <p:nvPr/>
        </p:nvCxnSpPr>
        <p:spPr>
          <a:xfrm xmlns:a="http://schemas.openxmlformats.org/drawingml/2006/main">
            <a:off x="2933700" y="2600325"/>
            <a:ext cx="447675" cy="0"/>
          </a:xfrm>
          <a:prstGeom xmlns:a="http://schemas.openxmlformats.org/drawingml/2006/main" prst="straightConnector1">
            <a:avLst/>
          </a:prstGeom>
          <a:ln xmlns:a="http://schemas.openxmlformats.org/drawingml/2006/main" w="19050">
            <a:solidFill>
              <a:srgbClr val="214F86"/>
            </a:solidFill>
            <a:prstDash val="solid"/>
            <a:tailEnd type="arrow" w="med" len="med"/>
          </a:ln>
        </p:spPr>
      </p:cxnSp>
      <p:cxnSp>
        <p:nvCxnSpPr>
          <p:cNvPr id="40" name=""/>
          <p:cNvCxnSpPr>
            <a:stCxn xmlns:a="http://schemas.openxmlformats.org/drawingml/2006/main" id="9" idx="3"/>
            <a:endCxn xmlns:a="http://schemas.openxmlformats.org/drawingml/2006/main" id="12" idx="1"/>
          </p:cNvCxnSpPr>
          <p:nvPr/>
        </p:nvCxnSpPr>
        <p:spPr>
          <a:xfrm xmlns:a="http://schemas.openxmlformats.org/drawingml/2006/main">
            <a:off x="5762625" y="2600325"/>
            <a:ext cx="447675" cy="0"/>
          </a:xfrm>
          <a:prstGeom xmlns:a="http://schemas.openxmlformats.org/drawingml/2006/main" prst="straightConnector1">
            <a:avLst/>
          </a:prstGeom>
          <a:ln xmlns:a="http://schemas.openxmlformats.org/drawingml/2006/main" w="19050">
            <a:solidFill>
              <a:srgbClr val="214F86"/>
            </a:solidFill>
            <a:prstDash val="solid"/>
            <a:tailEnd type="arrow" w="med" len="med"/>
          </a:ln>
        </p:spPr>
      </p:cxnSp>
      <p:cxnSp>
        <p:nvCxnSpPr>
          <p:cNvPr id="41" name=""/>
          <p:cNvCxnSpPr>
            <a:stCxn xmlns:a="http://schemas.openxmlformats.org/drawingml/2006/main" id="12" idx="3"/>
            <a:endCxn xmlns:a="http://schemas.openxmlformats.org/drawingml/2006/main" id="15" idx="1"/>
          </p:cNvCxnSpPr>
          <p:nvPr/>
        </p:nvCxnSpPr>
        <p:spPr>
          <a:xfrm xmlns:a="http://schemas.openxmlformats.org/drawingml/2006/main">
            <a:off x="8591550" y="2600325"/>
            <a:ext cx="447675" cy="0"/>
          </a:xfrm>
          <a:prstGeom xmlns:a="http://schemas.openxmlformats.org/drawingml/2006/main" prst="straightConnector1">
            <a:avLst/>
          </a:prstGeom>
          <a:ln xmlns:a="http://schemas.openxmlformats.org/drawingml/2006/main" w="19050">
            <a:solidFill>
              <a:srgbClr val="214F86"/>
            </a:solidFill>
            <a:prstDash val="solid"/>
            <a:tailEnd type="arrow" w="med" len="med"/>
          </a:ln>
        </p:spPr>
      </p:cxnSp>
      <p:sp>
        <p:nvSpPr>
          <p:cNvPr id="21" name="">
            <a:extLst xmlns:a="http://schemas.openxmlformats.org/drawingml/2006/main">
              <a:ext uri="{FF2B5EF4-FFF2-40B4-BE49-F238E27FC236}">
                <a16:creationId xmlns:a16="http://schemas.microsoft.com/office/drawing/2014/main" id="{01D44E62-CCAB-4452-B327-CB00347ECC74}"/>
              </a:ext>
            </a:extLst>
          </p:cNvPr>
          <p:cNvSpPr>
            <a:spLocks xmlns:a="http://schemas.openxmlformats.org/drawingml/2006/main" noGrp="1"/>
          </p:cNvSpPr>
          <p:nvPr/>
        </p:nvSpPr>
        <p:spPr>
          <a:xfrm xmlns:a="http://schemas.openxmlformats.org/drawingml/2006/main">
            <a:off x="1047750" y="4095750"/>
            <a:ext cx="10096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0">
                <a:solidFill>
                  <a:srgbClr val="214F86"/>
                </a:solidFill>
                <a:latin typeface="Arial"/>
                <a:ea typeface="Arial"/>
                <a:cs typeface="Arial"/>
              </a:defRPr>
            </a:pPr>
            <a:r>
              <a:rPr sz="1875" b="0">
                <a:solidFill>
                  <a:srgbClr val="214F86"/>
                </a:solidFill>
                <a:latin typeface="Arial"/>
                <a:ea typeface="Arial"/>
                <a:cs typeface="Arial"/>
              </a:rPr>
              <a:t>Reads show state without mining. Deploy, unlock and withdraw each create a wallet confirmation and a receipt.</a:t>
            </a:r>
          </a:p>
        </p:txBody>
      </p:sp>
    </p:spTree>
    <p:extLst>
      <p:ext uri="{BB962C8B-B14F-4D97-AF65-F5344CB8AC3E}">
        <p14:creationId xmlns:p14="http://schemas.microsoft.com/office/powerpoint/2010/main" val="210006944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F87A246-8075-4FBE-B531-CA44FBB72BA3}"/>
              </a:ext>
            </a:extLst>
          </p:cNvPr>
          <p:cNvSpPr>
            <a:spLocks xmlns:a="http://schemas.openxmlformats.org/drawingml/2006/main" noGrp="1"/>
          </p:cNvSpPr>
          <p:nvPr/>
        </p:nvSpPr>
        <p:spPr>
          <a:xfrm xmlns:a="http://schemas.openxmlformats.org/drawingml/2006/main">
            <a:off x="628650" y="3048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925" b="0">
                <a:solidFill>
                  <a:srgbClr val="000000"/>
                </a:solidFill>
                <a:latin typeface="Arial"/>
                <a:ea typeface="Arial"/>
                <a:cs typeface="Arial"/>
              </a:defRPr>
            </a:pPr>
            <a:r>
              <a:rPr sz="2925" b="0">
                <a:solidFill>
                  <a:srgbClr val="000000"/>
                </a:solidFill>
                <a:latin typeface="Arial"/>
                <a:ea typeface="Arial"/>
                <a:cs typeface="Arial"/>
              </a:rPr>
              <a:t>Lock live demo with MetaMask</a:t>
            </a:r>
          </a:p>
        </p:txBody>
      </p:sp>
      <p:sp>
        <p:nvSpPr>
          <p:cNvPr id="2" name="">
            <a:extLst xmlns:a="http://schemas.openxmlformats.org/drawingml/2006/main">
              <a:ext uri="{FF2B5EF4-FFF2-40B4-BE49-F238E27FC236}">
                <a16:creationId xmlns:a16="http://schemas.microsoft.com/office/drawing/2014/main" id="{D53A5499-A5B8-4C8B-84C1-0CDE1C6AB2A0}"/>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8266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00DB684-6064-4675-8BAC-7C1FD45FE11B}"/>
              </a:ext>
            </a:extLst>
          </p:cNvPr>
          <p:cNvSpPr>
            <a:spLocks xmlns:a="http://schemas.openxmlformats.org/drawingml/2006/main" noGrp="1"/>
          </p:cNvSpPr>
          <p:nvPr/>
        </p:nvSpPr>
        <p:spPr>
          <a:xfrm xmlns:a="http://schemas.openxmlformats.org/drawingml/2006/main">
            <a:off x="11049000" y="6781800"/>
            <a:ext cx="1143000" cy="76200"/>
          </a:xfrm>
          <a:prstGeom xmlns:a="http://schemas.openxmlformats.org/drawingml/2006/main" prst="rect">
            <a:avLst/>
          </a:prstGeom>
          <a:solidFill xmlns:a="http://schemas.openxmlformats.org/drawingml/2006/main">
            <a:srgbClr val="E3193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7737B91-C07C-4F5D-8AC2-76C382CAEE0B}"/>
              </a:ext>
            </a:extLst>
          </p:cNvPr>
          <p:cNvSpPr>
            <a:spLocks xmlns:a="http://schemas.openxmlformats.org/drawingml/2006/main" noGrp="1"/>
          </p:cNvSpPr>
          <p:nvPr/>
        </p:nvSpPr>
        <p:spPr>
          <a:xfrm xmlns:a="http://schemas.openxmlformats.org/drawingml/2006/main">
            <a:off x="685800" y="6553200"/>
            <a:ext cx="514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FFFFFF"/>
                </a:solidFill>
                <a:latin typeface="Arial"/>
                <a:ea typeface="Arial"/>
                <a:cs typeface="Arial"/>
              </a:defRPr>
            </a:pPr>
            <a:r>
              <a:rPr sz="825" b="1">
                <a:solidFill>
                  <a:srgbClr val="FFFFFF"/>
                </a:solidFill>
                <a:latin typeface="Arial"/>
                <a:ea typeface="Arial"/>
                <a:cs typeface="Arial"/>
              </a:rPr>
              <a:t>NANYANG TECHNOLOGICAL UNIVERSITY | SINGAPORE</a:t>
            </a:r>
          </a:p>
        </p:txBody>
      </p:sp>
      <p:sp>
        <p:nvSpPr>
          <p:cNvPr id="5" name="">
            <a:extLst xmlns:a="http://schemas.openxmlformats.org/drawingml/2006/main">
              <a:ext uri="{FF2B5EF4-FFF2-40B4-BE49-F238E27FC236}">
                <a16:creationId xmlns:a16="http://schemas.microsoft.com/office/drawing/2014/main" id="{CF126ECE-2214-43A2-9EA3-A8A03D26E3D6}"/>
              </a:ext>
            </a:extLst>
          </p:cNvPr>
          <p:cNvSpPr>
            <a:spLocks xmlns:a="http://schemas.openxmlformats.org/drawingml/2006/main" noGrp="1"/>
          </p:cNvSpPr>
          <p:nvPr/>
        </p:nvSpPr>
        <p:spPr>
          <a:xfrm xmlns:a="http://schemas.openxmlformats.org/drawingml/2006/main">
            <a:off x="11506200" y="65436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defRPr sz="1200" b="1">
                <a:solidFill>
                  <a:srgbClr val="FFFFFF"/>
                </a:solidFill>
                <a:latin typeface="Arial"/>
                <a:ea typeface="Arial"/>
                <a:cs typeface="Arial"/>
              </a:defRPr>
            </a:pPr>
            <a:r>
              <a:rPr sz="1200" b="1">
                <a:solidFill>
                  <a:srgbClr val="FFFFFF"/>
                </a:solidFill>
                <a:latin typeface="Arial"/>
                <a:ea typeface="Arial"/>
                <a:cs typeface="Arial"/>
              </a:rPr>
              <a:t>19</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1c381e053f244de"/>
          <a:stretch xmlns:a="http://schemas.openxmlformats.org/drawingml/2006/main"/>
        </p:blipFill>
        <p:spPr>
          <a:xfrm xmlns:a="http://schemas.openxmlformats.org/drawingml/2006/main">
            <a:off x="8286750" y="1524000"/>
            <a:ext cx="2571750" cy="23145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F96A5ED-492C-482A-ACD6-ED53A1D5766C}"/>
              </a:ext>
            </a:extLst>
          </p:cNvPr>
          <p:cNvSpPr>
            <a:spLocks xmlns:a="http://schemas.openxmlformats.org/drawingml/2006/main" noGrp="1"/>
          </p:cNvSpPr>
          <p:nvPr/>
        </p:nvSpPr>
        <p:spPr>
          <a:xfrm xmlns:a="http://schemas.openxmlformats.org/drawingml/2006/main">
            <a:off x="819150" y="1409700"/>
            <a:ext cx="657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214F86"/>
                </a:solidFill>
                <a:latin typeface="Arial"/>
                <a:ea typeface="Arial"/>
                <a:cs typeface="Arial"/>
              </a:defRPr>
            </a:pPr>
            <a:r>
              <a:rPr sz="1875" b="1">
                <a:solidFill>
                  <a:srgbClr val="214F86"/>
                </a:solidFill>
                <a:latin typeface="Arial"/>
                <a:ea typeface="Arial"/>
                <a:cs typeface="Arial"/>
              </a:rPr>
              <a:t>1  Connect to Localhost 8545, chain ID 31337</a:t>
            </a:r>
          </a:p>
        </p:txBody>
      </p:sp>
      <p:sp>
        <p:nvSpPr>
          <p:cNvPr id="8" name="">
            <a:extLst xmlns:a="http://schemas.openxmlformats.org/drawingml/2006/main">
              <a:ext uri="{FF2B5EF4-FFF2-40B4-BE49-F238E27FC236}">
                <a16:creationId xmlns:a16="http://schemas.microsoft.com/office/drawing/2014/main" id="{64B4E3AA-C2E5-4DB1-967E-BCC3C5D6538E}"/>
              </a:ext>
            </a:extLst>
          </p:cNvPr>
          <p:cNvSpPr>
            <a:spLocks xmlns:a="http://schemas.openxmlformats.org/drawingml/2006/main" noGrp="1"/>
          </p:cNvSpPr>
          <p:nvPr/>
        </p:nvSpPr>
        <p:spPr>
          <a:xfrm xmlns:a="http://schemas.openxmlformats.org/drawingml/2006/main">
            <a:off x="819150" y="2286000"/>
            <a:ext cx="657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0">
                <a:solidFill>
                  <a:srgbClr val="171717"/>
                </a:solidFill>
                <a:latin typeface="Arial"/>
                <a:ea typeface="Arial"/>
                <a:cs typeface="Arial"/>
              </a:defRPr>
            </a:pPr>
            <a:r>
              <a:rPr sz="1875" b="0">
                <a:solidFill>
                  <a:srgbClr val="171717"/>
                </a:solidFill>
                <a:latin typeface="Arial"/>
                <a:ea typeface="Arial"/>
                <a:cs typeface="Arial"/>
              </a:rPr>
              <a:t>2  Deploy with a future UTC time and small wei value</a:t>
            </a:r>
          </a:p>
        </p:txBody>
      </p:sp>
      <p:sp>
        <p:nvSpPr>
          <p:cNvPr id="9" name="">
            <a:extLst xmlns:a="http://schemas.openxmlformats.org/drawingml/2006/main">
              <a:ext uri="{FF2B5EF4-FFF2-40B4-BE49-F238E27FC236}">
                <a16:creationId xmlns:a16="http://schemas.microsoft.com/office/drawing/2014/main" id="{4984E847-2133-42D3-806B-2F2B7FEC63A6}"/>
              </a:ext>
            </a:extLst>
          </p:cNvPr>
          <p:cNvSpPr>
            <a:spLocks xmlns:a="http://schemas.openxmlformats.org/drawingml/2006/main" noGrp="1"/>
          </p:cNvSpPr>
          <p:nvPr/>
        </p:nvSpPr>
        <p:spPr>
          <a:xfrm xmlns:a="http://schemas.openxmlformats.org/drawingml/2006/main">
            <a:off x="819150" y="3162300"/>
            <a:ext cx="657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0">
                <a:solidFill>
                  <a:srgbClr val="171717"/>
                </a:solidFill>
                <a:latin typeface="Arial"/>
                <a:ea typeface="Arial"/>
                <a:cs typeface="Arial"/>
              </a:defRPr>
            </a:pPr>
            <a:r>
              <a:rPr sz="1875" b="0">
                <a:solidFill>
                  <a:srgbClr val="171717"/>
                </a:solidFill>
                <a:latin typeface="Arial"/>
                <a:ea typeface="Arial"/>
                <a:cs typeface="Arial"/>
              </a:rPr>
              <a:t>3  Confirm owner unlock and withdrawal</a:t>
            </a:r>
          </a:p>
        </p:txBody>
      </p:sp>
      <p:sp>
        <p:nvSpPr>
          <p:cNvPr id="10" name="">
            <a:extLst xmlns:a="http://schemas.openxmlformats.org/drawingml/2006/main">
              <a:ext uri="{FF2B5EF4-FFF2-40B4-BE49-F238E27FC236}">
                <a16:creationId xmlns:a16="http://schemas.microsoft.com/office/drawing/2014/main" id="{7EE639C0-4D27-457C-AA13-3A67DB8E3146}"/>
              </a:ext>
            </a:extLst>
          </p:cNvPr>
          <p:cNvSpPr>
            <a:spLocks xmlns:a="http://schemas.openxmlformats.org/drawingml/2006/main" noGrp="1"/>
          </p:cNvSpPr>
          <p:nvPr/>
        </p:nvSpPr>
        <p:spPr>
          <a:xfrm xmlns:a="http://schemas.openxmlformats.org/drawingml/2006/main">
            <a:off x="819150" y="4038600"/>
            <a:ext cx="657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0">
                <a:solidFill>
                  <a:srgbClr val="171717"/>
                </a:solidFill>
                <a:latin typeface="Arial"/>
                <a:ea typeface="Arial"/>
                <a:cs typeface="Arial"/>
              </a:defRPr>
            </a:pPr>
            <a:r>
              <a:rPr sz="1875" b="0">
                <a:solidFill>
                  <a:srgbClr val="171717"/>
                </a:solidFill>
                <a:latin typeface="Arial"/>
                <a:ea typeface="Arial"/>
                <a:cs typeface="Arial"/>
              </a:rPr>
              <a:t>4  Verify the contract balance becomes zero</a:t>
            </a:r>
          </a:p>
        </p:txBody>
      </p:sp>
      <p:sp>
        <p:nvSpPr>
          <p:cNvPr id="11" name="">
            <a:extLst xmlns:a="http://schemas.openxmlformats.org/drawingml/2006/main">
              <a:ext uri="{FF2B5EF4-FFF2-40B4-BE49-F238E27FC236}">
                <a16:creationId xmlns:a16="http://schemas.microsoft.com/office/drawing/2014/main" id="{59329460-F913-4229-9F43-481198D5F43F}"/>
              </a:ext>
            </a:extLst>
          </p:cNvPr>
          <p:cNvSpPr>
            <a:spLocks xmlns:a="http://schemas.openxmlformats.org/drawingml/2006/main" noGrp="1"/>
          </p:cNvSpPr>
          <p:nvPr/>
        </p:nvSpPr>
        <p:spPr>
          <a:xfrm xmlns:a="http://schemas.openxmlformats.org/drawingml/2006/main">
            <a:off x="990600" y="5238750"/>
            <a:ext cx="1009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214F86"/>
                </a:solidFill>
                <a:latin typeface="Arial"/>
                <a:ea typeface="Arial"/>
                <a:cs typeface="Arial"/>
              </a:defRPr>
            </a:pPr>
            <a:r>
              <a:rPr sz="1950" b="1">
                <a:solidFill>
                  <a:srgbClr val="214F86"/>
                </a:solidFill>
                <a:latin typeface="Arial"/>
                <a:ea typeface="Arial"/>
                <a:cs typeface="Arial"/>
              </a:rPr>
              <a:t>Every write has two visible stages: wallet approval and mined confirmation.</a:t>
            </a:r>
          </a:p>
        </p:txBody>
      </p:sp>
    </p:spTree>
    <p:extLst>
      <p:ext uri="{BB962C8B-B14F-4D97-AF65-F5344CB8AC3E}">
        <p14:creationId xmlns:p14="http://schemas.microsoft.com/office/powerpoint/2010/main" val="204645208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C982E30-C705-4834-B7C9-1C5CFCB33723}"/>
              </a:ext>
            </a:extLst>
          </p:cNvPr>
          <p:cNvSpPr>
            <a:spLocks xmlns:a="http://schemas.openxmlformats.org/drawingml/2006/main" noGrp="1"/>
          </p:cNvSpPr>
          <p:nvPr/>
        </p:nvSpPr>
        <p:spPr>
          <a:xfrm xmlns:a="http://schemas.openxmlformats.org/drawingml/2006/main">
            <a:off x="628650" y="3048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925" b="0">
                <a:solidFill>
                  <a:srgbClr val="000000"/>
                </a:solidFill>
                <a:latin typeface="Arial"/>
                <a:ea typeface="Arial"/>
                <a:cs typeface="Arial"/>
              </a:defRPr>
            </a:pPr>
            <a:r>
              <a:rPr sz="2925" b="0">
                <a:solidFill>
                  <a:srgbClr val="000000"/>
                </a:solidFill>
                <a:latin typeface="Arial"/>
                <a:ea typeface="Arial"/>
                <a:cs typeface="Arial"/>
              </a:rPr>
              <a:t>Election frontend and backend</a:t>
            </a:r>
          </a:p>
        </p:txBody>
      </p:sp>
      <p:sp>
        <p:nvSpPr>
          <p:cNvPr id="2" name="">
            <a:extLst xmlns:a="http://schemas.openxmlformats.org/drawingml/2006/main">
              <a:ext uri="{FF2B5EF4-FFF2-40B4-BE49-F238E27FC236}">
                <a16:creationId xmlns:a16="http://schemas.microsoft.com/office/drawing/2014/main" id="{CF3695BA-A90F-4429-A8A0-1752EA48115D}"/>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8266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94A6AFA-D78F-4653-A98E-BFF5B50646B9}"/>
              </a:ext>
            </a:extLst>
          </p:cNvPr>
          <p:cNvSpPr>
            <a:spLocks xmlns:a="http://schemas.openxmlformats.org/drawingml/2006/main" noGrp="1"/>
          </p:cNvSpPr>
          <p:nvPr/>
        </p:nvSpPr>
        <p:spPr>
          <a:xfrm xmlns:a="http://schemas.openxmlformats.org/drawingml/2006/main">
            <a:off x="11049000" y="6781800"/>
            <a:ext cx="1143000" cy="76200"/>
          </a:xfrm>
          <a:prstGeom xmlns:a="http://schemas.openxmlformats.org/drawingml/2006/main" prst="rect">
            <a:avLst/>
          </a:prstGeom>
          <a:solidFill xmlns:a="http://schemas.openxmlformats.org/drawingml/2006/main">
            <a:srgbClr val="E3193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4C9B8F7-5333-4EC9-9F2C-D0A41CFDC914}"/>
              </a:ext>
            </a:extLst>
          </p:cNvPr>
          <p:cNvSpPr>
            <a:spLocks xmlns:a="http://schemas.openxmlformats.org/drawingml/2006/main" noGrp="1"/>
          </p:cNvSpPr>
          <p:nvPr/>
        </p:nvSpPr>
        <p:spPr>
          <a:xfrm xmlns:a="http://schemas.openxmlformats.org/drawingml/2006/main">
            <a:off x="685800" y="6553200"/>
            <a:ext cx="514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FFFFFF"/>
                </a:solidFill>
                <a:latin typeface="Arial"/>
                <a:ea typeface="Arial"/>
                <a:cs typeface="Arial"/>
              </a:defRPr>
            </a:pPr>
            <a:r>
              <a:rPr sz="825" b="1">
                <a:solidFill>
                  <a:srgbClr val="FFFFFF"/>
                </a:solidFill>
                <a:latin typeface="Arial"/>
                <a:ea typeface="Arial"/>
                <a:cs typeface="Arial"/>
              </a:rPr>
              <a:t>NANYANG TECHNOLOGICAL UNIVERSITY | SINGAPORE</a:t>
            </a:r>
          </a:p>
        </p:txBody>
      </p:sp>
      <p:sp>
        <p:nvSpPr>
          <p:cNvPr id="5" name="">
            <a:extLst xmlns:a="http://schemas.openxmlformats.org/drawingml/2006/main">
              <a:ext uri="{FF2B5EF4-FFF2-40B4-BE49-F238E27FC236}">
                <a16:creationId xmlns:a16="http://schemas.microsoft.com/office/drawing/2014/main" id="{1178EF59-D636-487B-BAF2-3BA13590E510}"/>
              </a:ext>
            </a:extLst>
          </p:cNvPr>
          <p:cNvSpPr>
            <a:spLocks xmlns:a="http://schemas.openxmlformats.org/drawingml/2006/main" noGrp="1"/>
          </p:cNvSpPr>
          <p:nvPr/>
        </p:nvSpPr>
        <p:spPr>
          <a:xfrm xmlns:a="http://schemas.openxmlformats.org/drawingml/2006/main">
            <a:off x="11506200" y="65436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defRPr sz="1200" b="1">
                <a:solidFill>
                  <a:srgbClr val="FFFFFF"/>
                </a:solidFill>
                <a:latin typeface="Arial"/>
                <a:ea typeface="Arial"/>
                <a:cs typeface="Arial"/>
              </a:defRPr>
            </a:pPr>
            <a:r>
              <a:rPr sz="1200" b="1">
                <a:solidFill>
                  <a:srgbClr val="FFFFFF"/>
                </a:solidFill>
                <a:latin typeface="Arial"/>
                <a:ea typeface="Arial"/>
                <a:cs typeface="Arial"/>
              </a:rPr>
              <a:t>20</a:t>
            </a:r>
          </a:p>
        </p:txBody>
      </p:sp>
      <p:sp>
        <p:nvSpPr>
          <p:cNvPr id="6" name="">
            <a:extLst xmlns:a="http://schemas.openxmlformats.org/drawingml/2006/main">
              <a:ext uri="{FF2B5EF4-FFF2-40B4-BE49-F238E27FC236}">
                <a16:creationId xmlns:a16="http://schemas.microsoft.com/office/drawing/2014/main" id="{808252F7-D59F-4B39-AFDE-94FACF9B8E02}"/>
              </a:ext>
            </a:extLst>
          </p:cNvPr>
          <p:cNvSpPr>
            <a:spLocks xmlns:a="http://schemas.openxmlformats.org/drawingml/2006/main" noGrp="1"/>
          </p:cNvSpPr>
          <p:nvPr/>
        </p:nvSpPr>
        <p:spPr>
          <a:xfrm xmlns:a="http://schemas.openxmlformats.org/drawingml/2006/main">
            <a:off x="552450" y="2000250"/>
            <a:ext cx="2381250" cy="12001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1473B8"/>
            </a:solidFill>
            <a:prstDash val="solid"/>
          </a:ln>
        </p:spPr>
      </p:sp>
      <p:sp>
        <p:nvSpPr>
          <p:cNvPr id="7" name="">
            <a:extLst xmlns:a="http://schemas.openxmlformats.org/drawingml/2006/main">
              <a:ext uri="{FF2B5EF4-FFF2-40B4-BE49-F238E27FC236}">
                <a16:creationId xmlns:a16="http://schemas.microsoft.com/office/drawing/2014/main" id="{61D44123-8BDB-4FA6-B44E-A93405E24182}"/>
              </a:ext>
            </a:extLst>
          </p:cNvPr>
          <p:cNvSpPr>
            <a:spLocks xmlns:a="http://schemas.openxmlformats.org/drawingml/2006/main" noGrp="1"/>
          </p:cNvSpPr>
          <p:nvPr/>
        </p:nvSpPr>
        <p:spPr>
          <a:xfrm xmlns:a="http://schemas.openxmlformats.org/drawingml/2006/main">
            <a:off x="666750" y="2133600"/>
            <a:ext cx="2152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defRPr sz="1800" b="1">
                <a:solidFill>
                  <a:srgbClr val="1473B8"/>
                </a:solidFill>
                <a:latin typeface="Arial"/>
                <a:ea typeface="Arial"/>
                <a:cs typeface="Arial"/>
              </a:defRPr>
            </a:pPr>
            <a:r>
              <a:rPr sz="1800" b="1">
                <a:solidFill>
                  <a:srgbClr val="1473B8"/>
                </a:solidFill>
                <a:latin typeface="Arial"/>
                <a:ea typeface="Arial"/>
                <a:cs typeface="Arial"/>
              </a:rPr>
              <a:t>Original React UI</a:t>
            </a:r>
          </a:p>
        </p:txBody>
      </p:sp>
      <p:sp>
        <p:nvSpPr>
          <p:cNvPr id="8" name="">
            <a:extLst xmlns:a="http://schemas.openxmlformats.org/drawingml/2006/main">
              <a:ext uri="{FF2B5EF4-FFF2-40B4-BE49-F238E27FC236}">
                <a16:creationId xmlns:a16="http://schemas.microsoft.com/office/drawing/2014/main" id="{5A3865AD-8A54-4E49-A68D-1183A872AF01}"/>
              </a:ext>
            </a:extLst>
          </p:cNvPr>
          <p:cNvSpPr>
            <a:spLocks xmlns:a="http://schemas.openxmlformats.org/drawingml/2006/main" noGrp="1"/>
          </p:cNvSpPr>
          <p:nvPr/>
        </p:nvSpPr>
        <p:spPr>
          <a:xfrm xmlns:a="http://schemas.openxmlformats.org/drawingml/2006/main">
            <a:off x="666750" y="2514600"/>
            <a:ext cx="2152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B6574"/>
                </a:solidFill>
                <a:latin typeface="Arial"/>
                <a:ea typeface="Arial"/>
                <a:cs typeface="Arial"/>
              </a:defRPr>
            </a:pPr>
            <a:r>
              <a:rPr sz="1275" b="0">
                <a:solidFill>
                  <a:srgbClr val="5B6574"/>
                </a:solidFill>
                <a:latin typeface="Arial"/>
                <a:ea typeface="Arial"/>
                <a:cs typeface="Arial"/>
              </a:rPr>
              <a:t>Forms and route navigation</a:t>
            </a:r>
          </a:p>
        </p:txBody>
      </p:sp>
      <p:sp>
        <p:nvSpPr>
          <p:cNvPr id="9" name="">
            <a:extLst xmlns:a="http://schemas.openxmlformats.org/drawingml/2006/main">
              <a:ext uri="{FF2B5EF4-FFF2-40B4-BE49-F238E27FC236}">
                <a16:creationId xmlns:a16="http://schemas.microsoft.com/office/drawing/2014/main" id="{65C03170-7FB8-42AF-B957-7D126558ECD6}"/>
              </a:ext>
            </a:extLst>
          </p:cNvPr>
          <p:cNvSpPr>
            <a:spLocks xmlns:a="http://schemas.openxmlformats.org/drawingml/2006/main" noGrp="1"/>
          </p:cNvSpPr>
          <p:nvPr/>
        </p:nvSpPr>
        <p:spPr>
          <a:xfrm xmlns:a="http://schemas.openxmlformats.org/drawingml/2006/main">
            <a:off x="3381375" y="2000250"/>
            <a:ext cx="2381250" cy="12001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5B4B9A"/>
            </a:solidFill>
            <a:prstDash val="solid"/>
          </a:ln>
        </p:spPr>
      </p:sp>
      <p:sp>
        <p:nvSpPr>
          <p:cNvPr id="10" name="">
            <a:extLst xmlns:a="http://schemas.openxmlformats.org/drawingml/2006/main">
              <a:ext uri="{FF2B5EF4-FFF2-40B4-BE49-F238E27FC236}">
                <a16:creationId xmlns:a16="http://schemas.microsoft.com/office/drawing/2014/main" id="{8B74E92D-2164-4403-9F2E-CB8B35C31B4D}"/>
              </a:ext>
            </a:extLst>
          </p:cNvPr>
          <p:cNvSpPr>
            <a:spLocks xmlns:a="http://schemas.openxmlformats.org/drawingml/2006/main" noGrp="1"/>
          </p:cNvSpPr>
          <p:nvPr/>
        </p:nvSpPr>
        <p:spPr>
          <a:xfrm xmlns:a="http://schemas.openxmlformats.org/drawingml/2006/main">
            <a:off x="3495675" y="2133600"/>
            <a:ext cx="2152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defRPr sz="1800" b="1">
                <a:solidFill>
                  <a:srgbClr val="5B4B9A"/>
                </a:solidFill>
                <a:latin typeface="Arial"/>
                <a:ea typeface="Arial"/>
                <a:cs typeface="Arial"/>
              </a:defRPr>
            </a:pPr>
            <a:r>
              <a:rPr sz="1800" b="1">
                <a:solidFill>
                  <a:srgbClr val="5B4B9A"/>
                </a:solidFill>
                <a:latin typeface="Arial"/>
                <a:ea typeface="Arial"/>
                <a:cs typeface="Arial"/>
              </a:rPr>
              <a:t>Express API</a:t>
            </a:r>
          </a:p>
        </p:txBody>
      </p:sp>
      <p:sp>
        <p:nvSpPr>
          <p:cNvPr id="11" name="">
            <a:extLst xmlns:a="http://schemas.openxmlformats.org/drawingml/2006/main">
              <a:ext uri="{FF2B5EF4-FFF2-40B4-BE49-F238E27FC236}">
                <a16:creationId xmlns:a16="http://schemas.microsoft.com/office/drawing/2014/main" id="{CCBE7476-3B53-4E64-A216-098335838B6E}"/>
              </a:ext>
            </a:extLst>
          </p:cNvPr>
          <p:cNvSpPr>
            <a:spLocks xmlns:a="http://schemas.openxmlformats.org/drawingml/2006/main" noGrp="1"/>
          </p:cNvSpPr>
          <p:nvPr/>
        </p:nvSpPr>
        <p:spPr>
          <a:xfrm xmlns:a="http://schemas.openxmlformats.org/drawingml/2006/main">
            <a:off x="3495675" y="2514600"/>
            <a:ext cx="2152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B6574"/>
                </a:solidFill>
                <a:latin typeface="Arial"/>
                <a:ea typeface="Arial"/>
                <a:cs typeface="Arial"/>
              </a:defRPr>
            </a:pPr>
            <a:r>
              <a:rPr sz="1275" b="0">
                <a:solidFill>
                  <a:srgbClr val="5B6574"/>
                </a:solidFill>
                <a:latin typeface="Arial"/>
                <a:ea typeface="Arial"/>
                <a:cs typeface="Arial"/>
              </a:rPr>
              <a:t>Validates HTTP input and selects actions</a:t>
            </a:r>
          </a:p>
        </p:txBody>
      </p:sp>
      <p:sp>
        <p:nvSpPr>
          <p:cNvPr id="12" name="">
            <a:extLst xmlns:a="http://schemas.openxmlformats.org/drawingml/2006/main">
              <a:ext uri="{FF2B5EF4-FFF2-40B4-BE49-F238E27FC236}">
                <a16:creationId xmlns:a16="http://schemas.microsoft.com/office/drawing/2014/main" id="{D7B04D37-DC72-4C42-BA43-F70C88280CDA}"/>
              </a:ext>
            </a:extLst>
          </p:cNvPr>
          <p:cNvSpPr>
            <a:spLocks xmlns:a="http://schemas.openxmlformats.org/drawingml/2006/main" noGrp="1"/>
          </p:cNvSpPr>
          <p:nvPr/>
        </p:nvSpPr>
        <p:spPr>
          <a:xfrm xmlns:a="http://schemas.openxmlformats.org/drawingml/2006/main">
            <a:off x="6210300" y="2000250"/>
            <a:ext cx="2381250" cy="12001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E31937"/>
            </a:solidFill>
            <a:prstDash val="solid"/>
          </a:ln>
        </p:spPr>
      </p:sp>
      <p:sp>
        <p:nvSpPr>
          <p:cNvPr id="13" name="">
            <a:extLst xmlns:a="http://schemas.openxmlformats.org/drawingml/2006/main">
              <a:ext uri="{FF2B5EF4-FFF2-40B4-BE49-F238E27FC236}">
                <a16:creationId xmlns:a16="http://schemas.microsoft.com/office/drawing/2014/main" id="{DD0418B0-F6F8-419B-B1FE-A350B405C71F}"/>
              </a:ext>
            </a:extLst>
          </p:cNvPr>
          <p:cNvSpPr>
            <a:spLocks xmlns:a="http://schemas.openxmlformats.org/drawingml/2006/main" noGrp="1"/>
          </p:cNvSpPr>
          <p:nvPr/>
        </p:nvSpPr>
        <p:spPr>
          <a:xfrm xmlns:a="http://schemas.openxmlformats.org/drawingml/2006/main">
            <a:off x="6324600" y="2133600"/>
            <a:ext cx="2152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defRPr sz="1800" b="1">
                <a:solidFill>
                  <a:srgbClr val="E31937"/>
                </a:solidFill>
                <a:latin typeface="Arial"/>
                <a:ea typeface="Arial"/>
                <a:cs typeface="Arial"/>
              </a:defRPr>
            </a:pPr>
            <a:r>
              <a:rPr sz="1800" b="1">
                <a:solidFill>
                  <a:srgbClr val="E31937"/>
                </a:solidFill>
                <a:latin typeface="Arial"/>
                <a:ea typeface="Arial"/>
                <a:cs typeface="Arial"/>
              </a:rPr>
              <a:t>Server Web3</a:t>
            </a:r>
          </a:p>
        </p:txBody>
      </p:sp>
      <p:sp>
        <p:nvSpPr>
          <p:cNvPr id="14" name="">
            <a:extLst xmlns:a="http://schemas.openxmlformats.org/drawingml/2006/main">
              <a:ext uri="{FF2B5EF4-FFF2-40B4-BE49-F238E27FC236}">
                <a16:creationId xmlns:a16="http://schemas.microsoft.com/office/drawing/2014/main" id="{C9B4C219-E8DD-4E5A-9E67-8ECE22C2F5CA}"/>
              </a:ext>
            </a:extLst>
          </p:cNvPr>
          <p:cNvSpPr>
            <a:spLocks xmlns:a="http://schemas.openxmlformats.org/drawingml/2006/main" noGrp="1"/>
          </p:cNvSpPr>
          <p:nvPr/>
        </p:nvSpPr>
        <p:spPr>
          <a:xfrm xmlns:a="http://schemas.openxmlformats.org/drawingml/2006/main">
            <a:off x="6324600" y="2514600"/>
            <a:ext cx="2152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B6574"/>
                </a:solidFill>
                <a:latin typeface="Arial"/>
                <a:ea typeface="Arial"/>
                <a:cs typeface="Arial"/>
              </a:defRPr>
            </a:pPr>
            <a:r>
              <a:rPr sz="1275" b="0">
                <a:solidFill>
                  <a:srgbClr val="5B6574"/>
                </a:solidFill>
                <a:latin typeface="Arial"/>
                <a:ea typeface="Arial"/>
                <a:cs typeface="Arial"/>
              </a:rPr>
              <a:t>Uses an unlocked local account</a:t>
            </a:r>
          </a:p>
        </p:txBody>
      </p:sp>
      <p:sp>
        <p:nvSpPr>
          <p:cNvPr id="15" name="">
            <a:extLst xmlns:a="http://schemas.openxmlformats.org/drawingml/2006/main">
              <a:ext uri="{FF2B5EF4-FFF2-40B4-BE49-F238E27FC236}">
                <a16:creationId xmlns:a16="http://schemas.microsoft.com/office/drawing/2014/main" id="{B248E06F-FBF4-439F-AEE5-C08A4BAEB761}"/>
              </a:ext>
            </a:extLst>
          </p:cNvPr>
          <p:cNvSpPr>
            <a:spLocks xmlns:a="http://schemas.openxmlformats.org/drawingml/2006/main" noGrp="1"/>
          </p:cNvSpPr>
          <p:nvPr/>
        </p:nvSpPr>
        <p:spPr>
          <a:xfrm xmlns:a="http://schemas.openxmlformats.org/drawingml/2006/main">
            <a:off x="9039225" y="2000250"/>
            <a:ext cx="2381250" cy="12001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00847E"/>
            </a:solidFill>
            <a:prstDash val="solid"/>
          </a:ln>
        </p:spPr>
      </p:sp>
      <p:sp>
        <p:nvSpPr>
          <p:cNvPr id="16" name="">
            <a:extLst xmlns:a="http://schemas.openxmlformats.org/drawingml/2006/main">
              <a:ext uri="{FF2B5EF4-FFF2-40B4-BE49-F238E27FC236}">
                <a16:creationId xmlns:a16="http://schemas.microsoft.com/office/drawing/2014/main" id="{C246C997-D8D9-4B11-82EC-1057A0857763}"/>
              </a:ext>
            </a:extLst>
          </p:cNvPr>
          <p:cNvSpPr>
            <a:spLocks xmlns:a="http://schemas.openxmlformats.org/drawingml/2006/main" noGrp="1"/>
          </p:cNvSpPr>
          <p:nvPr/>
        </p:nvSpPr>
        <p:spPr>
          <a:xfrm xmlns:a="http://schemas.openxmlformats.org/drawingml/2006/main">
            <a:off x="9153525" y="2133600"/>
            <a:ext cx="2152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defRPr sz="1800" b="1">
                <a:solidFill>
                  <a:srgbClr val="00847E"/>
                </a:solidFill>
                <a:latin typeface="Arial"/>
                <a:ea typeface="Arial"/>
                <a:cs typeface="Arial"/>
              </a:defRPr>
            </a:pPr>
            <a:r>
              <a:rPr sz="1800" b="1">
                <a:solidFill>
                  <a:srgbClr val="00847E"/>
                </a:solidFill>
                <a:latin typeface="Arial"/>
                <a:ea typeface="Arial"/>
                <a:cs typeface="Arial"/>
              </a:rPr>
              <a:t>Election contracts</a:t>
            </a:r>
          </a:p>
        </p:txBody>
      </p:sp>
      <p:sp>
        <p:nvSpPr>
          <p:cNvPr id="17" name="">
            <a:extLst xmlns:a="http://schemas.openxmlformats.org/drawingml/2006/main">
              <a:ext uri="{FF2B5EF4-FFF2-40B4-BE49-F238E27FC236}">
                <a16:creationId xmlns:a16="http://schemas.microsoft.com/office/drawing/2014/main" id="{EDCD6A76-6EBB-4923-A959-C535771028E9}"/>
              </a:ext>
            </a:extLst>
          </p:cNvPr>
          <p:cNvSpPr>
            <a:spLocks xmlns:a="http://schemas.openxmlformats.org/drawingml/2006/main" noGrp="1"/>
          </p:cNvSpPr>
          <p:nvPr/>
        </p:nvSpPr>
        <p:spPr>
          <a:xfrm xmlns:a="http://schemas.openxmlformats.org/drawingml/2006/main">
            <a:off x="9153525" y="2514600"/>
            <a:ext cx="2152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B6574"/>
                </a:solidFill>
                <a:latin typeface="Arial"/>
                <a:ea typeface="Arial"/>
                <a:cs typeface="Arial"/>
              </a:defRPr>
            </a:pPr>
            <a:r>
              <a:rPr sz="1275" b="0">
                <a:solidFill>
                  <a:srgbClr val="5B6574"/>
                </a:solidFill>
                <a:latin typeface="Arial"/>
                <a:ea typeface="Arial"/>
                <a:cs typeface="Arial"/>
              </a:rPr>
              <a:t>Factory plus per-election state</a:t>
            </a:r>
          </a:p>
        </p:txBody>
      </p:sp>
      <p:cxnSp>
        <p:nvCxnSpPr>
          <p:cNvPr id="39" name=""/>
          <p:cNvCxnSpPr>
            <a:stCxn xmlns:a="http://schemas.openxmlformats.org/drawingml/2006/main" id="6" idx="3"/>
            <a:endCxn xmlns:a="http://schemas.openxmlformats.org/drawingml/2006/main" id="9" idx="1"/>
          </p:cNvCxnSpPr>
          <p:nvPr/>
        </p:nvCxnSpPr>
        <p:spPr>
          <a:xfrm xmlns:a="http://schemas.openxmlformats.org/drawingml/2006/main">
            <a:off x="2933700" y="2600325"/>
            <a:ext cx="447675" cy="0"/>
          </a:xfrm>
          <a:prstGeom xmlns:a="http://schemas.openxmlformats.org/drawingml/2006/main" prst="straightConnector1">
            <a:avLst/>
          </a:prstGeom>
          <a:ln xmlns:a="http://schemas.openxmlformats.org/drawingml/2006/main" w="19050">
            <a:solidFill>
              <a:srgbClr val="214F86"/>
            </a:solidFill>
            <a:prstDash val="solid"/>
            <a:tailEnd type="arrow" w="med" len="med"/>
          </a:ln>
        </p:spPr>
      </p:cxnSp>
      <p:cxnSp>
        <p:nvCxnSpPr>
          <p:cNvPr id="40" name=""/>
          <p:cNvCxnSpPr>
            <a:stCxn xmlns:a="http://schemas.openxmlformats.org/drawingml/2006/main" id="9" idx="3"/>
            <a:endCxn xmlns:a="http://schemas.openxmlformats.org/drawingml/2006/main" id="12" idx="1"/>
          </p:cNvCxnSpPr>
          <p:nvPr/>
        </p:nvCxnSpPr>
        <p:spPr>
          <a:xfrm xmlns:a="http://schemas.openxmlformats.org/drawingml/2006/main">
            <a:off x="5762625" y="2600325"/>
            <a:ext cx="447675" cy="0"/>
          </a:xfrm>
          <a:prstGeom xmlns:a="http://schemas.openxmlformats.org/drawingml/2006/main" prst="straightConnector1">
            <a:avLst/>
          </a:prstGeom>
          <a:ln xmlns:a="http://schemas.openxmlformats.org/drawingml/2006/main" w="19050">
            <a:solidFill>
              <a:srgbClr val="214F86"/>
            </a:solidFill>
            <a:prstDash val="solid"/>
            <a:tailEnd type="arrow" w="med" len="med"/>
          </a:ln>
        </p:spPr>
      </p:cxnSp>
      <p:cxnSp>
        <p:nvCxnSpPr>
          <p:cNvPr id="41" name=""/>
          <p:cNvCxnSpPr>
            <a:stCxn xmlns:a="http://schemas.openxmlformats.org/drawingml/2006/main" id="12" idx="3"/>
            <a:endCxn xmlns:a="http://schemas.openxmlformats.org/drawingml/2006/main" id="15" idx="1"/>
          </p:cNvCxnSpPr>
          <p:nvPr/>
        </p:nvCxnSpPr>
        <p:spPr>
          <a:xfrm xmlns:a="http://schemas.openxmlformats.org/drawingml/2006/main">
            <a:off x="8591550" y="2600325"/>
            <a:ext cx="447675" cy="0"/>
          </a:xfrm>
          <a:prstGeom xmlns:a="http://schemas.openxmlformats.org/drawingml/2006/main" prst="straightConnector1">
            <a:avLst/>
          </a:prstGeom>
          <a:ln xmlns:a="http://schemas.openxmlformats.org/drawingml/2006/main" w="19050">
            <a:solidFill>
              <a:srgbClr val="214F86"/>
            </a:solidFill>
            <a:prstDash val="solid"/>
            <a:tailEnd type="arrow" w="med" len="med"/>
          </a:ln>
        </p:spPr>
      </p:cxnSp>
      <p:sp>
        <p:nvSpPr>
          <p:cNvPr id="21" name="">
            <a:extLst xmlns:a="http://schemas.openxmlformats.org/drawingml/2006/main">
              <a:ext uri="{FF2B5EF4-FFF2-40B4-BE49-F238E27FC236}">
                <a16:creationId xmlns:a16="http://schemas.microsoft.com/office/drawing/2014/main" id="{C51E2BB1-8BED-4A9D-8283-A004FFBAD1F8}"/>
              </a:ext>
            </a:extLst>
          </p:cNvPr>
          <p:cNvSpPr>
            <a:spLocks xmlns:a="http://schemas.openxmlformats.org/drawingml/2006/main" noGrp="1"/>
          </p:cNvSpPr>
          <p:nvPr/>
        </p:nvSpPr>
        <p:spPr>
          <a:xfrm xmlns:a="http://schemas.openxmlformats.org/drawingml/2006/main">
            <a:off x="876300" y="4171950"/>
            <a:ext cx="10439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214F86"/>
                </a:solidFill>
                <a:latin typeface="Arial"/>
                <a:ea typeface="Arial"/>
                <a:cs typeface="Arial"/>
              </a:defRPr>
            </a:pPr>
            <a:r>
              <a:rPr sz="2025" b="1">
                <a:solidFill>
                  <a:srgbClr val="214F86"/>
                </a:solidFill>
                <a:latin typeface="Arial"/>
                <a:ea typeface="Arial"/>
                <a:cs typeface="Arial"/>
              </a:rPr>
              <a:t>The student does not approve a wallet prompt. The backend chooses the sender and signs the transaction.</a:t>
            </a:r>
          </a:p>
        </p:txBody>
      </p:sp>
    </p:spTree>
    <p:extLst>
      <p:ext uri="{BB962C8B-B14F-4D97-AF65-F5344CB8AC3E}">
        <p14:creationId xmlns:p14="http://schemas.microsoft.com/office/powerpoint/2010/main" val="198235645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62C5E2B-F5A2-4E93-9C93-304127B64678}"/>
              </a:ext>
            </a:extLst>
          </p:cNvPr>
          <p:cNvSpPr>
            <a:spLocks xmlns:a="http://schemas.openxmlformats.org/drawingml/2006/main" noGrp="1"/>
          </p:cNvSpPr>
          <p:nvPr/>
        </p:nvSpPr>
        <p:spPr>
          <a:xfrm xmlns:a="http://schemas.openxmlformats.org/drawingml/2006/main">
            <a:off x="628650" y="3048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925" b="0">
                <a:solidFill>
                  <a:srgbClr val="000000"/>
                </a:solidFill>
                <a:latin typeface="Arial"/>
                <a:ea typeface="Arial"/>
                <a:cs typeface="Arial"/>
              </a:defRPr>
            </a:pPr>
            <a:r>
              <a:rPr sz="2925" b="0">
                <a:solidFill>
                  <a:srgbClr val="000000"/>
                </a:solidFill>
                <a:latin typeface="Arial"/>
                <a:ea typeface="Arial"/>
                <a:cs typeface="Arial"/>
              </a:rPr>
              <a:t>Election original UI demo</a:t>
            </a:r>
          </a:p>
        </p:txBody>
      </p:sp>
      <p:sp>
        <p:nvSpPr>
          <p:cNvPr id="2" name="">
            <a:extLst xmlns:a="http://schemas.openxmlformats.org/drawingml/2006/main">
              <a:ext uri="{FF2B5EF4-FFF2-40B4-BE49-F238E27FC236}">
                <a16:creationId xmlns:a16="http://schemas.microsoft.com/office/drawing/2014/main" id="{0724BB32-4D3E-4776-9B8D-34C64295C733}"/>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8266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99CE007-205C-468F-BFE8-FFB6EA7E0F59}"/>
              </a:ext>
            </a:extLst>
          </p:cNvPr>
          <p:cNvSpPr>
            <a:spLocks xmlns:a="http://schemas.openxmlformats.org/drawingml/2006/main" noGrp="1"/>
          </p:cNvSpPr>
          <p:nvPr/>
        </p:nvSpPr>
        <p:spPr>
          <a:xfrm xmlns:a="http://schemas.openxmlformats.org/drawingml/2006/main">
            <a:off x="11049000" y="6781800"/>
            <a:ext cx="1143000" cy="76200"/>
          </a:xfrm>
          <a:prstGeom xmlns:a="http://schemas.openxmlformats.org/drawingml/2006/main" prst="rect">
            <a:avLst/>
          </a:prstGeom>
          <a:solidFill xmlns:a="http://schemas.openxmlformats.org/drawingml/2006/main">
            <a:srgbClr val="E3193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C096479-DFC5-42CB-A078-56C77EF6D8F7}"/>
              </a:ext>
            </a:extLst>
          </p:cNvPr>
          <p:cNvSpPr>
            <a:spLocks xmlns:a="http://schemas.openxmlformats.org/drawingml/2006/main" noGrp="1"/>
          </p:cNvSpPr>
          <p:nvPr/>
        </p:nvSpPr>
        <p:spPr>
          <a:xfrm xmlns:a="http://schemas.openxmlformats.org/drawingml/2006/main">
            <a:off x="685800" y="6553200"/>
            <a:ext cx="514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FFFFFF"/>
                </a:solidFill>
                <a:latin typeface="Arial"/>
                <a:ea typeface="Arial"/>
                <a:cs typeface="Arial"/>
              </a:defRPr>
            </a:pPr>
            <a:r>
              <a:rPr sz="825" b="1">
                <a:solidFill>
                  <a:srgbClr val="FFFFFF"/>
                </a:solidFill>
                <a:latin typeface="Arial"/>
                <a:ea typeface="Arial"/>
                <a:cs typeface="Arial"/>
              </a:rPr>
              <a:t>NANYANG TECHNOLOGICAL UNIVERSITY | SINGAPORE</a:t>
            </a:r>
          </a:p>
        </p:txBody>
      </p:sp>
      <p:sp>
        <p:nvSpPr>
          <p:cNvPr id="5" name="">
            <a:extLst xmlns:a="http://schemas.openxmlformats.org/drawingml/2006/main">
              <a:ext uri="{FF2B5EF4-FFF2-40B4-BE49-F238E27FC236}">
                <a16:creationId xmlns:a16="http://schemas.microsoft.com/office/drawing/2014/main" id="{F8E56858-DF0F-4550-AEE5-87CAC4EEC1B7}"/>
              </a:ext>
            </a:extLst>
          </p:cNvPr>
          <p:cNvSpPr>
            <a:spLocks xmlns:a="http://schemas.openxmlformats.org/drawingml/2006/main" noGrp="1"/>
          </p:cNvSpPr>
          <p:nvPr/>
        </p:nvSpPr>
        <p:spPr>
          <a:xfrm xmlns:a="http://schemas.openxmlformats.org/drawingml/2006/main">
            <a:off x="11506200" y="65436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defRPr sz="1200" b="1">
                <a:solidFill>
                  <a:srgbClr val="FFFFFF"/>
                </a:solidFill>
                <a:latin typeface="Arial"/>
                <a:ea typeface="Arial"/>
                <a:cs typeface="Arial"/>
              </a:defRPr>
            </a:pPr>
            <a:r>
              <a:rPr sz="1200" b="1">
                <a:solidFill>
                  <a:srgbClr val="FFFFFF"/>
                </a:solidFill>
                <a:latin typeface="Arial"/>
                <a:ea typeface="Arial"/>
                <a:cs typeface="Arial"/>
              </a:rPr>
              <a:t>21</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b11fb9789144b72"/>
          <a:stretch xmlns:a="http://schemas.openxmlformats.org/drawingml/2006/main"/>
        </p:blipFill>
        <p:spPr>
          <a:xfrm xmlns:a="http://schemas.openxmlformats.org/drawingml/2006/main">
            <a:off x="6096000" y="2116455"/>
            <a:ext cx="5334000" cy="256794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13BEF3A-EBCC-4039-8640-1D81501B56D9}"/>
              </a:ext>
            </a:extLst>
          </p:cNvPr>
          <p:cNvSpPr>
            <a:spLocks xmlns:a="http://schemas.openxmlformats.org/drawingml/2006/main" noGrp="1"/>
          </p:cNvSpPr>
          <p:nvPr/>
        </p:nvSpPr>
        <p:spPr>
          <a:xfrm xmlns:a="http://schemas.openxmlformats.org/drawingml/2006/main">
            <a:off x="742950" y="1485900"/>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214F86"/>
                </a:solidFill>
                <a:latin typeface="Arial"/>
                <a:ea typeface="Arial"/>
                <a:cs typeface="Arial"/>
              </a:defRPr>
            </a:pPr>
            <a:r>
              <a:rPr sz="2250" b="1">
                <a:solidFill>
                  <a:srgbClr val="214F86"/>
                </a:solidFill>
                <a:latin typeface="Arial"/>
                <a:ea typeface="Arial"/>
                <a:cs typeface="Arial"/>
              </a:rPr>
              <a:t>Create an election</a:t>
            </a:r>
          </a:p>
        </p:txBody>
      </p:sp>
      <p:sp>
        <p:nvSpPr>
          <p:cNvPr id="8" name="">
            <a:extLst xmlns:a="http://schemas.openxmlformats.org/drawingml/2006/main">
              <a:ext uri="{FF2B5EF4-FFF2-40B4-BE49-F238E27FC236}">
                <a16:creationId xmlns:a16="http://schemas.microsoft.com/office/drawing/2014/main" id="{621EC6B9-69C4-4431-8895-691B07A58A9E}"/>
              </a:ext>
            </a:extLst>
          </p:cNvPr>
          <p:cNvSpPr>
            <a:spLocks xmlns:a="http://schemas.openxmlformats.org/drawingml/2006/main" noGrp="1"/>
          </p:cNvSpPr>
          <p:nvPr/>
        </p:nvSpPr>
        <p:spPr>
          <a:xfrm xmlns:a="http://schemas.openxmlformats.org/drawingml/2006/main">
            <a:off x="742950" y="2143125"/>
            <a:ext cx="4572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a:solidFill>
                  <a:srgbClr val="171717"/>
                </a:solidFill>
                <a:latin typeface="Arial"/>
                <a:ea typeface="Arial"/>
                <a:cs typeface="Arial"/>
              </a:defRPr>
            </a:pPr>
            <a:r>
              <a:rPr sz="1875" b="0">
                <a:solidFill>
                  <a:srgbClr val="171717"/>
                </a:solidFill>
                <a:latin typeface="Arial"/>
                <a:ea typeface="Arial"/>
                <a:cs typeface="Arial"/>
              </a:rPr>
              <a:t>Open its contract address</a:t>
            </a:r>
          </a:p>
          <a:p xmlns:a="http://schemas.openxmlformats.org/drawingml/2006/main">
            <a:r>
              <a:t/>
            </a:r>
          </a:p>
          <a:p xmlns:a="http://schemas.openxmlformats.org/drawingml/2006/main">
            <a:pPr>
              <a:defRPr sz="1875" b="0">
                <a:solidFill>
                  <a:srgbClr val="171717"/>
                </a:solidFill>
                <a:latin typeface="Arial"/>
                <a:ea typeface="Arial"/>
                <a:cs typeface="Arial"/>
              </a:defRPr>
            </a:pPr>
            <a:r>
              <a:rPr sz="1875" b="0">
                <a:solidFill>
                  <a:srgbClr val="171717"/>
                </a:solidFill>
                <a:latin typeface="Arial"/>
                <a:ea typeface="Arial"/>
                <a:cs typeface="Arial"/>
              </a:rPr>
              <a:t>Add a constituency</a:t>
            </a:r>
          </a:p>
          <a:p xmlns:a="http://schemas.openxmlformats.org/drawingml/2006/main">
            <a:r>
              <a:t/>
            </a:r>
          </a:p>
          <a:p xmlns:a="http://schemas.openxmlformats.org/drawingml/2006/main">
            <a:pPr>
              <a:defRPr sz="1875" b="0">
                <a:solidFill>
                  <a:srgbClr val="171717"/>
                </a:solidFill>
                <a:latin typeface="Arial"/>
                <a:ea typeface="Arial"/>
                <a:cs typeface="Arial"/>
              </a:defRPr>
            </a:pPr>
            <a:r>
              <a:rPr sz="1875" b="0">
                <a:solidFill>
                  <a:srgbClr val="171717"/>
                </a:solidFill>
                <a:latin typeface="Arial"/>
                <a:ea typeface="Arial"/>
                <a:cs typeface="Arial"/>
              </a:rPr>
              <a:t>Trace React → Express → Web3 → contract</a:t>
            </a:r>
          </a:p>
        </p:txBody>
      </p:sp>
      <p:sp>
        <p:nvSpPr>
          <p:cNvPr id="9" name="">
            <a:extLst xmlns:a="http://schemas.openxmlformats.org/drawingml/2006/main">
              <a:ext uri="{FF2B5EF4-FFF2-40B4-BE49-F238E27FC236}">
                <a16:creationId xmlns:a16="http://schemas.microsoft.com/office/drawing/2014/main" id="{C57C1E56-DB11-4B6D-AD9C-527890E81222}"/>
              </a:ext>
            </a:extLst>
          </p:cNvPr>
          <p:cNvSpPr>
            <a:spLocks xmlns:a="http://schemas.openxmlformats.org/drawingml/2006/main" noGrp="1"/>
          </p:cNvSpPr>
          <p:nvPr/>
        </p:nvSpPr>
        <p:spPr>
          <a:xfrm xmlns:a="http://schemas.openxmlformats.org/drawingml/2006/main">
            <a:off x="742950" y="495300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E31937"/>
                </a:solidFill>
                <a:latin typeface="Arial"/>
                <a:ea typeface="Arial"/>
                <a:cs typeface="Arial"/>
              </a:defRPr>
            </a:pPr>
            <a:r>
              <a:rPr sz="1725" b="1">
                <a:solidFill>
                  <a:srgbClr val="E31937"/>
                </a:solidFill>
                <a:latin typeface="Arial"/>
                <a:ea typeface="Arial"/>
                <a:cs typeface="Arial"/>
              </a:rPr>
              <a:t>Discuss the trust boundary: Express signs.</a:t>
            </a:r>
          </a:p>
        </p:txBody>
      </p:sp>
    </p:spTree>
    <p:extLst>
      <p:ext uri="{BB962C8B-B14F-4D97-AF65-F5344CB8AC3E}">
        <p14:creationId xmlns:p14="http://schemas.microsoft.com/office/powerpoint/2010/main" val="11036545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C97760C-EF8E-45B2-97C2-4268653E5357}"/>
              </a:ext>
            </a:extLst>
          </p:cNvPr>
          <p:cNvSpPr>
            <a:spLocks xmlns:a="http://schemas.openxmlformats.org/drawingml/2006/main" noGrp="1"/>
          </p:cNvSpPr>
          <p:nvPr/>
        </p:nvSpPr>
        <p:spPr>
          <a:xfrm xmlns:a="http://schemas.openxmlformats.org/drawingml/2006/main">
            <a:off x="628650" y="3048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925" b="0">
                <a:solidFill>
                  <a:srgbClr val="000000"/>
                </a:solidFill>
                <a:latin typeface="Arial"/>
                <a:ea typeface="Arial"/>
                <a:cs typeface="Arial"/>
              </a:defRPr>
            </a:pPr>
            <a:r>
              <a:rPr sz="2925" b="0">
                <a:solidFill>
                  <a:srgbClr val="000000"/>
                </a:solidFill>
                <a:latin typeface="Arial"/>
                <a:ea typeface="Arial"/>
                <a:cs typeface="Arial"/>
              </a:rPr>
              <a:t>Project 3: Scaffold-ETH 2 Tokenization</a:t>
            </a:r>
          </a:p>
        </p:txBody>
      </p:sp>
      <p:sp>
        <p:nvSpPr>
          <p:cNvPr id="2" name="">
            <a:extLst xmlns:a="http://schemas.openxmlformats.org/drawingml/2006/main">
              <a:ext uri="{FF2B5EF4-FFF2-40B4-BE49-F238E27FC236}">
                <a16:creationId xmlns:a16="http://schemas.microsoft.com/office/drawing/2014/main" id="{E6377CBC-A9C6-43EC-8874-D754D6AB5EAB}"/>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8266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36A471C-B98B-4356-A1BC-E77900216F08}"/>
              </a:ext>
            </a:extLst>
          </p:cNvPr>
          <p:cNvSpPr>
            <a:spLocks xmlns:a="http://schemas.openxmlformats.org/drawingml/2006/main" noGrp="1"/>
          </p:cNvSpPr>
          <p:nvPr/>
        </p:nvSpPr>
        <p:spPr>
          <a:xfrm xmlns:a="http://schemas.openxmlformats.org/drawingml/2006/main">
            <a:off x="11049000" y="6781800"/>
            <a:ext cx="1143000" cy="76200"/>
          </a:xfrm>
          <a:prstGeom xmlns:a="http://schemas.openxmlformats.org/drawingml/2006/main" prst="rect">
            <a:avLst/>
          </a:prstGeom>
          <a:solidFill xmlns:a="http://schemas.openxmlformats.org/drawingml/2006/main">
            <a:srgbClr val="E3193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3E95FA9-0E89-40B3-8797-5BE3DC25F480}"/>
              </a:ext>
            </a:extLst>
          </p:cNvPr>
          <p:cNvSpPr>
            <a:spLocks xmlns:a="http://schemas.openxmlformats.org/drawingml/2006/main" noGrp="1"/>
          </p:cNvSpPr>
          <p:nvPr/>
        </p:nvSpPr>
        <p:spPr>
          <a:xfrm xmlns:a="http://schemas.openxmlformats.org/drawingml/2006/main">
            <a:off x="685800" y="6553200"/>
            <a:ext cx="514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FFFFFF"/>
                </a:solidFill>
                <a:latin typeface="Arial"/>
                <a:ea typeface="Arial"/>
                <a:cs typeface="Arial"/>
              </a:defRPr>
            </a:pPr>
            <a:r>
              <a:rPr sz="825" b="1">
                <a:solidFill>
                  <a:srgbClr val="FFFFFF"/>
                </a:solidFill>
                <a:latin typeface="Arial"/>
                <a:ea typeface="Arial"/>
                <a:cs typeface="Arial"/>
              </a:rPr>
              <a:t>NANYANG TECHNOLOGICAL UNIVERSITY | SINGAPORE</a:t>
            </a:r>
          </a:p>
        </p:txBody>
      </p:sp>
      <p:sp>
        <p:nvSpPr>
          <p:cNvPr id="5" name="">
            <a:extLst xmlns:a="http://schemas.openxmlformats.org/drawingml/2006/main">
              <a:ext uri="{FF2B5EF4-FFF2-40B4-BE49-F238E27FC236}">
                <a16:creationId xmlns:a16="http://schemas.microsoft.com/office/drawing/2014/main" id="{FD21E92B-EC03-469D-823C-A6534B0965E5}"/>
              </a:ext>
            </a:extLst>
          </p:cNvPr>
          <p:cNvSpPr>
            <a:spLocks xmlns:a="http://schemas.openxmlformats.org/drawingml/2006/main" noGrp="1"/>
          </p:cNvSpPr>
          <p:nvPr/>
        </p:nvSpPr>
        <p:spPr>
          <a:xfrm xmlns:a="http://schemas.openxmlformats.org/drawingml/2006/main">
            <a:off x="11506200" y="65436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defRPr sz="1200" b="1">
                <a:solidFill>
                  <a:srgbClr val="FFFFFF"/>
                </a:solidFill>
                <a:latin typeface="Arial"/>
                <a:ea typeface="Arial"/>
                <a:cs typeface="Arial"/>
              </a:defRPr>
            </a:pPr>
            <a:r>
              <a:rPr sz="1200" b="1">
                <a:solidFill>
                  <a:srgbClr val="FFFFFF"/>
                </a:solidFill>
                <a:latin typeface="Arial"/>
                <a:ea typeface="Arial"/>
                <a:cs typeface="Arial"/>
              </a:rPr>
              <a:t>22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5efeb3dc69944b7"/>
          <a:stretch xmlns:a="http://schemas.openxmlformats.org/drawingml/2006/main"/>
        </p:blipFill>
        <p:spPr>
          <a:xfrm xmlns:a="http://schemas.openxmlformats.org/drawingml/2006/main">
            <a:off x="5619750" y="1709142"/>
            <a:ext cx="5810250" cy="3268266"/>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9D2B053-A7D6-44A0-9A60-FC106B7D30BF}"/>
              </a:ext>
            </a:extLst>
          </p:cNvPr>
          <p:cNvSpPr>
            <a:spLocks xmlns:a="http://schemas.openxmlformats.org/drawingml/2006/main" noGrp="1"/>
          </p:cNvSpPr>
          <p:nvPr/>
        </p:nvSpPr>
        <p:spPr>
          <a:xfrm xmlns:a="http://schemas.openxmlformats.org/drawingml/2006/main">
            <a:off x="685800" y="1381125"/>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214F86"/>
                </a:solidFill>
                <a:latin typeface="Arial"/>
                <a:ea typeface="Arial"/>
                <a:cs typeface="Arial"/>
              </a:defRPr>
            </a:pPr>
            <a:r>
              <a:rPr sz="2250" b="1">
                <a:solidFill>
                  <a:srgbClr val="214F86"/>
                </a:solidFill>
                <a:latin typeface="Arial"/>
                <a:ea typeface="Arial"/>
                <a:cs typeface="Arial"/>
              </a:rPr>
              <a:t>Official teaching project</a:t>
            </a:r>
          </a:p>
        </p:txBody>
      </p:sp>
      <p:sp>
        <p:nvSpPr>
          <p:cNvPr id="8" name="">
            <a:extLst xmlns:a="http://schemas.openxmlformats.org/drawingml/2006/main">
              <a:ext uri="{FF2B5EF4-FFF2-40B4-BE49-F238E27FC236}">
                <a16:creationId xmlns:a16="http://schemas.microsoft.com/office/drawing/2014/main" id="{D4472CD0-884A-4187-B5E2-740F158FB326}"/>
              </a:ext>
            </a:extLst>
          </p:cNvPr>
          <p:cNvSpPr>
            <a:spLocks xmlns:a="http://schemas.openxmlformats.org/drawingml/2006/main" noGrp="1"/>
          </p:cNvSpPr>
          <p:nvPr/>
        </p:nvSpPr>
        <p:spPr>
          <a:xfrm xmlns:a="http://schemas.openxmlformats.org/drawingml/2006/main">
            <a:off x="685800" y="2000250"/>
            <a:ext cx="44291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1717"/>
                </a:solidFill>
                <a:latin typeface="Arial"/>
                <a:ea typeface="Arial"/>
                <a:cs typeface="Arial"/>
              </a:defRPr>
            </a:pPr>
            <a:r>
              <a:rPr sz="1800" b="0">
                <a:solidFill>
                  <a:srgbClr val="171717"/>
                </a:solidFill>
                <a:latin typeface="Arial"/>
                <a:ea typeface="Arial"/>
                <a:cs typeface="Arial"/>
              </a:rPr>
              <a:t>Next.js + RainbowKit + wagmi</a:t>
            </a:r>
          </a:p>
          <a:p xmlns:a="http://schemas.openxmlformats.org/drawingml/2006/main">
            <a:r>
              <a:t/>
            </a:r>
          </a:p>
          <a:p xmlns:a="http://schemas.openxmlformats.org/drawingml/2006/main">
            <a:pPr>
              <a:defRPr sz="1800" b="0">
                <a:solidFill>
                  <a:srgbClr val="171717"/>
                </a:solidFill>
                <a:latin typeface="Arial"/>
                <a:ea typeface="Arial"/>
                <a:cs typeface="Arial"/>
              </a:defRPr>
            </a:pPr>
            <a:r>
              <a:rPr sz="1800" b="0">
                <a:solidFill>
                  <a:srgbClr val="171717"/>
                </a:solidFill>
                <a:latin typeface="Arial"/>
                <a:ea typeface="Arial"/>
                <a:cs typeface="Arial"/>
              </a:rPr>
              <a:t>Hardhat + OpenZeppelin ERC-721</a:t>
            </a:r>
          </a:p>
          <a:p xmlns:a="http://schemas.openxmlformats.org/drawingml/2006/main">
            <a:r>
              <a:t/>
            </a:r>
          </a:p>
          <a:p xmlns:a="http://schemas.openxmlformats.org/drawingml/2006/main">
            <a:pPr>
              <a:defRPr sz="1800" b="0">
                <a:solidFill>
                  <a:srgbClr val="171717"/>
                </a:solidFill>
                <a:latin typeface="Arial"/>
                <a:ea typeface="Arial"/>
                <a:cs typeface="Arial"/>
              </a:defRPr>
            </a:pPr>
            <a:r>
              <a:rPr sz="1800" b="0">
                <a:solidFill>
                  <a:srgbClr val="171717"/>
                </a:solidFill>
                <a:latin typeface="Arial"/>
                <a:ea typeface="Arial"/>
                <a:cs typeface="Arial"/>
              </a:rPr>
              <a:t>Minting, transfers, events and IPFS exercises</a:t>
            </a:r>
          </a:p>
          <a:p xmlns:a="http://schemas.openxmlformats.org/drawingml/2006/main">
            <a:r>
              <a:t/>
            </a:r>
          </a:p>
          <a:p xmlns:a="http://schemas.openxmlformats.org/drawingml/2006/main">
            <a:pPr>
              <a:defRPr sz="1800" b="0">
                <a:solidFill>
                  <a:srgbClr val="171717"/>
                </a:solidFill>
                <a:latin typeface="Arial"/>
                <a:ea typeface="Arial"/>
                <a:cs typeface="Arial"/>
              </a:defRPr>
            </a:pPr>
            <a:r>
              <a:rPr sz="1800" b="0">
                <a:solidFill>
                  <a:srgbClr val="171717"/>
                </a:solidFill>
                <a:latin typeface="Arial"/>
                <a:ea typeface="Arial"/>
                <a:cs typeface="Arial"/>
              </a:rPr>
              <a:t>Maintained tests and Debug Contracts</a:t>
            </a:r>
          </a:p>
        </p:txBody>
      </p:sp>
      <p:sp>
        <p:nvSpPr>
          <p:cNvPr id="9" name="">
            <a:extLst xmlns:a="http://schemas.openxmlformats.org/drawingml/2006/main">
              <a:ext uri="{FF2B5EF4-FFF2-40B4-BE49-F238E27FC236}">
                <a16:creationId xmlns:a16="http://schemas.microsoft.com/office/drawing/2014/main" id="{0D7B69D4-91B9-4895-A4F3-82DA897D89C8}"/>
              </a:ext>
            </a:extLst>
          </p:cNvPr>
          <p:cNvSpPr>
            <a:spLocks xmlns:a="http://schemas.openxmlformats.org/drawingml/2006/main" noGrp="1"/>
          </p:cNvSpPr>
          <p:nvPr/>
        </p:nvSpPr>
        <p:spPr>
          <a:xfrm xmlns:a="http://schemas.openxmlformats.org/drawingml/2006/main">
            <a:off x="685800" y="514350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637"/>
          </a:bodyPr>
          <a:lstStyle xmlns:a="http://schemas.openxmlformats.org/drawingml/2006/main"/>
          <a:p xmlns:a="http://schemas.openxmlformats.org/drawingml/2006/main">
            <a:pPr>
              <a:defRPr sz="1500" b="1">
                <a:solidFill>
                  <a:srgbClr val="00847E"/>
                </a:solidFill>
                <a:latin typeface="Arial"/>
                <a:ea typeface="Arial"/>
                <a:cs typeface="Arial"/>
              </a:defRPr>
            </a:pPr>
            <a:r>
              <a:rPr sz="1500" b="1">
                <a:solidFill>
                  <a:srgbClr val="00847E"/>
                </a:solidFill>
                <a:latin typeface="Arial"/>
                <a:ea typeface="Arial"/>
                <a:cs typeface="Arial"/>
              </a:rPr>
              <a:t>Upstream challenge, not a workshop-only contract</a:t>
            </a:r>
          </a:p>
        </p:txBody>
      </p:sp>
    </p:spTree>
    <p:extLst>
      <p:ext uri="{BB962C8B-B14F-4D97-AF65-F5344CB8AC3E}">
        <p14:creationId xmlns:p14="http://schemas.microsoft.com/office/powerpoint/2010/main" val="163660828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1A1DC41-4A38-42D5-8EF0-EBEDDCCBF25F}"/>
              </a:ext>
            </a:extLst>
          </p:cNvPr>
          <p:cNvSpPr>
            <a:spLocks xmlns:a="http://schemas.openxmlformats.org/drawingml/2006/main" noGrp="1"/>
          </p:cNvSpPr>
          <p:nvPr/>
        </p:nvSpPr>
        <p:spPr>
          <a:xfrm xmlns:a="http://schemas.openxmlformats.org/drawingml/2006/main">
            <a:off x="628650" y="3048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925" b="0">
                <a:solidFill>
                  <a:srgbClr val="000000"/>
                </a:solidFill>
                <a:latin typeface="Arial"/>
                <a:ea typeface="Arial"/>
                <a:cs typeface="Arial"/>
              </a:defRPr>
            </a:pPr>
            <a:r>
              <a:rPr sz="2925" b="0">
                <a:solidFill>
                  <a:srgbClr val="000000"/>
                </a:solidFill>
                <a:latin typeface="Arial"/>
                <a:ea typeface="Arial"/>
                <a:cs typeface="Arial"/>
              </a:rPr>
              <a:t>Tokenization frontend and onchain evidence</a:t>
            </a:r>
          </a:p>
        </p:txBody>
      </p:sp>
      <p:sp>
        <p:nvSpPr>
          <p:cNvPr id="2" name="">
            <a:extLst xmlns:a="http://schemas.openxmlformats.org/drawingml/2006/main">
              <a:ext uri="{FF2B5EF4-FFF2-40B4-BE49-F238E27FC236}">
                <a16:creationId xmlns:a16="http://schemas.microsoft.com/office/drawing/2014/main" id="{E281F919-E9AA-48E3-925A-352D4DC52E9D}"/>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8266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899F562-5F40-43C3-80FD-FBF768B4CDE1}"/>
              </a:ext>
            </a:extLst>
          </p:cNvPr>
          <p:cNvSpPr>
            <a:spLocks xmlns:a="http://schemas.openxmlformats.org/drawingml/2006/main" noGrp="1"/>
          </p:cNvSpPr>
          <p:nvPr/>
        </p:nvSpPr>
        <p:spPr>
          <a:xfrm xmlns:a="http://schemas.openxmlformats.org/drawingml/2006/main">
            <a:off x="11049000" y="6781800"/>
            <a:ext cx="1143000" cy="76200"/>
          </a:xfrm>
          <a:prstGeom xmlns:a="http://schemas.openxmlformats.org/drawingml/2006/main" prst="rect">
            <a:avLst/>
          </a:prstGeom>
          <a:solidFill xmlns:a="http://schemas.openxmlformats.org/drawingml/2006/main">
            <a:srgbClr val="E3193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D40403E-5A01-4C73-A5BB-012F468D351E}"/>
              </a:ext>
            </a:extLst>
          </p:cNvPr>
          <p:cNvSpPr>
            <a:spLocks xmlns:a="http://schemas.openxmlformats.org/drawingml/2006/main" noGrp="1"/>
          </p:cNvSpPr>
          <p:nvPr/>
        </p:nvSpPr>
        <p:spPr>
          <a:xfrm xmlns:a="http://schemas.openxmlformats.org/drawingml/2006/main">
            <a:off x="685800" y="6553200"/>
            <a:ext cx="514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FFFFFF"/>
                </a:solidFill>
                <a:latin typeface="Arial"/>
                <a:ea typeface="Arial"/>
                <a:cs typeface="Arial"/>
              </a:defRPr>
            </a:pPr>
            <a:r>
              <a:rPr sz="825" b="1">
                <a:solidFill>
                  <a:srgbClr val="FFFFFF"/>
                </a:solidFill>
                <a:latin typeface="Arial"/>
                <a:ea typeface="Arial"/>
                <a:cs typeface="Arial"/>
              </a:rPr>
              <a:t>NANYANG TECHNOLOGICAL UNIVERSITY | SINGAPORE</a:t>
            </a:r>
          </a:p>
        </p:txBody>
      </p:sp>
      <p:sp>
        <p:nvSpPr>
          <p:cNvPr id="5" name="">
            <a:extLst xmlns:a="http://schemas.openxmlformats.org/drawingml/2006/main">
              <a:ext uri="{FF2B5EF4-FFF2-40B4-BE49-F238E27FC236}">
                <a16:creationId xmlns:a16="http://schemas.microsoft.com/office/drawing/2014/main" id="{0B3A80BF-2EAE-4FF7-A6FD-6B72B2F08166}"/>
              </a:ext>
            </a:extLst>
          </p:cNvPr>
          <p:cNvSpPr>
            <a:spLocks xmlns:a="http://schemas.openxmlformats.org/drawingml/2006/main" noGrp="1"/>
          </p:cNvSpPr>
          <p:nvPr/>
        </p:nvSpPr>
        <p:spPr>
          <a:xfrm xmlns:a="http://schemas.openxmlformats.org/drawingml/2006/main">
            <a:off x="11506200" y="65436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defRPr sz="1200" b="1">
                <a:solidFill>
                  <a:srgbClr val="FFFFFF"/>
                </a:solidFill>
                <a:latin typeface="Arial"/>
                <a:ea typeface="Arial"/>
                <a:cs typeface="Arial"/>
              </a:defRPr>
            </a:pPr>
            <a:r>
              <a:rPr sz="1200" b="1">
                <a:solidFill>
                  <a:srgbClr val="FFFFFF"/>
                </a:solidFill>
                <a:latin typeface="Arial"/>
                <a:ea typeface="Arial"/>
                <a:cs typeface="Arial"/>
              </a:rPr>
              <a:t>23</a:t>
            </a:r>
          </a:p>
        </p:txBody>
      </p:sp>
      <p:sp>
        <p:nvSpPr>
          <p:cNvPr id="6" name="">
            <a:extLst xmlns:a="http://schemas.openxmlformats.org/drawingml/2006/main">
              <a:ext uri="{FF2B5EF4-FFF2-40B4-BE49-F238E27FC236}">
                <a16:creationId xmlns:a16="http://schemas.microsoft.com/office/drawing/2014/main" id="{8D6EBDE3-3517-4027-842E-6ACF9EC5F82A}"/>
              </a:ext>
            </a:extLst>
          </p:cNvPr>
          <p:cNvSpPr>
            <a:spLocks xmlns:a="http://schemas.openxmlformats.org/drawingml/2006/main" noGrp="1"/>
          </p:cNvSpPr>
          <p:nvPr/>
        </p:nvSpPr>
        <p:spPr>
          <a:xfrm xmlns:a="http://schemas.openxmlformats.org/drawingml/2006/main">
            <a:off x="552450" y="1981200"/>
            <a:ext cx="2381250" cy="12001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1473B8"/>
            </a:solidFill>
            <a:prstDash val="solid"/>
          </a:ln>
        </p:spPr>
      </p:sp>
      <p:sp>
        <p:nvSpPr>
          <p:cNvPr id="7" name="">
            <a:extLst xmlns:a="http://schemas.openxmlformats.org/drawingml/2006/main">
              <a:ext uri="{FF2B5EF4-FFF2-40B4-BE49-F238E27FC236}">
                <a16:creationId xmlns:a16="http://schemas.microsoft.com/office/drawing/2014/main" id="{D279483E-2EAA-417E-9B65-1DDAB5FF85ED}"/>
              </a:ext>
            </a:extLst>
          </p:cNvPr>
          <p:cNvSpPr>
            <a:spLocks xmlns:a="http://schemas.openxmlformats.org/drawingml/2006/main" noGrp="1"/>
          </p:cNvSpPr>
          <p:nvPr/>
        </p:nvSpPr>
        <p:spPr>
          <a:xfrm xmlns:a="http://schemas.openxmlformats.org/drawingml/2006/main">
            <a:off x="666750" y="2114550"/>
            <a:ext cx="2152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defRPr sz="1800" b="1">
                <a:solidFill>
                  <a:srgbClr val="1473B8"/>
                </a:solidFill>
                <a:latin typeface="Arial"/>
                <a:ea typeface="Arial"/>
                <a:cs typeface="Arial"/>
              </a:defRPr>
            </a:pPr>
            <a:r>
              <a:rPr sz="1800" b="1">
                <a:solidFill>
                  <a:srgbClr val="1473B8"/>
                </a:solidFill>
                <a:latin typeface="Arial"/>
                <a:ea typeface="Arial"/>
                <a:cs typeface="Arial"/>
              </a:rPr>
              <a:t>Next.js UI</a:t>
            </a:r>
          </a:p>
        </p:txBody>
      </p:sp>
      <p:sp>
        <p:nvSpPr>
          <p:cNvPr id="8" name="">
            <a:extLst xmlns:a="http://schemas.openxmlformats.org/drawingml/2006/main">
              <a:ext uri="{FF2B5EF4-FFF2-40B4-BE49-F238E27FC236}">
                <a16:creationId xmlns:a16="http://schemas.microsoft.com/office/drawing/2014/main" id="{5E7775C3-7D8C-4295-A550-3C6376605247}"/>
              </a:ext>
            </a:extLst>
          </p:cNvPr>
          <p:cNvSpPr>
            <a:spLocks xmlns:a="http://schemas.openxmlformats.org/drawingml/2006/main" noGrp="1"/>
          </p:cNvSpPr>
          <p:nvPr/>
        </p:nvSpPr>
        <p:spPr>
          <a:xfrm xmlns:a="http://schemas.openxmlformats.org/drawingml/2006/main">
            <a:off x="666750" y="2495550"/>
            <a:ext cx="2152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B6574"/>
                </a:solidFill>
                <a:latin typeface="Arial"/>
                <a:ea typeface="Arial"/>
                <a:cs typeface="Arial"/>
              </a:defRPr>
            </a:pPr>
            <a:r>
              <a:rPr sz="1275" b="0">
                <a:solidFill>
                  <a:srgbClr val="5B6574"/>
                </a:solidFill>
                <a:latin typeface="Arial"/>
                <a:ea typeface="Arial"/>
                <a:cs typeface="Arial"/>
              </a:rPr>
              <a:t>Holdings, mint and transfer pages</a:t>
            </a:r>
          </a:p>
        </p:txBody>
      </p:sp>
      <p:sp>
        <p:nvSpPr>
          <p:cNvPr id="9" name="">
            <a:extLst xmlns:a="http://schemas.openxmlformats.org/drawingml/2006/main">
              <a:ext uri="{FF2B5EF4-FFF2-40B4-BE49-F238E27FC236}">
                <a16:creationId xmlns:a16="http://schemas.microsoft.com/office/drawing/2014/main" id="{D21D904D-9708-4D7F-A137-248A4030929A}"/>
              </a:ext>
            </a:extLst>
          </p:cNvPr>
          <p:cNvSpPr>
            <a:spLocks xmlns:a="http://schemas.openxmlformats.org/drawingml/2006/main" noGrp="1"/>
          </p:cNvSpPr>
          <p:nvPr/>
        </p:nvSpPr>
        <p:spPr>
          <a:xfrm xmlns:a="http://schemas.openxmlformats.org/drawingml/2006/main">
            <a:off x="3381375" y="1981200"/>
            <a:ext cx="2381250" cy="12001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E31937"/>
            </a:solidFill>
            <a:prstDash val="solid"/>
          </a:ln>
        </p:spPr>
      </p:sp>
      <p:sp>
        <p:nvSpPr>
          <p:cNvPr id="10" name="">
            <a:extLst xmlns:a="http://schemas.openxmlformats.org/drawingml/2006/main">
              <a:ext uri="{FF2B5EF4-FFF2-40B4-BE49-F238E27FC236}">
                <a16:creationId xmlns:a16="http://schemas.microsoft.com/office/drawing/2014/main" id="{A0C95D36-A594-4ABE-8516-0152E492B310}"/>
              </a:ext>
            </a:extLst>
          </p:cNvPr>
          <p:cNvSpPr>
            <a:spLocks xmlns:a="http://schemas.openxmlformats.org/drawingml/2006/main" noGrp="1"/>
          </p:cNvSpPr>
          <p:nvPr/>
        </p:nvSpPr>
        <p:spPr>
          <a:xfrm xmlns:a="http://schemas.openxmlformats.org/drawingml/2006/main">
            <a:off x="3495675" y="2114550"/>
            <a:ext cx="2152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defRPr sz="1800" b="1">
                <a:solidFill>
                  <a:srgbClr val="E31937"/>
                </a:solidFill>
                <a:latin typeface="Arial"/>
                <a:ea typeface="Arial"/>
                <a:cs typeface="Arial"/>
              </a:defRPr>
            </a:pPr>
            <a:r>
              <a:rPr sz="1800" b="1">
                <a:solidFill>
                  <a:srgbClr val="E31937"/>
                </a:solidFill>
                <a:latin typeface="Arial"/>
                <a:ea typeface="Arial"/>
                <a:cs typeface="Arial"/>
              </a:rPr>
              <a:t>Wallet</a:t>
            </a:r>
          </a:p>
        </p:txBody>
      </p:sp>
      <p:sp>
        <p:nvSpPr>
          <p:cNvPr id="11" name="">
            <a:extLst xmlns:a="http://schemas.openxmlformats.org/drawingml/2006/main">
              <a:ext uri="{FF2B5EF4-FFF2-40B4-BE49-F238E27FC236}">
                <a16:creationId xmlns:a16="http://schemas.microsoft.com/office/drawing/2014/main" id="{9654F2D1-B04B-46F4-8011-A58F856E6C2D}"/>
              </a:ext>
            </a:extLst>
          </p:cNvPr>
          <p:cNvSpPr>
            <a:spLocks xmlns:a="http://schemas.openxmlformats.org/drawingml/2006/main" noGrp="1"/>
          </p:cNvSpPr>
          <p:nvPr/>
        </p:nvSpPr>
        <p:spPr>
          <a:xfrm xmlns:a="http://schemas.openxmlformats.org/drawingml/2006/main">
            <a:off x="3495675" y="2495550"/>
            <a:ext cx="2152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B6574"/>
                </a:solidFill>
                <a:latin typeface="Arial"/>
                <a:ea typeface="Arial"/>
                <a:cs typeface="Arial"/>
              </a:defRPr>
            </a:pPr>
            <a:r>
              <a:rPr sz="1275" b="0">
                <a:solidFill>
                  <a:srgbClr val="5B6574"/>
                </a:solidFill>
                <a:latin typeface="Arial"/>
                <a:ea typeface="Arial"/>
                <a:cs typeface="Arial"/>
              </a:rPr>
              <a:t>Burner account or MetaMask</a:t>
            </a:r>
          </a:p>
        </p:txBody>
      </p:sp>
      <p:sp>
        <p:nvSpPr>
          <p:cNvPr id="12" name="">
            <a:extLst xmlns:a="http://schemas.openxmlformats.org/drawingml/2006/main">
              <a:ext uri="{FF2B5EF4-FFF2-40B4-BE49-F238E27FC236}">
                <a16:creationId xmlns:a16="http://schemas.microsoft.com/office/drawing/2014/main" id="{4681383E-638D-4533-816E-02F6F41E1C49}"/>
              </a:ext>
            </a:extLst>
          </p:cNvPr>
          <p:cNvSpPr>
            <a:spLocks xmlns:a="http://schemas.openxmlformats.org/drawingml/2006/main" noGrp="1"/>
          </p:cNvSpPr>
          <p:nvPr/>
        </p:nvSpPr>
        <p:spPr>
          <a:xfrm xmlns:a="http://schemas.openxmlformats.org/drawingml/2006/main">
            <a:off x="6210300" y="1981200"/>
            <a:ext cx="2381250" cy="12001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00847E"/>
            </a:solidFill>
            <a:prstDash val="solid"/>
          </a:ln>
        </p:spPr>
      </p:sp>
      <p:sp>
        <p:nvSpPr>
          <p:cNvPr id="13" name="">
            <a:extLst xmlns:a="http://schemas.openxmlformats.org/drawingml/2006/main">
              <a:ext uri="{FF2B5EF4-FFF2-40B4-BE49-F238E27FC236}">
                <a16:creationId xmlns:a16="http://schemas.microsoft.com/office/drawing/2014/main" id="{8FA3AA7A-217E-4857-9EC5-CF397D1A21A9}"/>
              </a:ext>
            </a:extLst>
          </p:cNvPr>
          <p:cNvSpPr>
            <a:spLocks xmlns:a="http://schemas.openxmlformats.org/drawingml/2006/main" noGrp="1"/>
          </p:cNvSpPr>
          <p:nvPr/>
        </p:nvSpPr>
        <p:spPr>
          <a:xfrm xmlns:a="http://schemas.openxmlformats.org/drawingml/2006/main">
            <a:off x="6324600" y="2114550"/>
            <a:ext cx="2152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defRPr sz="1800" b="1">
                <a:solidFill>
                  <a:srgbClr val="00847E"/>
                </a:solidFill>
                <a:latin typeface="Arial"/>
                <a:ea typeface="Arial"/>
                <a:cs typeface="Arial"/>
              </a:defRPr>
            </a:pPr>
            <a:r>
              <a:rPr sz="1800" b="1">
                <a:solidFill>
                  <a:srgbClr val="00847E"/>
                </a:solidFill>
                <a:latin typeface="Arial"/>
                <a:ea typeface="Arial"/>
                <a:cs typeface="Arial"/>
              </a:rPr>
              <a:t>ERC-721</a:t>
            </a:r>
          </a:p>
        </p:txBody>
      </p:sp>
      <p:sp>
        <p:nvSpPr>
          <p:cNvPr id="14" name="">
            <a:extLst xmlns:a="http://schemas.openxmlformats.org/drawingml/2006/main">
              <a:ext uri="{FF2B5EF4-FFF2-40B4-BE49-F238E27FC236}">
                <a16:creationId xmlns:a16="http://schemas.microsoft.com/office/drawing/2014/main" id="{60625AE3-9D46-4672-9A18-0729DD17FF19}"/>
              </a:ext>
            </a:extLst>
          </p:cNvPr>
          <p:cNvSpPr>
            <a:spLocks xmlns:a="http://schemas.openxmlformats.org/drawingml/2006/main" noGrp="1"/>
          </p:cNvSpPr>
          <p:nvPr/>
        </p:nvSpPr>
        <p:spPr>
          <a:xfrm xmlns:a="http://schemas.openxmlformats.org/drawingml/2006/main">
            <a:off x="6324600" y="2495550"/>
            <a:ext cx="2152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B6574"/>
                </a:solidFill>
                <a:latin typeface="Arial"/>
                <a:ea typeface="Arial"/>
                <a:cs typeface="Arial"/>
              </a:defRPr>
            </a:pPr>
            <a:r>
              <a:rPr sz="1275" b="0">
                <a:solidFill>
                  <a:srgbClr val="5B6574"/>
                </a:solidFill>
                <a:latin typeface="Arial"/>
                <a:ea typeface="Arial"/>
                <a:cs typeface="Arial"/>
              </a:rPr>
              <a:t>ownerOf, balanceOf and Transfer</a:t>
            </a:r>
          </a:p>
        </p:txBody>
      </p:sp>
      <p:sp>
        <p:nvSpPr>
          <p:cNvPr id="15" name="">
            <a:extLst xmlns:a="http://schemas.openxmlformats.org/drawingml/2006/main">
              <a:ext uri="{FF2B5EF4-FFF2-40B4-BE49-F238E27FC236}">
                <a16:creationId xmlns:a16="http://schemas.microsoft.com/office/drawing/2014/main" id="{42C6FC41-1B47-4183-89DD-BF3018D3D951}"/>
              </a:ext>
            </a:extLst>
          </p:cNvPr>
          <p:cNvSpPr>
            <a:spLocks xmlns:a="http://schemas.openxmlformats.org/drawingml/2006/main" noGrp="1"/>
          </p:cNvSpPr>
          <p:nvPr/>
        </p:nvSpPr>
        <p:spPr>
          <a:xfrm xmlns:a="http://schemas.openxmlformats.org/drawingml/2006/main">
            <a:off x="9039225" y="1981200"/>
            <a:ext cx="2381250" cy="12001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4288">
            <a:solidFill>
              <a:srgbClr val="7057B5"/>
            </a:solidFill>
            <a:prstDash val="solid"/>
          </a:ln>
        </p:spPr>
      </p:sp>
      <p:sp>
        <p:nvSpPr>
          <p:cNvPr id="16" name="">
            <a:extLst xmlns:a="http://schemas.openxmlformats.org/drawingml/2006/main">
              <a:ext uri="{FF2B5EF4-FFF2-40B4-BE49-F238E27FC236}">
                <a16:creationId xmlns:a16="http://schemas.microsoft.com/office/drawing/2014/main" id="{4F15F2B8-E5EA-4710-8943-FE82CF94343D}"/>
              </a:ext>
            </a:extLst>
          </p:cNvPr>
          <p:cNvSpPr>
            <a:spLocks xmlns:a="http://schemas.openxmlformats.org/drawingml/2006/main" noGrp="1"/>
          </p:cNvSpPr>
          <p:nvPr/>
        </p:nvSpPr>
        <p:spPr>
          <a:xfrm xmlns:a="http://schemas.openxmlformats.org/drawingml/2006/main">
            <a:off x="9153525" y="2114550"/>
            <a:ext cx="2152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defRPr sz="1800" b="1">
                <a:solidFill>
                  <a:srgbClr val="7057B5"/>
                </a:solidFill>
                <a:latin typeface="Arial"/>
                <a:ea typeface="Arial"/>
                <a:cs typeface="Arial"/>
              </a:defRPr>
            </a:pPr>
            <a:r>
              <a:rPr sz="1800" b="1">
                <a:solidFill>
                  <a:srgbClr val="7057B5"/>
                </a:solidFill>
                <a:latin typeface="Arial"/>
                <a:ea typeface="Arial"/>
                <a:cs typeface="Arial"/>
              </a:rPr>
              <a:t>Metadata</a:t>
            </a:r>
          </a:p>
        </p:txBody>
      </p:sp>
      <p:sp>
        <p:nvSpPr>
          <p:cNvPr id="17" name="">
            <a:extLst xmlns:a="http://schemas.openxmlformats.org/drawingml/2006/main">
              <a:ext uri="{FF2B5EF4-FFF2-40B4-BE49-F238E27FC236}">
                <a16:creationId xmlns:a16="http://schemas.microsoft.com/office/drawing/2014/main" id="{55E8181E-8D23-4A24-8326-027DBC739C62}"/>
              </a:ext>
            </a:extLst>
          </p:cNvPr>
          <p:cNvSpPr>
            <a:spLocks xmlns:a="http://schemas.openxmlformats.org/drawingml/2006/main" noGrp="1"/>
          </p:cNvSpPr>
          <p:nvPr/>
        </p:nvSpPr>
        <p:spPr>
          <a:xfrm xmlns:a="http://schemas.openxmlformats.org/drawingml/2006/main">
            <a:off x="9153525" y="2495550"/>
            <a:ext cx="2152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B6574"/>
                </a:solidFill>
                <a:latin typeface="Arial"/>
                <a:ea typeface="Arial"/>
                <a:cs typeface="Arial"/>
              </a:defRPr>
            </a:pPr>
            <a:r>
              <a:rPr sz="1275" b="0">
                <a:solidFill>
                  <a:srgbClr val="5B6574"/>
                </a:solidFill>
                <a:latin typeface="Arial"/>
                <a:ea typeface="Arial"/>
                <a:cs typeface="Arial"/>
              </a:rPr>
              <a:t>tokenURI, JSON and media</a:t>
            </a:r>
          </a:p>
        </p:txBody>
      </p:sp>
      <p:cxnSp>
        <p:nvCxnSpPr>
          <p:cNvPr id="40" name=""/>
          <p:cNvCxnSpPr>
            <a:stCxn xmlns:a="http://schemas.openxmlformats.org/drawingml/2006/main" id="6" idx="3"/>
            <a:endCxn xmlns:a="http://schemas.openxmlformats.org/drawingml/2006/main" id="9" idx="1"/>
          </p:cNvCxnSpPr>
          <p:nvPr/>
        </p:nvCxnSpPr>
        <p:spPr>
          <a:xfrm xmlns:a="http://schemas.openxmlformats.org/drawingml/2006/main">
            <a:off x="2933700" y="2581275"/>
            <a:ext cx="447675" cy="0"/>
          </a:xfrm>
          <a:prstGeom xmlns:a="http://schemas.openxmlformats.org/drawingml/2006/main" prst="straightConnector1">
            <a:avLst/>
          </a:prstGeom>
          <a:ln xmlns:a="http://schemas.openxmlformats.org/drawingml/2006/main" w="19050">
            <a:solidFill>
              <a:srgbClr val="214F86"/>
            </a:solidFill>
            <a:prstDash val="solid"/>
            <a:tailEnd type="arrow" w="med" len="med"/>
          </a:ln>
        </p:spPr>
      </p:cxnSp>
      <p:cxnSp>
        <p:nvCxnSpPr>
          <p:cNvPr id="41" name=""/>
          <p:cNvCxnSpPr>
            <a:stCxn xmlns:a="http://schemas.openxmlformats.org/drawingml/2006/main" id="9" idx="3"/>
            <a:endCxn xmlns:a="http://schemas.openxmlformats.org/drawingml/2006/main" id="12" idx="1"/>
          </p:cNvCxnSpPr>
          <p:nvPr/>
        </p:nvCxnSpPr>
        <p:spPr>
          <a:xfrm xmlns:a="http://schemas.openxmlformats.org/drawingml/2006/main">
            <a:off x="5762625" y="2581275"/>
            <a:ext cx="447675" cy="0"/>
          </a:xfrm>
          <a:prstGeom xmlns:a="http://schemas.openxmlformats.org/drawingml/2006/main" prst="straightConnector1">
            <a:avLst/>
          </a:prstGeom>
          <a:ln xmlns:a="http://schemas.openxmlformats.org/drawingml/2006/main" w="19050">
            <a:solidFill>
              <a:srgbClr val="214F86"/>
            </a:solidFill>
            <a:prstDash val="solid"/>
            <a:tailEnd type="arrow" w="med" len="med"/>
          </a:ln>
        </p:spPr>
      </p:cxnSp>
      <p:cxnSp>
        <p:nvCxnSpPr>
          <p:cNvPr id="42" name=""/>
          <p:cNvCxnSpPr>
            <a:stCxn xmlns:a="http://schemas.openxmlformats.org/drawingml/2006/main" id="12" idx="3"/>
            <a:endCxn xmlns:a="http://schemas.openxmlformats.org/drawingml/2006/main" id="15" idx="1"/>
          </p:cNvCxnSpPr>
          <p:nvPr/>
        </p:nvCxnSpPr>
        <p:spPr>
          <a:xfrm xmlns:a="http://schemas.openxmlformats.org/drawingml/2006/main">
            <a:off x="8591550" y="2581275"/>
            <a:ext cx="447675" cy="0"/>
          </a:xfrm>
          <a:prstGeom xmlns:a="http://schemas.openxmlformats.org/drawingml/2006/main" prst="straightConnector1">
            <a:avLst/>
          </a:prstGeom>
          <a:ln xmlns:a="http://schemas.openxmlformats.org/drawingml/2006/main" w="19050">
            <a:solidFill>
              <a:srgbClr val="214F86"/>
            </a:solidFill>
            <a:prstDash val="solid"/>
            <a:tailEnd type="arrow" w="med" len="med"/>
          </a:ln>
        </p:spPr>
      </p:cxnSp>
      <p:sp>
        <p:nvSpPr>
          <p:cNvPr id="21" name="">
            <a:extLst xmlns:a="http://schemas.openxmlformats.org/drawingml/2006/main">
              <a:ext uri="{FF2B5EF4-FFF2-40B4-BE49-F238E27FC236}">
                <a16:creationId xmlns:a16="http://schemas.microsoft.com/office/drawing/2014/main" id="{6CD5F6EA-D20A-4FF2-BB88-2E98972880A6}"/>
              </a:ext>
            </a:extLst>
          </p:cNvPr>
          <p:cNvSpPr>
            <a:spLocks xmlns:a="http://schemas.openxmlformats.org/drawingml/2006/main" noGrp="1"/>
          </p:cNvSpPr>
          <p:nvPr/>
        </p:nvSpPr>
        <p:spPr>
          <a:xfrm xmlns:a="http://schemas.openxmlformats.org/drawingml/2006/main">
            <a:off x="1123950" y="4095750"/>
            <a:ext cx="9944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559"/>
          </a:bodyPr>
          <a:lstStyle xmlns:a="http://schemas.openxmlformats.org/drawingml/2006/main"/>
          <a:p xmlns:a="http://schemas.openxmlformats.org/drawingml/2006/main">
            <a:pPr>
              <a:defRPr sz="2100" b="1">
                <a:solidFill>
                  <a:srgbClr val="214F86"/>
                </a:solidFill>
                <a:latin typeface="Arial"/>
                <a:ea typeface="Arial"/>
                <a:cs typeface="Arial"/>
              </a:defRPr>
            </a:pPr>
            <a:r>
              <a:rPr sz="2100" b="1">
                <a:solidFill>
                  <a:srgbClr val="214F86"/>
                </a:solidFill>
                <a:latin typeface="Arial"/>
                <a:ea typeface="Arial"/>
                <a:cs typeface="Arial"/>
              </a:rPr>
              <a:t>Ownership is verified onchain. The description and image can live elsewhere.</a:t>
            </a:r>
          </a:p>
        </p:txBody>
      </p:sp>
      <p:sp>
        <p:nvSpPr>
          <p:cNvPr id="22" name="">
            <a:extLst xmlns:a="http://schemas.openxmlformats.org/drawingml/2006/main">
              <a:ext uri="{FF2B5EF4-FFF2-40B4-BE49-F238E27FC236}">
                <a16:creationId xmlns:a16="http://schemas.microsoft.com/office/drawing/2014/main" id="{4FF219F7-5C63-4DAB-A646-2A9E78FA2E9D}"/>
              </a:ext>
            </a:extLst>
          </p:cNvPr>
          <p:cNvSpPr>
            <a:spLocks xmlns:a="http://schemas.openxmlformats.org/drawingml/2006/main" noGrp="1"/>
          </p:cNvSpPr>
          <p:nvPr/>
        </p:nvSpPr>
        <p:spPr>
          <a:xfrm xmlns:a="http://schemas.openxmlformats.org/drawingml/2006/main">
            <a:off x="1238250" y="4857750"/>
            <a:ext cx="971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0">
                <a:solidFill>
                  <a:srgbClr val="5B6574"/>
                </a:solidFill>
                <a:latin typeface="Arial"/>
                <a:ea typeface="Arial"/>
                <a:cs typeface="Arial"/>
              </a:defRPr>
            </a:pPr>
            <a:r>
              <a:rPr sz="1725" b="0">
                <a:solidFill>
                  <a:srgbClr val="5B6574"/>
                </a:solidFill>
                <a:latin typeface="Arial"/>
                <a:ea typeface="Arial"/>
                <a:cs typeface="Arial"/>
              </a:rPr>
              <a:t>For a real-world asset, define who issues the token and what legal right it represents.</a:t>
            </a:r>
          </a:p>
        </p:txBody>
      </p:sp>
    </p:spTree>
    <p:extLst>
      <p:ext uri="{BB962C8B-B14F-4D97-AF65-F5344CB8AC3E}">
        <p14:creationId xmlns:p14="http://schemas.microsoft.com/office/powerpoint/2010/main" val="111852602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95104F1-9749-4637-A92C-DCAA539FBF71}"/>
              </a:ext>
            </a:extLst>
          </p:cNvPr>
          <p:cNvSpPr>
            <a:spLocks xmlns:a="http://schemas.openxmlformats.org/drawingml/2006/main" noGrp="1"/>
          </p:cNvSpPr>
          <p:nvPr/>
        </p:nvSpPr>
        <p:spPr>
          <a:xfrm xmlns:a="http://schemas.openxmlformats.org/drawingml/2006/main">
            <a:off x="628650" y="3048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925" b="0">
                <a:solidFill>
                  <a:srgbClr val="000000"/>
                </a:solidFill>
                <a:latin typeface="Arial"/>
                <a:ea typeface="Arial"/>
                <a:cs typeface="Arial"/>
              </a:defRPr>
            </a:pPr>
            <a:r>
              <a:rPr sz="2925" b="0">
                <a:solidFill>
                  <a:srgbClr val="000000"/>
                </a:solidFill>
                <a:latin typeface="Arial"/>
                <a:ea typeface="Arial"/>
                <a:cs typeface="Arial"/>
              </a:rPr>
              <a:t>Mint, transfer and explain the evidence</a:t>
            </a:r>
          </a:p>
        </p:txBody>
      </p:sp>
      <p:sp>
        <p:nvSpPr>
          <p:cNvPr id="2" name="">
            <a:extLst xmlns:a="http://schemas.openxmlformats.org/drawingml/2006/main">
              <a:ext uri="{FF2B5EF4-FFF2-40B4-BE49-F238E27FC236}">
                <a16:creationId xmlns:a16="http://schemas.microsoft.com/office/drawing/2014/main" id="{6D3E3993-4EFB-45D9-AA58-8D9883E11503}"/>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8266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6CEDB5-A6DB-46BC-91C6-AE2FCF9ED9FD}"/>
              </a:ext>
            </a:extLst>
          </p:cNvPr>
          <p:cNvSpPr>
            <a:spLocks xmlns:a="http://schemas.openxmlformats.org/drawingml/2006/main" noGrp="1"/>
          </p:cNvSpPr>
          <p:nvPr/>
        </p:nvSpPr>
        <p:spPr>
          <a:xfrm xmlns:a="http://schemas.openxmlformats.org/drawingml/2006/main">
            <a:off x="11049000" y="6781800"/>
            <a:ext cx="1143000" cy="76200"/>
          </a:xfrm>
          <a:prstGeom xmlns:a="http://schemas.openxmlformats.org/drawingml/2006/main" prst="rect">
            <a:avLst/>
          </a:prstGeom>
          <a:solidFill xmlns:a="http://schemas.openxmlformats.org/drawingml/2006/main">
            <a:srgbClr val="E3193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FBABFD9-A573-4598-B2C7-CC2EDF8E12B0}"/>
              </a:ext>
            </a:extLst>
          </p:cNvPr>
          <p:cNvSpPr>
            <a:spLocks xmlns:a="http://schemas.openxmlformats.org/drawingml/2006/main" noGrp="1"/>
          </p:cNvSpPr>
          <p:nvPr/>
        </p:nvSpPr>
        <p:spPr>
          <a:xfrm xmlns:a="http://schemas.openxmlformats.org/drawingml/2006/main">
            <a:off x="685800" y="6553200"/>
            <a:ext cx="514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FFFFFF"/>
                </a:solidFill>
                <a:latin typeface="Arial"/>
                <a:ea typeface="Arial"/>
                <a:cs typeface="Arial"/>
              </a:defRPr>
            </a:pPr>
            <a:r>
              <a:rPr sz="825" b="1">
                <a:solidFill>
                  <a:srgbClr val="FFFFFF"/>
                </a:solidFill>
                <a:latin typeface="Arial"/>
                <a:ea typeface="Arial"/>
                <a:cs typeface="Arial"/>
              </a:rPr>
              <a:t>NANYANG TECHNOLOGICAL UNIVERSITY | SINGAPORE</a:t>
            </a:r>
          </a:p>
        </p:txBody>
      </p:sp>
      <p:sp>
        <p:nvSpPr>
          <p:cNvPr id="5" name="">
            <a:extLst xmlns:a="http://schemas.openxmlformats.org/drawingml/2006/main">
              <a:ext uri="{FF2B5EF4-FFF2-40B4-BE49-F238E27FC236}">
                <a16:creationId xmlns:a16="http://schemas.microsoft.com/office/drawing/2014/main" id="{17D2F066-E582-466B-AB4A-D6AA02DA1013}"/>
              </a:ext>
            </a:extLst>
          </p:cNvPr>
          <p:cNvSpPr>
            <a:spLocks xmlns:a="http://schemas.openxmlformats.org/drawingml/2006/main" noGrp="1"/>
          </p:cNvSpPr>
          <p:nvPr/>
        </p:nvSpPr>
        <p:spPr>
          <a:xfrm xmlns:a="http://schemas.openxmlformats.org/drawingml/2006/main">
            <a:off x="11506200" y="65436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defRPr sz="1200" b="1">
                <a:solidFill>
                  <a:srgbClr val="FFFFFF"/>
                </a:solidFill>
                <a:latin typeface="Arial"/>
                <a:ea typeface="Arial"/>
                <a:cs typeface="Arial"/>
              </a:defRPr>
            </a:pPr>
            <a:r>
              <a:rPr sz="1200" b="1">
                <a:solidFill>
                  <a:srgbClr val="FFFFFF"/>
                </a:solidFill>
                <a:latin typeface="Arial"/>
                <a:ea typeface="Arial"/>
                <a:cs typeface="Arial"/>
              </a:rPr>
              <a:t>24</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06bb40fc643452b"/>
          <a:stretch xmlns:a="http://schemas.openxmlformats.org/drawingml/2006/main"/>
        </p:blipFill>
        <p:spPr>
          <a:xfrm xmlns:a="http://schemas.openxmlformats.org/drawingml/2006/main">
            <a:off x="7810500" y="2437129"/>
            <a:ext cx="3238500" cy="103124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300A4D2-7E3F-4999-A0BE-5695FAE4EB5C}"/>
              </a:ext>
            </a:extLst>
          </p:cNvPr>
          <p:cNvSpPr>
            <a:spLocks xmlns:a="http://schemas.openxmlformats.org/drawingml/2006/main" noGrp="1"/>
          </p:cNvSpPr>
          <p:nvPr/>
        </p:nvSpPr>
        <p:spPr>
          <a:xfrm xmlns:a="http://schemas.openxmlformats.org/drawingml/2006/main">
            <a:off x="742950" y="142875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E31937"/>
                </a:solidFill>
                <a:latin typeface="Arial"/>
                <a:ea typeface="Arial"/>
                <a:cs typeface="Arial"/>
              </a:defRPr>
            </a:pPr>
            <a:r>
              <a:rPr sz="2250" b="1">
                <a:solidFill>
                  <a:srgbClr val="E31937"/>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60032F97-B7AD-4B84-95C2-A3098C1457B5}"/>
              </a:ext>
            </a:extLst>
          </p:cNvPr>
          <p:cNvSpPr>
            <a:spLocks xmlns:a="http://schemas.openxmlformats.org/drawingml/2006/main" noGrp="1"/>
          </p:cNvSpPr>
          <p:nvPr/>
        </p:nvSpPr>
        <p:spPr>
          <a:xfrm xmlns:a="http://schemas.openxmlformats.org/drawingml/2006/main">
            <a:off x="1333500" y="137160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defRPr sz="1800" b="1">
                <a:solidFill>
                  <a:srgbClr val="214F86"/>
                </a:solidFill>
                <a:latin typeface="Arial"/>
                <a:ea typeface="Arial"/>
                <a:cs typeface="Arial"/>
              </a:defRPr>
            </a:pPr>
            <a:r>
              <a:rPr sz="1800" b="1">
                <a:solidFill>
                  <a:srgbClr val="214F86"/>
                </a:solidFill>
                <a:latin typeface="Arial"/>
                <a:ea typeface="Arial"/>
                <a:cs typeface="Arial"/>
              </a:rPr>
              <a:t>MINT</a:t>
            </a:r>
          </a:p>
        </p:txBody>
      </p:sp>
      <p:sp>
        <p:nvSpPr>
          <p:cNvPr id="9" name="">
            <a:extLst xmlns:a="http://schemas.openxmlformats.org/drawingml/2006/main">
              <a:ext uri="{FF2B5EF4-FFF2-40B4-BE49-F238E27FC236}">
                <a16:creationId xmlns:a16="http://schemas.microsoft.com/office/drawing/2014/main" id="{6A775A6B-D567-41D4-B4FA-B295D881C8CA}"/>
              </a:ext>
            </a:extLst>
          </p:cNvPr>
          <p:cNvSpPr>
            <a:spLocks xmlns:a="http://schemas.openxmlformats.org/drawingml/2006/main" noGrp="1"/>
          </p:cNvSpPr>
          <p:nvPr/>
        </p:nvSpPr>
        <p:spPr>
          <a:xfrm xmlns:a="http://schemas.openxmlformats.org/drawingml/2006/main">
            <a:off x="1333500" y="1752600"/>
            <a:ext cx="533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171717"/>
                </a:solidFill>
                <a:latin typeface="Arial"/>
                <a:ea typeface="Arial"/>
                <a:cs typeface="Arial"/>
              </a:defRPr>
            </a:pPr>
            <a:r>
              <a:rPr sz="1650" b="0">
                <a:solidFill>
                  <a:srgbClr val="171717"/>
                </a:solidFill>
                <a:latin typeface="Arial"/>
                <a:ea typeface="Arial"/>
                <a:cs typeface="Arial"/>
              </a:rPr>
              <a:t>A transaction creates token #n</a:t>
            </a:r>
          </a:p>
        </p:txBody>
      </p:sp>
      <p:sp>
        <p:nvSpPr>
          <p:cNvPr id="10" name="">
            <a:extLst xmlns:a="http://schemas.openxmlformats.org/drawingml/2006/main">
              <a:ext uri="{FF2B5EF4-FFF2-40B4-BE49-F238E27FC236}">
                <a16:creationId xmlns:a16="http://schemas.microsoft.com/office/drawing/2014/main" id="{8C416A7F-8ED9-414B-B6BE-0FF99E023807}"/>
              </a:ext>
            </a:extLst>
          </p:cNvPr>
          <p:cNvSpPr>
            <a:spLocks xmlns:a="http://schemas.openxmlformats.org/drawingml/2006/main" noGrp="1"/>
          </p:cNvSpPr>
          <p:nvPr/>
        </p:nvSpPr>
        <p:spPr>
          <a:xfrm xmlns:a="http://schemas.openxmlformats.org/drawingml/2006/main">
            <a:off x="742950" y="26670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E31937"/>
                </a:solidFill>
                <a:latin typeface="Arial"/>
                <a:ea typeface="Arial"/>
                <a:cs typeface="Arial"/>
              </a:defRPr>
            </a:pPr>
            <a:r>
              <a:rPr sz="2250" b="1">
                <a:solidFill>
                  <a:srgbClr val="E31937"/>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FB901680-C1A4-4FDF-8B3A-404BAAB199E0}"/>
              </a:ext>
            </a:extLst>
          </p:cNvPr>
          <p:cNvSpPr>
            <a:spLocks xmlns:a="http://schemas.openxmlformats.org/drawingml/2006/main" noGrp="1"/>
          </p:cNvSpPr>
          <p:nvPr/>
        </p:nvSpPr>
        <p:spPr>
          <a:xfrm xmlns:a="http://schemas.openxmlformats.org/drawingml/2006/main">
            <a:off x="1333500" y="26098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defRPr sz="1800" b="1">
                <a:solidFill>
                  <a:srgbClr val="214F86"/>
                </a:solidFill>
                <a:latin typeface="Arial"/>
                <a:ea typeface="Arial"/>
                <a:cs typeface="Arial"/>
              </a:defRPr>
            </a:pPr>
            <a:r>
              <a:rPr sz="1800" b="1">
                <a:solidFill>
                  <a:srgbClr val="214F86"/>
                </a:solidFill>
                <a:latin typeface="Arial"/>
                <a:ea typeface="Arial"/>
                <a:cs typeface="Arial"/>
              </a:rPr>
              <a:t>TRANSFER</a:t>
            </a:r>
          </a:p>
        </p:txBody>
      </p:sp>
      <p:sp>
        <p:nvSpPr>
          <p:cNvPr id="12" name="">
            <a:extLst xmlns:a="http://schemas.openxmlformats.org/drawingml/2006/main">
              <a:ext uri="{FF2B5EF4-FFF2-40B4-BE49-F238E27FC236}">
                <a16:creationId xmlns:a16="http://schemas.microsoft.com/office/drawing/2014/main" id="{D59BE33B-A5ED-402F-A7CC-D065289C1A17}"/>
              </a:ext>
            </a:extLst>
          </p:cNvPr>
          <p:cNvSpPr>
            <a:spLocks xmlns:a="http://schemas.openxmlformats.org/drawingml/2006/main" noGrp="1"/>
          </p:cNvSpPr>
          <p:nvPr/>
        </p:nvSpPr>
        <p:spPr>
          <a:xfrm xmlns:a="http://schemas.openxmlformats.org/drawingml/2006/main">
            <a:off x="1333500" y="2990850"/>
            <a:ext cx="533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171717"/>
                </a:solidFill>
                <a:latin typeface="Arial"/>
                <a:ea typeface="Arial"/>
                <a:cs typeface="Arial"/>
              </a:defRPr>
            </a:pPr>
            <a:r>
              <a:rPr sz="1650" b="0">
                <a:solidFill>
                  <a:srgbClr val="171717"/>
                </a:solidFill>
                <a:latin typeface="Arial"/>
                <a:ea typeface="Arial"/>
                <a:cs typeface="Arial"/>
              </a:rPr>
              <a:t>Ownership moves to the second address</a:t>
            </a:r>
          </a:p>
        </p:txBody>
      </p:sp>
      <p:sp>
        <p:nvSpPr>
          <p:cNvPr id="13" name="">
            <a:extLst xmlns:a="http://schemas.openxmlformats.org/drawingml/2006/main">
              <a:ext uri="{FF2B5EF4-FFF2-40B4-BE49-F238E27FC236}">
                <a16:creationId xmlns:a16="http://schemas.microsoft.com/office/drawing/2014/main" id="{62008BA7-373B-431C-A317-45E0C56D397F}"/>
              </a:ext>
            </a:extLst>
          </p:cNvPr>
          <p:cNvSpPr>
            <a:spLocks xmlns:a="http://schemas.openxmlformats.org/drawingml/2006/main" noGrp="1"/>
          </p:cNvSpPr>
          <p:nvPr/>
        </p:nvSpPr>
        <p:spPr>
          <a:xfrm xmlns:a="http://schemas.openxmlformats.org/drawingml/2006/main">
            <a:off x="742950" y="390525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E31937"/>
                </a:solidFill>
                <a:latin typeface="Arial"/>
                <a:ea typeface="Arial"/>
                <a:cs typeface="Arial"/>
              </a:defRPr>
            </a:pPr>
            <a:r>
              <a:rPr sz="2250" b="1">
                <a:solidFill>
                  <a:srgbClr val="E31937"/>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40953A64-9208-4239-8CF7-F9588E81EDC2}"/>
              </a:ext>
            </a:extLst>
          </p:cNvPr>
          <p:cNvSpPr>
            <a:spLocks xmlns:a="http://schemas.openxmlformats.org/drawingml/2006/main" noGrp="1"/>
          </p:cNvSpPr>
          <p:nvPr/>
        </p:nvSpPr>
        <p:spPr>
          <a:xfrm xmlns:a="http://schemas.openxmlformats.org/drawingml/2006/main">
            <a:off x="1333500" y="384810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defRPr sz="1800" b="1">
                <a:solidFill>
                  <a:srgbClr val="214F86"/>
                </a:solidFill>
                <a:latin typeface="Arial"/>
                <a:ea typeface="Arial"/>
                <a:cs typeface="Arial"/>
              </a:defRPr>
            </a:pPr>
            <a:r>
              <a:rPr sz="1800" b="1">
                <a:solidFill>
                  <a:srgbClr val="214F86"/>
                </a:solidFill>
                <a:latin typeface="Arial"/>
                <a:ea typeface="Arial"/>
                <a:cs typeface="Arial"/>
              </a:rPr>
              <a:t>VERIFY</a:t>
            </a:r>
          </a:p>
        </p:txBody>
      </p:sp>
      <p:sp>
        <p:nvSpPr>
          <p:cNvPr id="15" name="">
            <a:extLst xmlns:a="http://schemas.openxmlformats.org/drawingml/2006/main">
              <a:ext uri="{FF2B5EF4-FFF2-40B4-BE49-F238E27FC236}">
                <a16:creationId xmlns:a16="http://schemas.microsoft.com/office/drawing/2014/main" id="{E8534D54-5D3A-4396-874C-A6BF705D91E6}"/>
              </a:ext>
            </a:extLst>
          </p:cNvPr>
          <p:cNvSpPr>
            <a:spLocks xmlns:a="http://schemas.openxmlformats.org/drawingml/2006/main" noGrp="1"/>
          </p:cNvSpPr>
          <p:nvPr/>
        </p:nvSpPr>
        <p:spPr>
          <a:xfrm xmlns:a="http://schemas.openxmlformats.org/drawingml/2006/main">
            <a:off x="1333500" y="4229100"/>
            <a:ext cx="533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171717"/>
                </a:solidFill>
                <a:latin typeface="Arial"/>
                <a:ea typeface="Arial"/>
                <a:cs typeface="Arial"/>
              </a:defRPr>
            </a:pPr>
            <a:r>
              <a:rPr sz="1650" b="0">
                <a:solidFill>
                  <a:srgbClr val="171717"/>
                </a:solidFill>
                <a:latin typeface="Arial"/>
                <a:ea typeface="Arial"/>
                <a:cs typeface="Arial"/>
              </a:rPr>
              <a:t>ownerOf and Transfer event agree</a:t>
            </a:r>
          </a:p>
        </p:txBody>
      </p:sp>
      <p:sp>
        <p:nvSpPr>
          <p:cNvPr id="16" name="">
            <a:extLst xmlns:a="http://schemas.openxmlformats.org/drawingml/2006/main">
              <a:ext uri="{FF2B5EF4-FFF2-40B4-BE49-F238E27FC236}">
                <a16:creationId xmlns:a16="http://schemas.microsoft.com/office/drawing/2014/main" id="{3B497AAB-CB3A-4D62-AC3A-041BDCAD9069}"/>
              </a:ext>
            </a:extLst>
          </p:cNvPr>
          <p:cNvSpPr>
            <a:spLocks xmlns:a="http://schemas.openxmlformats.org/drawingml/2006/main" noGrp="1"/>
          </p:cNvSpPr>
          <p:nvPr/>
        </p:nvSpPr>
        <p:spPr>
          <a:xfrm xmlns:a="http://schemas.openxmlformats.org/drawingml/2006/main">
            <a:off x="876300" y="5334000"/>
            <a:ext cx="1038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214F86"/>
                </a:solidFill>
                <a:latin typeface="Arial"/>
                <a:ea typeface="Arial"/>
                <a:cs typeface="Arial"/>
              </a:defRPr>
            </a:pPr>
            <a:r>
              <a:rPr sz="1875" b="1">
                <a:solidFill>
                  <a:srgbClr val="214F86"/>
                </a:solidFill>
                <a:latin typeface="Arial"/>
                <a:ea typeface="Arial"/>
                <a:cs typeface="Arial"/>
              </a:rPr>
              <a:t>The screen, contract read and event history explain the same ownership change.</a:t>
            </a:r>
          </a:p>
        </p:txBody>
      </p:sp>
    </p:spTree>
    <p:extLst>
      <p:ext uri="{BB962C8B-B14F-4D97-AF65-F5344CB8AC3E}">
        <p14:creationId xmlns:p14="http://schemas.microsoft.com/office/powerpoint/2010/main" val="19461563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BBA6245-31F9-46D2-AC31-F2BF68D732B9}"/>
              </a:ext>
            </a:extLst>
          </p:cNvPr>
          <p:cNvSpPr>
            <a:spLocks xmlns:a="http://schemas.openxmlformats.org/drawingml/2006/main" noGrp="1"/>
          </p:cNvSpPr>
          <p:nvPr/>
        </p:nvSpPr>
        <p:spPr>
          <a:xfrm xmlns:a="http://schemas.openxmlformats.org/drawingml/2006/main">
            <a:off x="628650" y="3048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925" b="0">
                <a:solidFill>
                  <a:srgbClr val="000000"/>
                </a:solidFill>
                <a:latin typeface="Arial"/>
                <a:ea typeface="Arial"/>
                <a:cs typeface="Arial"/>
              </a:defRPr>
            </a:pPr>
            <a:r>
              <a:rPr sz="2925" b="0">
                <a:solidFill>
                  <a:srgbClr val="000000"/>
                </a:solidFill>
                <a:latin typeface="Arial"/>
                <a:ea typeface="Arial"/>
                <a:cs typeface="Arial"/>
              </a:rPr>
              <a:t>One-command local stack</a:t>
            </a:r>
          </a:p>
        </p:txBody>
      </p:sp>
      <p:sp>
        <p:nvSpPr>
          <p:cNvPr id="2" name="">
            <a:extLst xmlns:a="http://schemas.openxmlformats.org/drawingml/2006/main">
              <a:ext uri="{FF2B5EF4-FFF2-40B4-BE49-F238E27FC236}">
                <a16:creationId xmlns:a16="http://schemas.microsoft.com/office/drawing/2014/main" id="{167D9FA2-E536-41E8-8C10-DCDB05CBDFDA}"/>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8266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C914E77-70DA-403F-BEC9-E0269B006DF8}"/>
              </a:ext>
            </a:extLst>
          </p:cNvPr>
          <p:cNvSpPr>
            <a:spLocks xmlns:a="http://schemas.openxmlformats.org/drawingml/2006/main" noGrp="1"/>
          </p:cNvSpPr>
          <p:nvPr/>
        </p:nvSpPr>
        <p:spPr>
          <a:xfrm xmlns:a="http://schemas.openxmlformats.org/drawingml/2006/main">
            <a:off x="11049000" y="6781800"/>
            <a:ext cx="1143000" cy="76200"/>
          </a:xfrm>
          <a:prstGeom xmlns:a="http://schemas.openxmlformats.org/drawingml/2006/main" prst="rect">
            <a:avLst/>
          </a:prstGeom>
          <a:solidFill xmlns:a="http://schemas.openxmlformats.org/drawingml/2006/main">
            <a:srgbClr val="E3193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06705F2-C4E9-47F1-824F-C2423CD036A9}"/>
              </a:ext>
            </a:extLst>
          </p:cNvPr>
          <p:cNvSpPr>
            <a:spLocks xmlns:a="http://schemas.openxmlformats.org/drawingml/2006/main" noGrp="1"/>
          </p:cNvSpPr>
          <p:nvPr/>
        </p:nvSpPr>
        <p:spPr>
          <a:xfrm xmlns:a="http://schemas.openxmlformats.org/drawingml/2006/main">
            <a:off x="685800" y="6553200"/>
            <a:ext cx="514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FFFFFF"/>
                </a:solidFill>
                <a:latin typeface="Arial"/>
                <a:ea typeface="Arial"/>
                <a:cs typeface="Arial"/>
              </a:defRPr>
            </a:pPr>
            <a:r>
              <a:rPr sz="825" b="1">
                <a:solidFill>
                  <a:srgbClr val="FFFFFF"/>
                </a:solidFill>
                <a:latin typeface="Arial"/>
                <a:ea typeface="Arial"/>
                <a:cs typeface="Arial"/>
              </a:rPr>
              <a:t>NANYANG TECHNOLOGICAL UNIVERSITY | SINGAPORE</a:t>
            </a:r>
          </a:p>
        </p:txBody>
      </p:sp>
      <p:sp>
        <p:nvSpPr>
          <p:cNvPr id="5" name="">
            <a:extLst xmlns:a="http://schemas.openxmlformats.org/drawingml/2006/main">
              <a:ext uri="{FF2B5EF4-FFF2-40B4-BE49-F238E27FC236}">
                <a16:creationId xmlns:a16="http://schemas.microsoft.com/office/drawing/2014/main" id="{DA9E45EF-8CA6-4A1A-AC06-D04D652D51CB}"/>
              </a:ext>
            </a:extLst>
          </p:cNvPr>
          <p:cNvSpPr>
            <a:spLocks xmlns:a="http://schemas.openxmlformats.org/drawingml/2006/main" noGrp="1"/>
          </p:cNvSpPr>
          <p:nvPr/>
        </p:nvSpPr>
        <p:spPr>
          <a:xfrm xmlns:a="http://schemas.openxmlformats.org/drawingml/2006/main">
            <a:off x="11506200" y="65436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defRPr sz="1200" b="1">
                <a:solidFill>
                  <a:srgbClr val="FFFFFF"/>
                </a:solidFill>
                <a:latin typeface="Arial"/>
                <a:ea typeface="Arial"/>
                <a:cs typeface="Arial"/>
              </a:defRPr>
            </a:pPr>
            <a:r>
              <a:rPr sz="1200" b="1">
                <a:solidFill>
                  <a:srgbClr val="FFFFFF"/>
                </a:solidFill>
                <a:latin typeface="Arial"/>
                <a:ea typeface="Arial"/>
                <a:cs typeface="Arial"/>
              </a:rPr>
              <a:t>25</a:t>
            </a:r>
          </a:p>
        </p:txBody>
      </p:sp>
      <p:sp>
        <p:nvSpPr>
          <p:cNvPr id="6" name="">
            <a:extLst xmlns:a="http://schemas.openxmlformats.org/drawingml/2006/main">
              <a:ext uri="{FF2B5EF4-FFF2-40B4-BE49-F238E27FC236}">
                <a16:creationId xmlns:a16="http://schemas.microsoft.com/office/drawing/2014/main" id="{BACC9208-9183-4BE4-9F6F-013C08FF037B}"/>
              </a:ext>
            </a:extLst>
          </p:cNvPr>
          <p:cNvSpPr>
            <a:spLocks xmlns:a="http://schemas.openxmlformats.org/drawingml/2006/main" noGrp="1"/>
          </p:cNvSpPr>
          <p:nvPr/>
        </p:nvSpPr>
        <p:spPr>
          <a:xfrm xmlns:a="http://schemas.openxmlformats.org/drawingml/2006/main">
            <a:off x="685800" y="1476375"/>
            <a:ext cx="371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214F86"/>
                </a:solidFill>
                <a:latin typeface="Arial"/>
                <a:ea typeface="Arial"/>
                <a:cs typeface="Arial"/>
              </a:defRPr>
            </a:pPr>
            <a:r>
              <a:rPr sz="1875" b="1">
                <a:solidFill>
                  <a:srgbClr val="214F86"/>
                </a:solidFill>
                <a:latin typeface="Arial"/>
                <a:ea typeface="Arial"/>
                <a:cs typeface="Arial"/>
              </a:rPr>
              <a:t>./run-lock.command</a:t>
            </a:r>
          </a:p>
        </p:txBody>
      </p:sp>
      <p:sp>
        <p:nvSpPr>
          <p:cNvPr id="7" name="">
            <a:extLst xmlns:a="http://schemas.openxmlformats.org/drawingml/2006/main">
              <a:ext uri="{FF2B5EF4-FFF2-40B4-BE49-F238E27FC236}">
                <a16:creationId xmlns:a16="http://schemas.microsoft.com/office/drawing/2014/main" id="{BD105B16-6C59-4B57-BAC1-587B3673E01B}"/>
              </a:ext>
            </a:extLst>
          </p:cNvPr>
          <p:cNvSpPr>
            <a:spLocks xmlns:a="http://schemas.openxmlformats.org/drawingml/2006/main" noGrp="1"/>
          </p:cNvSpPr>
          <p:nvPr/>
        </p:nvSpPr>
        <p:spPr>
          <a:xfrm xmlns:a="http://schemas.openxmlformats.org/drawingml/2006/main">
            <a:off x="4476750" y="1476375"/>
            <a:ext cx="371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0">
                <a:solidFill>
                  <a:srgbClr val="171717"/>
                </a:solidFill>
                <a:latin typeface="Arial"/>
                <a:ea typeface="Arial"/>
                <a:cs typeface="Arial"/>
              </a:defRPr>
            </a:pPr>
            <a:r>
              <a:rPr sz="1725" b="0">
                <a:solidFill>
                  <a:srgbClr val="171717"/>
                </a:solidFill>
                <a:latin typeface="Arial"/>
                <a:ea typeface="Arial"/>
                <a:cs typeface="Arial"/>
              </a:rPr>
              <a:t>Ganache + original React</a:t>
            </a:r>
          </a:p>
        </p:txBody>
      </p:sp>
      <p:sp>
        <p:nvSpPr>
          <p:cNvPr id="8" name="">
            <a:extLst xmlns:a="http://schemas.openxmlformats.org/drawingml/2006/main">
              <a:ext uri="{FF2B5EF4-FFF2-40B4-BE49-F238E27FC236}">
                <a16:creationId xmlns:a16="http://schemas.microsoft.com/office/drawing/2014/main" id="{7E8EC912-6367-49D7-ABE3-ABADBF57B4B8}"/>
              </a:ext>
            </a:extLst>
          </p:cNvPr>
          <p:cNvSpPr>
            <a:spLocks xmlns:a="http://schemas.openxmlformats.org/drawingml/2006/main" noGrp="1"/>
          </p:cNvSpPr>
          <p:nvPr/>
        </p:nvSpPr>
        <p:spPr>
          <a:xfrm xmlns:a="http://schemas.openxmlformats.org/drawingml/2006/main">
            <a:off x="8286750" y="1476375"/>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00847E"/>
                </a:solidFill>
                <a:latin typeface="Arial"/>
                <a:ea typeface="Arial"/>
                <a:cs typeface="Arial"/>
              </a:defRPr>
            </a:pPr>
            <a:r>
              <a:rPr sz="1650" b="1">
                <a:solidFill>
                  <a:srgbClr val="00847E"/>
                </a:solidFill>
                <a:latin typeface="Arial"/>
                <a:ea typeface="Arial"/>
                <a:cs typeface="Arial"/>
              </a:rPr>
              <a:t>MetaMask signs</a:t>
            </a:r>
          </a:p>
        </p:txBody>
      </p:sp>
      <p:sp>
        <p:nvSpPr>
          <p:cNvPr id="9" name="">
            <a:extLst xmlns:a="http://schemas.openxmlformats.org/drawingml/2006/main">
              <a:ext uri="{FF2B5EF4-FFF2-40B4-BE49-F238E27FC236}">
                <a16:creationId xmlns:a16="http://schemas.microsoft.com/office/drawing/2014/main" id="{DF8A0888-207E-484C-894F-9EA61D94B7CF}"/>
              </a:ext>
            </a:extLst>
          </p:cNvPr>
          <p:cNvSpPr>
            <a:spLocks xmlns:a="http://schemas.openxmlformats.org/drawingml/2006/main" noGrp="1"/>
          </p:cNvSpPr>
          <p:nvPr/>
        </p:nvSpPr>
        <p:spPr>
          <a:xfrm xmlns:a="http://schemas.openxmlformats.org/drawingml/2006/main">
            <a:off x="685800" y="2200275"/>
            <a:ext cx="10744200" cy="0"/>
          </a:xfrm>
          <a:prstGeom xmlns:a="http://schemas.openxmlformats.org/drawingml/2006/main" prst="line">
            <a:avLst/>
          </a:prstGeom>
          <a:noFill xmlns:a="http://schemas.openxmlformats.org/drawingml/2006/main"/>
          <a:ln xmlns:a="http://schemas.openxmlformats.org/drawingml/2006/main" w="9525">
            <a:solidFill>
              <a:srgbClr val="D7E1EB"/>
            </a:solidFill>
          </a:ln>
        </p:spPr>
      </p:sp>
      <p:sp>
        <p:nvSpPr>
          <p:cNvPr id="10" name="">
            <a:extLst xmlns:a="http://schemas.openxmlformats.org/drawingml/2006/main">
              <a:ext uri="{FF2B5EF4-FFF2-40B4-BE49-F238E27FC236}">
                <a16:creationId xmlns:a16="http://schemas.microsoft.com/office/drawing/2014/main" id="{566B5BD8-1E56-461C-AC1A-97FB5C17C80C}"/>
              </a:ext>
            </a:extLst>
          </p:cNvPr>
          <p:cNvSpPr>
            <a:spLocks xmlns:a="http://schemas.openxmlformats.org/drawingml/2006/main" noGrp="1"/>
          </p:cNvSpPr>
          <p:nvPr/>
        </p:nvSpPr>
        <p:spPr>
          <a:xfrm xmlns:a="http://schemas.openxmlformats.org/drawingml/2006/main">
            <a:off x="685800" y="2667000"/>
            <a:ext cx="371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214F86"/>
                </a:solidFill>
                <a:latin typeface="Arial"/>
                <a:ea typeface="Arial"/>
                <a:cs typeface="Arial"/>
              </a:defRPr>
            </a:pPr>
            <a:r>
              <a:rPr sz="1875" b="1">
                <a:solidFill>
                  <a:srgbClr val="214F86"/>
                </a:solidFill>
                <a:latin typeface="Arial"/>
                <a:ea typeface="Arial"/>
                <a:cs typeface="Arial"/>
              </a:rPr>
              <a:t>./run-election.command</a:t>
            </a:r>
          </a:p>
        </p:txBody>
      </p:sp>
      <p:sp>
        <p:nvSpPr>
          <p:cNvPr id="11" name="">
            <a:extLst xmlns:a="http://schemas.openxmlformats.org/drawingml/2006/main">
              <a:ext uri="{FF2B5EF4-FFF2-40B4-BE49-F238E27FC236}">
                <a16:creationId xmlns:a16="http://schemas.microsoft.com/office/drawing/2014/main" id="{586094A8-A507-42CB-9D0D-4E632D5C2BC9}"/>
              </a:ext>
            </a:extLst>
          </p:cNvPr>
          <p:cNvSpPr>
            <a:spLocks xmlns:a="http://schemas.openxmlformats.org/drawingml/2006/main" noGrp="1"/>
          </p:cNvSpPr>
          <p:nvPr/>
        </p:nvSpPr>
        <p:spPr>
          <a:xfrm xmlns:a="http://schemas.openxmlformats.org/drawingml/2006/main">
            <a:off x="4476750" y="2667000"/>
            <a:ext cx="371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0">
                <a:solidFill>
                  <a:srgbClr val="171717"/>
                </a:solidFill>
                <a:latin typeface="Arial"/>
                <a:ea typeface="Arial"/>
                <a:cs typeface="Arial"/>
              </a:defRPr>
            </a:pPr>
            <a:r>
              <a:rPr sz="1725" b="0">
                <a:solidFill>
                  <a:srgbClr val="171717"/>
                </a:solidFill>
                <a:latin typeface="Arial"/>
                <a:ea typeface="Arial"/>
                <a:cs typeface="Arial"/>
              </a:rPr>
              <a:t>Ganache + Express + original React</a:t>
            </a:r>
          </a:p>
        </p:txBody>
      </p:sp>
      <p:sp>
        <p:nvSpPr>
          <p:cNvPr id="12" name="">
            <a:extLst xmlns:a="http://schemas.openxmlformats.org/drawingml/2006/main">
              <a:ext uri="{FF2B5EF4-FFF2-40B4-BE49-F238E27FC236}">
                <a16:creationId xmlns:a16="http://schemas.microsoft.com/office/drawing/2014/main" id="{EFF7C884-F50D-4984-A6F6-5BF81B6844F3}"/>
              </a:ext>
            </a:extLst>
          </p:cNvPr>
          <p:cNvSpPr>
            <a:spLocks xmlns:a="http://schemas.openxmlformats.org/drawingml/2006/main" noGrp="1"/>
          </p:cNvSpPr>
          <p:nvPr/>
        </p:nvSpPr>
        <p:spPr>
          <a:xfrm xmlns:a="http://schemas.openxmlformats.org/drawingml/2006/main">
            <a:off x="8286750" y="2667000"/>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E31937"/>
                </a:solidFill>
                <a:latin typeface="Arial"/>
                <a:ea typeface="Arial"/>
                <a:cs typeface="Arial"/>
              </a:defRPr>
            </a:pPr>
            <a:r>
              <a:rPr sz="1650" b="1">
                <a:solidFill>
                  <a:srgbClr val="E31937"/>
                </a:solidFill>
                <a:latin typeface="Arial"/>
                <a:ea typeface="Arial"/>
                <a:cs typeface="Arial"/>
              </a:rPr>
              <a:t>Server Web3 signs</a:t>
            </a:r>
          </a:p>
        </p:txBody>
      </p:sp>
      <p:sp>
        <p:nvSpPr>
          <p:cNvPr id="13" name="">
            <a:extLst xmlns:a="http://schemas.openxmlformats.org/drawingml/2006/main">
              <a:ext uri="{FF2B5EF4-FFF2-40B4-BE49-F238E27FC236}">
                <a16:creationId xmlns:a16="http://schemas.microsoft.com/office/drawing/2014/main" id="{545CD61E-E1F1-4B65-AFD9-05BCA3304C0B}"/>
              </a:ext>
            </a:extLst>
          </p:cNvPr>
          <p:cNvSpPr>
            <a:spLocks xmlns:a="http://schemas.openxmlformats.org/drawingml/2006/main" noGrp="1"/>
          </p:cNvSpPr>
          <p:nvPr/>
        </p:nvSpPr>
        <p:spPr>
          <a:xfrm xmlns:a="http://schemas.openxmlformats.org/drawingml/2006/main">
            <a:off x="685800" y="3390900"/>
            <a:ext cx="10744200" cy="0"/>
          </a:xfrm>
          <a:prstGeom xmlns:a="http://schemas.openxmlformats.org/drawingml/2006/main" prst="line">
            <a:avLst/>
          </a:prstGeom>
          <a:noFill xmlns:a="http://schemas.openxmlformats.org/drawingml/2006/main"/>
          <a:ln xmlns:a="http://schemas.openxmlformats.org/drawingml/2006/main" w="9525">
            <a:solidFill>
              <a:srgbClr val="D7E1EB"/>
            </a:solidFill>
          </a:ln>
        </p:spPr>
      </p:sp>
      <p:sp>
        <p:nvSpPr>
          <p:cNvPr id="14" name="">
            <a:extLst xmlns:a="http://schemas.openxmlformats.org/drawingml/2006/main">
              <a:ext uri="{FF2B5EF4-FFF2-40B4-BE49-F238E27FC236}">
                <a16:creationId xmlns:a16="http://schemas.microsoft.com/office/drawing/2014/main" id="{145C413B-7581-493F-96B5-8BC6191C6633}"/>
              </a:ext>
            </a:extLst>
          </p:cNvPr>
          <p:cNvSpPr>
            <a:spLocks xmlns:a="http://schemas.openxmlformats.org/drawingml/2006/main" noGrp="1"/>
          </p:cNvSpPr>
          <p:nvPr/>
        </p:nvSpPr>
        <p:spPr>
          <a:xfrm xmlns:a="http://schemas.openxmlformats.org/drawingml/2006/main">
            <a:off x="685800" y="3857625"/>
            <a:ext cx="371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214F86"/>
                </a:solidFill>
                <a:latin typeface="Arial"/>
                <a:ea typeface="Arial"/>
                <a:cs typeface="Arial"/>
              </a:defRPr>
            </a:pPr>
            <a:r>
              <a:rPr sz="1875" b="1">
                <a:solidFill>
                  <a:srgbClr val="214F86"/>
                </a:solidFill>
                <a:latin typeface="Arial"/>
                <a:ea typeface="Arial"/>
                <a:cs typeface="Arial"/>
              </a:rPr>
              <a:t>./run-tokenization.command</a:t>
            </a:r>
          </a:p>
        </p:txBody>
      </p:sp>
      <p:sp>
        <p:nvSpPr>
          <p:cNvPr id="15" name="">
            <a:extLst xmlns:a="http://schemas.openxmlformats.org/drawingml/2006/main">
              <a:ext uri="{FF2B5EF4-FFF2-40B4-BE49-F238E27FC236}">
                <a16:creationId xmlns:a16="http://schemas.microsoft.com/office/drawing/2014/main" id="{FDB916D8-C6BA-4173-A797-65FBC9702D34}"/>
              </a:ext>
            </a:extLst>
          </p:cNvPr>
          <p:cNvSpPr>
            <a:spLocks xmlns:a="http://schemas.openxmlformats.org/drawingml/2006/main" noGrp="1"/>
          </p:cNvSpPr>
          <p:nvPr/>
        </p:nvSpPr>
        <p:spPr>
          <a:xfrm xmlns:a="http://schemas.openxmlformats.org/drawingml/2006/main">
            <a:off x="4476750" y="3857625"/>
            <a:ext cx="371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0">
                <a:solidFill>
                  <a:srgbClr val="171717"/>
                </a:solidFill>
                <a:latin typeface="Arial"/>
                <a:ea typeface="Arial"/>
                <a:cs typeface="Arial"/>
              </a:defRPr>
            </a:pPr>
            <a:r>
              <a:rPr sz="1725" b="0">
                <a:solidFill>
                  <a:srgbClr val="171717"/>
                </a:solidFill>
                <a:latin typeface="Arial"/>
                <a:ea typeface="Arial"/>
                <a:cs typeface="Arial"/>
              </a:rPr>
              <a:t>Hardhat + official Next.js</a:t>
            </a:r>
          </a:p>
        </p:txBody>
      </p:sp>
      <p:sp>
        <p:nvSpPr>
          <p:cNvPr id="16" name="">
            <a:extLst xmlns:a="http://schemas.openxmlformats.org/drawingml/2006/main">
              <a:ext uri="{FF2B5EF4-FFF2-40B4-BE49-F238E27FC236}">
                <a16:creationId xmlns:a16="http://schemas.microsoft.com/office/drawing/2014/main" id="{13C745F2-C14E-41C5-9434-E566A900CA73}"/>
              </a:ext>
            </a:extLst>
          </p:cNvPr>
          <p:cNvSpPr>
            <a:spLocks xmlns:a="http://schemas.openxmlformats.org/drawingml/2006/main" noGrp="1"/>
          </p:cNvSpPr>
          <p:nvPr/>
        </p:nvSpPr>
        <p:spPr>
          <a:xfrm xmlns:a="http://schemas.openxmlformats.org/drawingml/2006/main">
            <a:off x="8286750" y="3857625"/>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20"/>
          </a:bodyPr>
          <a:lstStyle xmlns:a="http://schemas.openxmlformats.org/drawingml/2006/main"/>
          <a:p xmlns:a="http://schemas.openxmlformats.org/drawingml/2006/main">
            <a:pPr>
              <a:defRPr sz="1650" b="1">
                <a:solidFill>
                  <a:srgbClr val="00847E"/>
                </a:solidFill>
                <a:latin typeface="Arial"/>
                <a:ea typeface="Arial"/>
                <a:cs typeface="Arial"/>
              </a:defRPr>
            </a:pPr>
            <a:r>
              <a:rPr sz="1650" b="1">
                <a:solidFill>
                  <a:srgbClr val="00847E"/>
                </a:solidFill>
                <a:latin typeface="Arial"/>
                <a:ea typeface="Arial"/>
                <a:cs typeface="Arial"/>
              </a:rPr>
              <a:t>Burner wallet or MetaMask signs</a:t>
            </a:r>
          </a:p>
        </p:txBody>
      </p:sp>
      <p:sp>
        <p:nvSpPr>
          <p:cNvPr id="17" name="">
            <a:extLst xmlns:a="http://schemas.openxmlformats.org/drawingml/2006/main">
              <a:ext uri="{FF2B5EF4-FFF2-40B4-BE49-F238E27FC236}">
                <a16:creationId xmlns:a16="http://schemas.microsoft.com/office/drawing/2014/main" id="{B1B10EA1-82D8-4E06-A07A-00AD495238CD}"/>
              </a:ext>
            </a:extLst>
          </p:cNvPr>
          <p:cNvSpPr>
            <a:spLocks xmlns:a="http://schemas.openxmlformats.org/drawingml/2006/main" noGrp="1"/>
          </p:cNvSpPr>
          <p:nvPr/>
        </p:nvSpPr>
        <p:spPr>
          <a:xfrm xmlns:a="http://schemas.openxmlformats.org/drawingml/2006/main">
            <a:off x="685800" y="4581525"/>
            <a:ext cx="10744200" cy="0"/>
          </a:xfrm>
          <a:prstGeom xmlns:a="http://schemas.openxmlformats.org/drawingml/2006/main" prst="line">
            <a:avLst/>
          </a:prstGeom>
          <a:noFill xmlns:a="http://schemas.openxmlformats.org/drawingml/2006/main"/>
          <a:ln xmlns:a="http://schemas.openxmlformats.org/drawingml/2006/main" w="9525">
            <a:solidFill>
              <a:srgbClr val="D7E1EB"/>
            </a:solidFill>
          </a:ln>
        </p:spPr>
      </p:sp>
      <p:sp>
        <p:nvSpPr>
          <p:cNvPr id="18" name="">
            <a:extLst xmlns:a="http://schemas.openxmlformats.org/drawingml/2006/main">
              <a:ext uri="{FF2B5EF4-FFF2-40B4-BE49-F238E27FC236}">
                <a16:creationId xmlns:a16="http://schemas.microsoft.com/office/drawing/2014/main" id="{B5629F1A-BF79-4559-A046-BD07639F0FE2}"/>
              </a:ext>
            </a:extLst>
          </p:cNvPr>
          <p:cNvSpPr>
            <a:spLocks xmlns:a="http://schemas.openxmlformats.org/drawingml/2006/main" noGrp="1"/>
          </p:cNvSpPr>
          <p:nvPr/>
        </p:nvSpPr>
        <p:spPr>
          <a:xfrm xmlns:a="http://schemas.openxmlformats.org/drawingml/2006/main">
            <a:off x="904875" y="521970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654"/>
          </a:bodyPr>
          <a:lstStyle xmlns:a="http://schemas.openxmlformats.org/drawingml/2006/main"/>
          <a:p xmlns:a="http://schemas.openxmlformats.org/drawingml/2006/main">
            <a:pPr>
              <a:defRPr sz="1725" b="0">
                <a:solidFill>
                  <a:srgbClr val="5B6574"/>
                </a:solidFill>
                <a:latin typeface="Arial"/>
                <a:ea typeface="Arial"/>
                <a:cs typeface="Arial"/>
              </a:defRPr>
            </a:pPr>
            <a:r>
              <a:rPr sz="1725" b="0">
                <a:solidFill>
                  <a:srgbClr val="5B6574"/>
                </a:solidFill>
                <a:latin typeface="Arial"/>
                <a:ea typeface="Arial"/>
                <a:cs typeface="Arial"/>
              </a:rPr>
              <a:t>First install happens before class. Ctrl+C stops the complete stack and the next run creates a fresh chain.</a:t>
            </a:r>
          </a:p>
        </p:txBody>
      </p:sp>
    </p:spTree>
    <p:extLst>
      <p:ext uri="{BB962C8B-B14F-4D97-AF65-F5344CB8AC3E}">
        <p14:creationId xmlns:p14="http://schemas.microsoft.com/office/powerpoint/2010/main" val="12549442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8A6B417-A3DC-411A-99BE-2CACBD8EBE5F}"/>
              </a:ext>
            </a:extLst>
          </p:cNvPr>
          <p:cNvSpPr>
            <a:spLocks xmlns:a="http://schemas.openxmlformats.org/drawingml/2006/main" noGrp="1"/>
          </p:cNvSpPr>
          <p:nvPr/>
        </p:nvSpPr>
        <p:spPr>
          <a:xfrm xmlns:a="http://schemas.openxmlformats.org/drawingml/2006/main">
            <a:off x="628650" y="304800"/>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925" b="0">
                <a:solidFill>
                  <a:srgbClr val="000000"/>
                </a:solidFill>
                <a:latin typeface="Arial"/>
                <a:ea typeface="Arial"/>
                <a:cs typeface="Arial"/>
              </a:defRPr>
            </a:pPr>
            <a:r>
              <a:rPr sz="2925" b="0">
                <a:solidFill>
                  <a:srgbClr val="000000"/>
                </a:solidFill>
                <a:latin typeface="Arial"/>
                <a:ea typeface="Arial"/>
                <a:cs typeface="Arial"/>
              </a:rPr>
              <a:t>Architecture comparison and questions</a:t>
            </a:r>
          </a:p>
        </p:txBody>
      </p:sp>
      <p:sp>
        <p:nvSpPr>
          <p:cNvPr id="2" name="">
            <a:extLst xmlns:a="http://schemas.openxmlformats.org/drawingml/2006/main">
              <a:ext uri="{FF2B5EF4-FFF2-40B4-BE49-F238E27FC236}">
                <a16:creationId xmlns:a16="http://schemas.microsoft.com/office/drawing/2014/main" id="{0ED0611C-8B52-4F56-911C-F98D78CDECB3}"/>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8266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F59B6CE-B220-43D4-AAAB-410C2D5E5F4A}"/>
              </a:ext>
            </a:extLst>
          </p:cNvPr>
          <p:cNvSpPr>
            <a:spLocks xmlns:a="http://schemas.openxmlformats.org/drawingml/2006/main" noGrp="1"/>
          </p:cNvSpPr>
          <p:nvPr/>
        </p:nvSpPr>
        <p:spPr>
          <a:xfrm xmlns:a="http://schemas.openxmlformats.org/drawingml/2006/main">
            <a:off x="11049000" y="6781800"/>
            <a:ext cx="1143000" cy="76200"/>
          </a:xfrm>
          <a:prstGeom xmlns:a="http://schemas.openxmlformats.org/drawingml/2006/main" prst="rect">
            <a:avLst/>
          </a:prstGeom>
          <a:solidFill xmlns:a="http://schemas.openxmlformats.org/drawingml/2006/main">
            <a:srgbClr val="E3193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3623AA9-9C1D-4FA2-B488-ABB2BC9B9199}"/>
              </a:ext>
            </a:extLst>
          </p:cNvPr>
          <p:cNvSpPr>
            <a:spLocks xmlns:a="http://schemas.openxmlformats.org/drawingml/2006/main" noGrp="1"/>
          </p:cNvSpPr>
          <p:nvPr/>
        </p:nvSpPr>
        <p:spPr>
          <a:xfrm xmlns:a="http://schemas.openxmlformats.org/drawingml/2006/main">
            <a:off x="685800" y="6553200"/>
            <a:ext cx="514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FFFFFF"/>
                </a:solidFill>
                <a:latin typeface="Arial"/>
                <a:ea typeface="Arial"/>
                <a:cs typeface="Arial"/>
              </a:defRPr>
            </a:pPr>
            <a:r>
              <a:rPr sz="825" b="1">
                <a:solidFill>
                  <a:srgbClr val="FFFFFF"/>
                </a:solidFill>
                <a:latin typeface="Arial"/>
                <a:ea typeface="Arial"/>
                <a:cs typeface="Arial"/>
              </a:rPr>
              <a:t>NANYANG TECHNOLOGICAL UNIVERSITY | SINGAPORE</a:t>
            </a:r>
          </a:p>
        </p:txBody>
      </p:sp>
      <p:sp>
        <p:nvSpPr>
          <p:cNvPr id="5" name="">
            <a:extLst xmlns:a="http://schemas.openxmlformats.org/drawingml/2006/main">
              <a:ext uri="{FF2B5EF4-FFF2-40B4-BE49-F238E27FC236}">
                <a16:creationId xmlns:a16="http://schemas.microsoft.com/office/drawing/2014/main" id="{7D9A4128-D42C-4382-B2A5-E265496FF40E}"/>
              </a:ext>
            </a:extLst>
          </p:cNvPr>
          <p:cNvSpPr>
            <a:spLocks xmlns:a="http://schemas.openxmlformats.org/drawingml/2006/main" noGrp="1"/>
          </p:cNvSpPr>
          <p:nvPr/>
        </p:nvSpPr>
        <p:spPr>
          <a:xfrm xmlns:a="http://schemas.openxmlformats.org/drawingml/2006/main">
            <a:off x="11506200" y="654367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defRPr sz="1200" b="1">
                <a:solidFill>
                  <a:srgbClr val="FFFFFF"/>
                </a:solidFill>
                <a:latin typeface="Arial"/>
                <a:ea typeface="Arial"/>
                <a:cs typeface="Arial"/>
              </a:defRPr>
            </a:pPr>
            <a:r>
              <a:rPr sz="1200" b="1">
                <a:solidFill>
                  <a:srgbClr val="FFFFFF"/>
                </a:solidFill>
                <a:latin typeface="Arial"/>
                <a:ea typeface="Arial"/>
                <a:cs typeface="Arial"/>
              </a:rPr>
              <a:t>26</a:t>
            </a:r>
          </a:p>
        </p:txBody>
      </p:sp>
      <p:sp>
        <p:nvSpPr>
          <p:cNvPr id="6" name="">
            <a:extLst xmlns:a="http://schemas.openxmlformats.org/drawingml/2006/main">
              <a:ext uri="{FF2B5EF4-FFF2-40B4-BE49-F238E27FC236}">
                <a16:creationId xmlns:a16="http://schemas.microsoft.com/office/drawing/2014/main" id="{78734197-6B44-476C-9E26-1438CD01D0E0}"/>
              </a:ext>
            </a:extLst>
          </p:cNvPr>
          <p:cNvSpPr>
            <a:spLocks xmlns:a="http://schemas.openxmlformats.org/drawingml/2006/main" noGrp="1"/>
          </p:cNvSpPr>
          <p:nvPr/>
        </p:nvSpPr>
        <p:spPr>
          <a:xfrm xmlns:a="http://schemas.openxmlformats.org/drawingml/2006/main">
            <a:off x="914400" y="158115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214F86"/>
                </a:solidFill>
                <a:latin typeface="Arial"/>
                <a:ea typeface="Arial"/>
                <a:cs typeface="Arial"/>
              </a:defRPr>
            </a:pPr>
            <a:r>
              <a:rPr sz="1500" b="1">
                <a:solidFill>
                  <a:srgbClr val="214F86"/>
                </a:solidFill>
                <a:latin typeface="Arial"/>
                <a:ea typeface="Arial"/>
                <a:cs typeface="Arial"/>
              </a:rPr>
              <a:t>LOCK</a:t>
            </a:r>
          </a:p>
        </p:txBody>
      </p:sp>
      <p:sp>
        <p:nvSpPr>
          <p:cNvPr id="7" name="">
            <a:extLst xmlns:a="http://schemas.openxmlformats.org/drawingml/2006/main">
              <a:ext uri="{FF2B5EF4-FFF2-40B4-BE49-F238E27FC236}">
                <a16:creationId xmlns:a16="http://schemas.microsoft.com/office/drawing/2014/main" id="{50770E57-930C-4D0C-A4CC-7DE49ED0E0D1}"/>
              </a:ext>
            </a:extLst>
          </p:cNvPr>
          <p:cNvSpPr>
            <a:spLocks xmlns:a="http://schemas.openxmlformats.org/drawingml/2006/main" noGrp="1"/>
          </p:cNvSpPr>
          <p:nvPr/>
        </p:nvSpPr>
        <p:spPr>
          <a:xfrm xmlns:a="http://schemas.openxmlformats.org/drawingml/2006/main">
            <a:off x="914400" y="203835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04"/>
          </a:bodyPr>
          <a:lstStyle xmlns:a="http://schemas.openxmlformats.org/drawingml/2006/main"/>
          <a:p xmlns:a="http://schemas.openxmlformats.org/drawingml/2006/main">
            <a:pPr>
              <a:defRPr sz="2025" b="1">
                <a:solidFill>
                  <a:srgbClr val="171717"/>
                </a:solidFill>
                <a:latin typeface="Arial"/>
                <a:ea typeface="Arial"/>
                <a:cs typeface="Arial"/>
              </a:defRPr>
            </a:pPr>
            <a:r>
              <a:rPr sz="2025" b="1">
                <a:solidFill>
                  <a:srgbClr val="171717"/>
                </a:solidFill>
                <a:latin typeface="Arial"/>
                <a:ea typeface="Arial"/>
                <a:cs typeface="Arial"/>
              </a:rPr>
              <a:t>User-controlled key</a:t>
            </a:r>
          </a:p>
          <a:p xmlns:a="http://schemas.openxmlformats.org/drawingml/2006/main">
            <a:pPr>
              <a:defRPr sz="2025" b="1">
                <a:solidFill>
                  <a:srgbClr val="171717"/>
                </a:solidFill>
                <a:latin typeface="Arial"/>
                <a:ea typeface="Arial"/>
                <a:cs typeface="Arial"/>
              </a:defRPr>
            </a:pPr>
            <a:r>
              <a:rPr sz="2025" b="1">
                <a:solidFill>
                  <a:srgbClr val="171717"/>
                </a:solidFill>
                <a:latin typeface="Arial"/>
                <a:ea typeface="Arial"/>
                <a:cs typeface="Arial"/>
              </a:rPr>
              <a:t>MetaMask confirmation</a:t>
            </a:r>
          </a:p>
        </p:txBody>
      </p:sp>
      <p:sp>
        <p:nvSpPr>
          <p:cNvPr id="8" name="">
            <a:extLst xmlns:a="http://schemas.openxmlformats.org/drawingml/2006/main">
              <a:ext uri="{FF2B5EF4-FFF2-40B4-BE49-F238E27FC236}">
                <a16:creationId xmlns:a16="http://schemas.microsoft.com/office/drawing/2014/main" id="{84259448-FA31-4262-A896-19B9FC5DB1A0}"/>
              </a:ext>
            </a:extLst>
          </p:cNvPr>
          <p:cNvSpPr>
            <a:spLocks xmlns:a="http://schemas.openxmlformats.org/drawingml/2006/main" noGrp="1"/>
          </p:cNvSpPr>
          <p:nvPr/>
        </p:nvSpPr>
        <p:spPr>
          <a:xfrm xmlns:a="http://schemas.openxmlformats.org/drawingml/2006/main">
            <a:off x="4857750" y="158115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5B4B9A"/>
                </a:solidFill>
                <a:latin typeface="Arial"/>
                <a:ea typeface="Arial"/>
                <a:cs typeface="Arial"/>
              </a:defRPr>
            </a:pPr>
            <a:r>
              <a:rPr sz="1500" b="1">
                <a:solidFill>
                  <a:srgbClr val="5B4B9A"/>
                </a:solidFill>
                <a:latin typeface="Arial"/>
                <a:ea typeface="Arial"/>
                <a:cs typeface="Arial"/>
              </a:rPr>
              <a:t>ELECTION</a:t>
            </a:r>
          </a:p>
        </p:txBody>
      </p:sp>
      <p:sp>
        <p:nvSpPr>
          <p:cNvPr id="9" name="">
            <a:extLst xmlns:a="http://schemas.openxmlformats.org/drawingml/2006/main">
              <a:ext uri="{FF2B5EF4-FFF2-40B4-BE49-F238E27FC236}">
                <a16:creationId xmlns:a16="http://schemas.microsoft.com/office/drawing/2014/main" id="{E035C84C-7B9E-43C6-BE63-6A659C61CC4B}"/>
              </a:ext>
            </a:extLst>
          </p:cNvPr>
          <p:cNvSpPr>
            <a:spLocks xmlns:a="http://schemas.openxmlformats.org/drawingml/2006/main" noGrp="1"/>
          </p:cNvSpPr>
          <p:nvPr/>
        </p:nvSpPr>
        <p:spPr>
          <a:xfrm xmlns:a="http://schemas.openxmlformats.org/drawingml/2006/main">
            <a:off x="4857750" y="203835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04"/>
          </a:bodyPr>
          <a:lstStyle xmlns:a="http://schemas.openxmlformats.org/drawingml/2006/main"/>
          <a:p xmlns:a="http://schemas.openxmlformats.org/drawingml/2006/main">
            <a:pPr>
              <a:defRPr sz="2025" b="1">
                <a:solidFill>
                  <a:srgbClr val="171717"/>
                </a:solidFill>
                <a:latin typeface="Arial"/>
                <a:ea typeface="Arial"/>
                <a:cs typeface="Arial"/>
              </a:defRPr>
            </a:pPr>
            <a:r>
              <a:rPr sz="2025" b="1">
                <a:solidFill>
                  <a:srgbClr val="171717"/>
                </a:solidFill>
                <a:latin typeface="Arial"/>
                <a:ea typeface="Arial"/>
                <a:cs typeface="Arial"/>
              </a:rPr>
              <a:t>Trusted server key</a:t>
            </a:r>
          </a:p>
          <a:p xmlns:a="http://schemas.openxmlformats.org/drawingml/2006/main">
            <a:pPr>
              <a:defRPr sz="2025" b="1">
                <a:solidFill>
                  <a:srgbClr val="171717"/>
                </a:solidFill>
                <a:latin typeface="Arial"/>
                <a:ea typeface="Arial"/>
                <a:cs typeface="Arial"/>
              </a:defRPr>
            </a:pPr>
            <a:r>
              <a:rPr sz="2025" b="1">
                <a:solidFill>
                  <a:srgbClr val="171717"/>
                </a:solidFill>
                <a:latin typeface="Arial"/>
                <a:ea typeface="Arial"/>
                <a:cs typeface="Arial"/>
              </a:rPr>
              <a:t>No browser approval</a:t>
            </a:r>
          </a:p>
        </p:txBody>
      </p:sp>
      <p:sp>
        <p:nvSpPr>
          <p:cNvPr id="10" name="">
            <a:extLst xmlns:a="http://schemas.openxmlformats.org/drawingml/2006/main">
              <a:ext uri="{FF2B5EF4-FFF2-40B4-BE49-F238E27FC236}">
                <a16:creationId xmlns:a16="http://schemas.microsoft.com/office/drawing/2014/main" id="{8F0E227E-ACCB-4FB2-8332-2E31B6258681}"/>
              </a:ext>
            </a:extLst>
          </p:cNvPr>
          <p:cNvSpPr>
            <a:spLocks xmlns:a="http://schemas.openxmlformats.org/drawingml/2006/main" noGrp="1"/>
          </p:cNvSpPr>
          <p:nvPr/>
        </p:nvSpPr>
        <p:spPr>
          <a:xfrm xmlns:a="http://schemas.openxmlformats.org/drawingml/2006/main">
            <a:off x="8801100" y="158115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00847E"/>
                </a:solidFill>
                <a:latin typeface="Arial"/>
                <a:ea typeface="Arial"/>
                <a:cs typeface="Arial"/>
              </a:defRPr>
            </a:pPr>
            <a:r>
              <a:rPr sz="1500" b="1">
                <a:solidFill>
                  <a:srgbClr val="00847E"/>
                </a:solidFill>
                <a:latin typeface="Arial"/>
                <a:ea typeface="Arial"/>
                <a:cs typeface="Arial"/>
              </a:rPr>
              <a:t>TOKENIZATION</a:t>
            </a:r>
          </a:p>
        </p:txBody>
      </p:sp>
      <p:sp>
        <p:nvSpPr>
          <p:cNvPr id="11" name="">
            <a:extLst xmlns:a="http://schemas.openxmlformats.org/drawingml/2006/main">
              <a:ext uri="{FF2B5EF4-FFF2-40B4-BE49-F238E27FC236}">
                <a16:creationId xmlns:a16="http://schemas.microsoft.com/office/drawing/2014/main" id="{A127E211-E697-4922-9225-A2D2AB385484}"/>
              </a:ext>
            </a:extLst>
          </p:cNvPr>
          <p:cNvSpPr>
            <a:spLocks xmlns:a="http://schemas.openxmlformats.org/drawingml/2006/main" noGrp="1"/>
          </p:cNvSpPr>
          <p:nvPr/>
        </p:nvSpPr>
        <p:spPr>
          <a:xfrm xmlns:a="http://schemas.openxmlformats.org/drawingml/2006/main">
            <a:off x="8801100" y="203835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683"/>
          </a:bodyPr>
          <a:lstStyle xmlns:a="http://schemas.openxmlformats.org/drawingml/2006/main"/>
          <a:p xmlns:a="http://schemas.openxmlformats.org/drawingml/2006/main">
            <a:pPr>
              <a:defRPr sz="2025" b="1">
                <a:solidFill>
                  <a:srgbClr val="171717"/>
                </a:solidFill>
                <a:latin typeface="Arial"/>
                <a:ea typeface="Arial"/>
                <a:cs typeface="Arial"/>
              </a:defRPr>
            </a:pPr>
            <a:r>
              <a:rPr sz="2025" b="1">
                <a:solidFill>
                  <a:srgbClr val="171717"/>
                </a:solidFill>
                <a:latin typeface="Arial"/>
                <a:ea typeface="Arial"/>
                <a:cs typeface="Arial"/>
              </a:rPr>
              <a:t>Burner or MetaMask</a:t>
            </a:r>
          </a:p>
          <a:p xmlns:a="http://schemas.openxmlformats.org/drawingml/2006/main">
            <a:pPr>
              <a:defRPr sz="2025" b="1">
                <a:solidFill>
                  <a:srgbClr val="171717"/>
                </a:solidFill>
                <a:latin typeface="Arial"/>
                <a:ea typeface="Arial"/>
                <a:cs typeface="Arial"/>
              </a:defRPr>
            </a:pPr>
            <a:r>
              <a:rPr sz="2025" b="1">
                <a:solidFill>
                  <a:srgbClr val="171717"/>
                </a:solidFill>
                <a:latin typeface="Arial"/>
                <a:ea typeface="Arial"/>
                <a:cs typeface="Arial"/>
              </a:rPr>
              <a:t>Ownership plus metadata</a:t>
            </a:r>
          </a:p>
        </p:txBody>
      </p:sp>
      <p:sp>
        <p:nvSpPr>
          <p:cNvPr id="12" name="">
            <a:extLst xmlns:a="http://schemas.openxmlformats.org/drawingml/2006/main">
              <a:ext uri="{FF2B5EF4-FFF2-40B4-BE49-F238E27FC236}">
                <a16:creationId xmlns:a16="http://schemas.microsoft.com/office/drawing/2014/main" id="{DF051312-EB9C-4DAA-8DDF-4202CFDDAA61}"/>
              </a:ext>
            </a:extLst>
          </p:cNvPr>
          <p:cNvSpPr>
            <a:spLocks xmlns:a="http://schemas.openxmlformats.org/drawingml/2006/main" noGrp="1"/>
          </p:cNvSpPr>
          <p:nvPr/>
        </p:nvSpPr>
        <p:spPr>
          <a:xfrm xmlns:a="http://schemas.openxmlformats.org/drawingml/2006/main">
            <a:off x="3905250" y="1638300"/>
            <a:ext cx="0" cy="1809750"/>
          </a:xfrm>
          <a:prstGeom xmlns:a="http://schemas.openxmlformats.org/drawingml/2006/main" prst="line">
            <a:avLst/>
          </a:prstGeom>
          <a:noFill xmlns:a="http://schemas.openxmlformats.org/drawingml/2006/main"/>
          <a:ln xmlns:a="http://schemas.openxmlformats.org/drawingml/2006/main" w="19050">
            <a:solidFill>
              <a:srgbClr val="C7D7E8"/>
            </a:solidFill>
          </a:ln>
        </p:spPr>
      </p:sp>
      <p:sp>
        <p:nvSpPr>
          <p:cNvPr id="13" name="">
            <a:extLst xmlns:a="http://schemas.openxmlformats.org/drawingml/2006/main">
              <a:ext uri="{FF2B5EF4-FFF2-40B4-BE49-F238E27FC236}">
                <a16:creationId xmlns:a16="http://schemas.microsoft.com/office/drawing/2014/main" id="{153922D8-731E-4E83-AED8-4162091B77F2}"/>
              </a:ext>
            </a:extLst>
          </p:cNvPr>
          <p:cNvSpPr>
            <a:spLocks xmlns:a="http://schemas.openxmlformats.org/drawingml/2006/main" noGrp="1"/>
          </p:cNvSpPr>
          <p:nvPr/>
        </p:nvSpPr>
        <p:spPr>
          <a:xfrm xmlns:a="http://schemas.openxmlformats.org/drawingml/2006/main">
            <a:off x="8286750" y="1638300"/>
            <a:ext cx="0" cy="1809750"/>
          </a:xfrm>
          <a:prstGeom xmlns:a="http://schemas.openxmlformats.org/drawingml/2006/main" prst="line">
            <a:avLst/>
          </a:prstGeom>
          <a:noFill xmlns:a="http://schemas.openxmlformats.org/drawingml/2006/main"/>
          <a:ln xmlns:a="http://schemas.openxmlformats.org/drawingml/2006/main" w="19050">
            <a:solidFill>
              <a:srgbClr val="C7D7E8"/>
            </a:solidFill>
          </a:ln>
        </p:spPr>
      </p:sp>
      <p:sp>
        <p:nvSpPr>
          <p:cNvPr id="14" name="">
            <a:extLst xmlns:a="http://schemas.openxmlformats.org/drawingml/2006/main">
              <a:ext uri="{FF2B5EF4-FFF2-40B4-BE49-F238E27FC236}">
                <a16:creationId xmlns:a16="http://schemas.microsoft.com/office/drawing/2014/main" id="{D93354AD-9FD8-4D86-AE25-C1FDB12DC81B}"/>
              </a:ext>
            </a:extLst>
          </p:cNvPr>
          <p:cNvSpPr>
            <a:spLocks xmlns:a="http://schemas.openxmlformats.org/drawingml/2006/main" noGrp="1"/>
          </p:cNvSpPr>
          <p:nvPr/>
        </p:nvSpPr>
        <p:spPr>
          <a:xfrm xmlns:a="http://schemas.openxmlformats.org/drawingml/2006/main">
            <a:off x="1047750" y="4191000"/>
            <a:ext cx="1009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325" b="1">
                <a:solidFill>
                  <a:srgbClr val="214F86"/>
                </a:solidFill>
                <a:latin typeface="Arial"/>
                <a:ea typeface="Arial"/>
                <a:cs typeface="Arial"/>
              </a:defRPr>
            </a:pPr>
            <a:r>
              <a:rPr sz="2325" b="1">
                <a:solidFill>
                  <a:srgbClr val="214F86"/>
                </a:solidFill>
                <a:latin typeface="Arial"/>
                <a:ea typeface="Arial"/>
                <a:cs typeface="Arial"/>
              </a:rPr>
              <a:t>Who holds the key? What does the user approve? Which evidence proves the final state?</a:t>
            </a:r>
          </a:p>
        </p:txBody>
      </p:sp>
    </p:spTree>
    <p:extLst>
      <p:ext uri="{BB962C8B-B14F-4D97-AF65-F5344CB8AC3E}">
        <p14:creationId xmlns:p14="http://schemas.microsoft.com/office/powerpoint/2010/main" val="2030088426"/>
      </p:ext>
    </p:extLst>
  </p:cSld>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2026-09-09T02:08:13.9220000Z</dcterms:created>
  <dcterms:modified xsi:type="dcterms:W3CDTF">2026-09-09T02:08:13.9220000Z</dcterms:modified>
</coreProperties>
</file>