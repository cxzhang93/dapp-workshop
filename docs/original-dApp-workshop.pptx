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0"/>
  </p:notesMasterIdLst>
  <p:sldIdLst>
    <p:sldId id="256" r:id="rId5"/>
    <p:sldId id="258" r:id="rId6"/>
    <p:sldId id="259" r:id="rId7"/>
    <p:sldId id="260" r:id="rId8"/>
    <p:sldId id="261" r:id="rId9"/>
    <p:sldId id="262" r:id="rId10"/>
    <p:sldId id="265" r:id="rId11"/>
    <p:sldId id="266" r:id="rId12"/>
    <p:sldId id="267" r:id="rId13"/>
    <p:sldId id="268" r:id="rId14"/>
    <p:sldId id="263" r:id="rId15"/>
    <p:sldId id="264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84123" autoAdjust="0"/>
  </p:normalViewPr>
  <p:slideViewPr>
    <p:cSldViewPr snapToGrid="0">
      <p:cViewPr varScale="1">
        <p:scale>
          <a:sx n="59" d="100"/>
          <a:sy n="59" d="100"/>
        </p:scale>
        <p:origin x="87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#ZHANG CHENGXUAN#" userId="bc09c046-22b4-4d2e-bb5d-e10b71ffa20e" providerId="ADAL" clId="{07C073B6-2437-4798-992A-9745D913CA01}"/>
    <pc:docChg chg="undo custSel addSld modSld">
      <pc:chgData name="#ZHANG CHENGXUAN#" userId="bc09c046-22b4-4d2e-bb5d-e10b71ffa20e" providerId="ADAL" clId="{07C073B6-2437-4798-992A-9745D913CA01}" dt="2024-09-11T05:10:06.658" v="266" actId="1076"/>
      <pc:docMkLst>
        <pc:docMk/>
      </pc:docMkLst>
      <pc:sldChg chg="modSp mod">
        <pc:chgData name="#ZHANG CHENGXUAN#" userId="bc09c046-22b4-4d2e-bb5d-e10b71ffa20e" providerId="ADAL" clId="{07C073B6-2437-4798-992A-9745D913CA01}" dt="2024-09-11T04:33:11.089" v="254" actId="20577"/>
        <pc:sldMkLst>
          <pc:docMk/>
          <pc:sldMk cId="1599667737" sldId="256"/>
        </pc:sldMkLst>
      </pc:sldChg>
      <pc:sldChg chg="addSp modSp mod">
        <pc:chgData name="#ZHANG CHENGXUAN#" userId="bc09c046-22b4-4d2e-bb5d-e10b71ffa20e" providerId="ADAL" clId="{07C073B6-2437-4798-992A-9745D913CA01}" dt="2024-09-10T12:16:45.103" v="50" actId="207"/>
        <pc:sldMkLst>
          <pc:docMk/>
          <pc:sldMk cId="576385593" sldId="258"/>
        </pc:sldMkLst>
      </pc:sldChg>
      <pc:sldChg chg="modSp mod">
        <pc:chgData name="#ZHANG CHENGXUAN#" userId="bc09c046-22b4-4d2e-bb5d-e10b71ffa20e" providerId="ADAL" clId="{07C073B6-2437-4798-992A-9745D913CA01}" dt="2024-09-11T04:08:55.817" v="231" actId="207"/>
        <pc:sldMkLst>
          <pc:docMk/>
          <pc:sldMk cId="1945024787" sldId="259"/>
        </pc:sldMkLst>
      </pc:sldChg>
      <pc:sldChg chg="modSp mod">
        <pc:chgData name="#ZHANG CHENGXUAN#" userId="bc09c046-22b4-4d2e-bb5d-e10b71ffa20e" providerId="ADAL" clId="{07C073B6-2437-4798-992A-9745D913CA01}" dt="2024-09-11T03:54:33.990" v="130" actId="113"/>
        <pc:sldMkLst>
          <pc:docMk/>
          <pc:sldMk cId="1229921070" sldId="261"/>
        </pc:sldMkLst>
      </pc:sldChg>
      <pc:sldChg chg="modSp mod">
        <pc:chgData name="#ZHANG CHENGXUAN#" userId="bc09c046-22b4-4d2e-bb5d-e10b71ffa20e" providerId="ADAL" clId="{07C073B6-2437-4798-992A-9745D913CA01}" dt="2024-09-11T05:10:06.658" v="266" actId="1076"/>
        <pc:sldMkLst>
          <pc:docMk/>
          <pc:sldMk cId="1042723948" sldId="266"/>
        </pc:sldMkLst>
      </pc:sldChg>
      <pc:sldChg chg="modSp mod">
        <pc:chgData name="#ZHANG CHENGXUAN#" userId="bc09c046-22b4-4d2e-bb5d-e10b71ffa20e" providerId="ADAL" clId="{07C073B6-2437-4798-992A-9745D913CA01}" dt="2024-09-11T04:03:37.064" v="190" actId="14100"/>
        <pc:sldMkLst>
          <pc:docMk/>
          <pc:sldMk cId="2749053784" sldId="269"/>
        </pc:sldMkLst>
      </pc:sldChg>
      <pc:sldChg chg="addSp delSp modSp mod">
        <pc:chgData name="#ZHANG CHENGXUAN#" userId="bc09c046-22b4-4d2e-bb5d-e10b71ffa20e" providerId="ADAL" clId="{07C073B6-2437-4798-992A-9745D913CA01}" dt="2024-09-11T04:01:45.496" v="184" actId="14100"/>
        <pc:sldMkLst>
          <pc:docMk/>
          <pc:sldMk cId="301043402" sldId="270"/>
        </pc:sldMkLst>
      </pc:sldChg>
      <pc:sldChg chg="addSp modSp new mod modClrScheme chgLayout">
        <pc:chgData name="#ZHANG CHENGXUAN#" userId="bc09c046-22b4-4d2e-bb5d-e10b71ffa20e" providerId="ADAL" clId="{07C073B6-2437-4798-992A-9745D913CA01}" dt="2024-09-11T04:02:24.800" v="185"/>
        <pc:sldMkLst>
          <pc:docMk/>
          <pc:sldMk cId="529834362" sldId="271"/>
        </pc:sldMkLst>
      </pc:sldChg>
    </pc:docChg>
  </pc:docChgLst>
  <pc:docChgLst>
    <pc:chgData name="#ZHANG CHENGXUAN#" userId="bc09c046-22b4-4d2e-bb5d-e10b71ffa20e" providerId="ADAL" clId="{355F6660-3A34-47E1-BE24-B2360CED9125}"/>
    <pc:docChg chg="modSld">
      <pc:chgData name="#ZHANG CHENGXUAN#" userId="bc09c046-22b4-4d2e-bb5d-e10b71ffa20e" providerId="ADAL" clId="{355F6660-3A34-47E1-BE24-B2360CED9125}" dt="2025-09-10T03:56:16.591" v="3" actId="20577"/>
      <pc:docMkLst>
        <pc:docMk/>
      </pc:docMkLst>
      <pc:sldChg chg="modSp mod">
        <pc:chgData name="#ZHANG CHENGXUAN#" userId="bc09c046-22b4-4d2e-bb5d-e10b71ffa20e" providerId="ADAL" clId="{355F6660-3A34-47E1-BE24-B2360CED9125}" dt="2025-09-10T03:56:16.591" v="3" actId="20577"/>
        <pc:sldMkLst>
          <pc:docMk/>
          <pc:sldMk cId="1599667737" sldId="256"/>
        </pc:sldMkLst>
        <pc:spChg chg="mod">
          <ac:chgData name="#ZHANG CHENGXUAN#" userId="bc09c046-22b4-4d2e-bb5d-e10b71ffa20e" providerId="ADAL" clId="{355F6660-3A34-47E1-BE24-B2360CED9125}" dt="2025-09-10T03:56:16.591" v="3" actId="20577"/>
          <ac:spMkLst>
            <pc:docMk/>
            <pc:sldMk cId="1599667737" sldId="256"/>
            <ac:spMk id="2" creationId="{811FF231-0858-CF38-B1C2-D632E643FF8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SG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DCE177-2AB4-4A60-9075-F05E11E8D339}" type="datetimeFigureOut">
              <a:rPr lang="zh-SG" altLang="en-US" smtClean="0"/>
              <a:t>10/9/2025</a:t>
            </a:fld>
            <a:endParaRPr lang="zh-SG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SG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SG"/>
              <a:t>Click to edit Master text styles</a:t>
            </a:r>
          </a:p>
          <a:p>
            <a:pPr lvl="1"/>
            <a:r>
              <a:rPr lang="en-US" altLang="zh-SG"/>
              <a:t>Second level</a:t>
            </a:r>
          </a:p>
          <a:p>
            <a:pPr lvl="2"/>
            <a:r>
              <a:rPr lang="en-US" altLang="zh-SG"/>
              <a:t>Third level</a:t>
            </a:r>
          </a:p>
          <a:p>
            <a:pPr lvl="3"/>
            <a:r>
              <a:rPr lang="en-US" altLang="zh-SG"/>
              <a:t>Fourth level</a:t>
            </a:r>
          </a:p>
          <a:p>
            <a:pPr lvl="4"/>
            <a:r>
              <a:rPr lang="en-US" altLang="zh-SG"/>
              <a:t>Fifth level</a:t>
            </a:r>
            <a:endParaRPr lang="zh-SG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SG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F83F56-0BBC-4E7F-8675-BEF749EC10E8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713518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tcfans.com/en-us/article/72488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83F56-0BBC-4E7F-8675-BEF749EC10E8}" type="slidenum">
              <a:rPr lang="zh-SG" altLang="en-US" smtClean="0"/>
              <a:t>1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700301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ISP: Internet Service Provider</a:t>
            </a:r>
          </a:p>
          <a:p>
            <a:r>
              <a:rPr lang="en-US" altLang="zh-CN" dirty="0"/>
              <a:t>On the left side, for traditional Apps, the ISP provides access to a centralized Data Center that hosts the app's data and functionalities.</a:t>
            </a:r>
          </a:p>
          <a:p>
            <a:r>
              <a:rPr lang="en-US" altLang="zh-CN" dirty="0"/>
              <a:t>On the right side, for </a:t>
            </a:r>
            <a:r>
              <a:rPr lang="en-US" altLang="zh-CN" dirty="0" err="1"/>
              <a:t>dApps</a:t>
            </a:r>
            <a:r>
              <a:rPr lang="en-US" altLang="zh-CN" dirty="0"/>
              <a:t> (decentralized applications), the ISP provides access to a decentralized network where the app's data and functionalities are distributed across multiple nodes, rather than being hosted in a central server. </a:t>
            </a:r>
          </a:p>
          <a:p>
            <a:r>
              <a:rPr lang="en-US" altLang="zh-CN" dirty="0"/>
              <a:t>This decentralized structure is a key feature of </a:t>
            </a:r>
            <a:r>
              <a:rPr lang="en-US" altLang="zh-CN" dirty="0" err="1"/>
              <a:t>dApps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83F56-0BBC-4E7F-8675-BEF749EC10E8}" type="slidenum">
              <a:rPr lang="zh-SG" altLang="en-US" smtClean="0"/>
              <a:t>2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723672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C/S: Client-server</a:t>
            </a:r>
          </a:p>
          <a:p>
            <a:r>
              <a:rPr lang="en-US" altLang="zh-CN" dirty="0"/>
              <a:t>B/S: Browser-server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83F56-0BBC-4E7F-8675-BEF749EC10E8}" type="slidenum">
              <a:rPr lang="zh-SG" altLang="en-US" smtClean="0"/>
              <a:t>3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7343028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Source: </a:t>
            </a:r>
            <a:r>
              <a:rPr lang="en-US" altLang="zh-CN" dirty="0">
                <a:hlinkClick r:id="rId3"/>
              </a:rPr>
              <a:t>2022-DeFi, Web 3, NFT / Gaming and Multi-Channel </a:t>
            </a:r>
            <a:r>
              <a:rPr lang="en-US" altLang="zh-CN" dirty="0" err="1">
                <a:hlinkClick r:id="rId3"/>
              </a:rPr>
              <a:t>Perspectives_Btcfans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83F56-0BBC-4E7F-8675-BEF749EC10E8}" type="slidenum">
              <a:rPr lang="zh-SG" altLang="en-US" smtClean="0"/>
              <a:t>4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6082819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83F56-0BBC-4E7F-8675-BEF749EC10E8}" type="slidenum">
              <a:rPr lang="zh-SG" altLang="en-US" smtClean="0"/>
              <a:t>12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4230415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83F56-0BBC-4E7F-8675-BEF749EC10E8}" type="slidenum">
              <a:rPr lang="zh-SG" altLang="en-US" smtClean="0"/>
              <a:t>15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358644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5712" y="1804769"/>
            <a:ext cx="5116945" cy="1470025"/>
          </a:xfrm>
        </p:spPr>
        <p:txBody>
          <a:bodyPr>
            <a:normAutofit/>
          </a:bodyPr>
          <a:lstStyle>
            <a:lvl1pPr>
              <a:defRPr sz="3733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38170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5815374"/>
            <a:ext cx="2844800" cy="365125"/>
          </a:xfrm>
          <a:prstGeom prst="rect">
            <a:avLst/>
          </a:prstGeom>
        </p:spPr>
        <p:txBody>
          <a:bodyPr/>
          <a:lstStyle/>
          <a:p>
            <a:fld id="{04FE062C-BC62-4D0F-9707-67D55CFA8A15}" type="datetime1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5815374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181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7963"/>
            <a:ext cx="10972800" cy="1362075"/>
          </a:xfrm>
        </p:spPr>
        <p:txBody>
          <a:bodyPr anchor="t">
            <a:normAutofit/>
          </a:bodyPr>
          <a:lstStyle>
            <a:lvl1pPr algn="l">
              <a:defRPr sz="4800" b="1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5815374"/>
            <a:ext cx="2844800" cy="365125"/>
          </a:xfrm>
          <a:prstGeom prst="rect">
            <a:avLst/>
          </a:prstGeom>
        </p:spPr>
        <p:txBody>
          <a:bodyPr/>
          <a:lstStyle/>
          <a:p>
            <a:fld id="{48CE56D8-D531-4D39-9DD0-66EFF6215896}" type="datetime1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5815374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966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5815374"/>
            <a:ext cx="2844800" cy="365125"/>
          </a:xfrm>
          <a:prstGeom prst="rect">
            <a:avLst/>
          </a:prstGeom>
        </p:spPr>
        <p:txBody>
          <a:bodyPr/>
          <a:lstStyle/>
          <a:p>
            <a:fld id="{65321286-4171-43F3-B87E-08ED8A63857F}" type="datetime1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5815374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711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5499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494757"/>
            <a:ext cx="5386917" cy="3628411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85499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494757"/>
            <a:ext cx="5389033" cy="3628411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5815374"/>
            <a:ext cx="2844800" cy="365125"/>
          </a:xfrm>
          <a:prstGeom prst="rect">
            <a:avLst/>
          </a:prstGeom>
        </p:spPr>
        <p:txBody>
          <a:bodyPr/>
          <a:lstStyle/>
          <a:p>
            <a:fld id="{7C2844B0-7457-47C6-91AE-8A00054674D9}" type="datetime1">
              <a:rPr lang="en-US" smtClean="0"/>
              <a:t>9/10/2025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5815374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397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5815374"/>
            <a:ext cx="2844800" cy="365125"/>
          </a:xfrm>
          <a:prstGeom prst="rect">
            <a:avLst/>
          </a:prstGeom>
        </p:spPr>
        <p:txBody>
          <a:bodyPr/>
          <a:lstStyle/>
          <a:p>
            <a:fld id="{E277B03E-0E8A-4617-AA4A-011BF9C8C4AF}" type="datetime1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5815374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930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5815374"/>
            <a:ext cx="2844800" cy="365125"/>
          </a:xfrm>
          <a:prstGeom prst="rect">
            <a:avLst/>
          </a:prstGeom>
        </p:spPr>
        <p:txBody>
          <a:bodyPr/>
          <a:lstStyle/>
          <a:p>
            <a:fld id="{5C83B3DA-F39A-404C-8280-245A01B938DD}" type="datetime1">
              <a:rPr lang="en-US" smtClean="0"/>
              <a:t>9/10/2025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5815374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096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788617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788620"/>
            <a:ext cx="6815667" cy="5398201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2125147"/>
            <a:ext cx="4011084" cy="4061672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5815374"/>
            <a:ext cx="2844800" cy="365125"/>
          </a:xfrm>
          <a:prstGeom prst="rect">
            <a:avLst/>
          </a:prstGeom>
        </p:spPr>
        <p:txBody>
          <a:bodyPr/>
          <a:lstStyle/>
          <a:p>
            <a:fld id="{6FDAF4A1-3B0F-48AC-988C-36B952EF74EB}" type="datetime1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5815374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161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5815374"/>
            <a:ext cx="2844800" cy="365125"/>
          </a:xfrm>
          <a:prstGeom prst="rect">
            <a:avLst/>
          </a:prstGeom>
        </p:spPr>
        <p:txBody>
          <a:bodyPr/>
          <a:lstStyle/>
          <a:p>
            <a:fld id="{018C36B5-AE52-46A5-8A68-115F6B1BB3DB}" type="datetime1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5815374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309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B9E66-1940-90F1-6E16-CC5F8075AC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7DA213-5100-FE64-F570-DE136FD099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E4192-F7FD-443D-9F0C-9BA3E298A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C505C-41AC-4D38-9ED5-35C266745857}" type="datetimeFigureOut">
              <a:rPr lang="en-SG" smtClean="0"/>
              <a:t>10/9/2025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53F57-C9BA-2D71-A168-60E3927D3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B2248-8E74-56B7-DC98-B5679829D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10483-5A35-4AF6-9E2A-35A71E4F855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47537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20727"/>
            <a:ext cx="10972800" cy="937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04926"/>
            <a:ext cx="10972800" cy="5038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94800" y="649287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 baseline="0">
                <a:solidFill>
                  <a:schemeClr val="bg1"/>
                </a:solidFill>
                <a:latin typeface="Arial"/>
              </a:defRPr>
            </a:lvl1pPr>
          </a:lstStyle>
          <a:p>
            <a:fld id="{8E6562B1-0B0F-0246-9532-09536BC2AE5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496255"/>
            <a:ext cx="12192000" cy="382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071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hdr="0" ftr="0" dt="0"/>
  <p:txStyles>
    <p:titleStyle>
      <a:lvl1pPr algn="l" defTabSz="609585" rtl="0" eaLnBrk="1" latinLnBrk="0" hangingPunct="1">
        <a:spcBef>
          <a:spcPct val="0"/>
        </a:spcBef>
        <a:buNone/>
        <a:defRPr sz="4267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ts val="1600"/>
        </a:spcBef>
        <a:buFont typeface="Arial"/>
        <a:buChar char="•"/>
        <a:defRPr sz="3200" kern="1200">
          <a:solidFill>
            <a:schemeClr val="tx2"/>
          </a:solidFill>
          <a:latin typeface="Arial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Arial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133" kern="1200">
          <a:solidFill>
            <a:schemeClr val="tx1"/>
          </a:solidFill>
          <a:latin typeface="Arial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133" kern="1200">
          <a:solidFill>
            <a:schemeClr val="tx1"/>
          </a:solidFill>
          <a:latin typeface="Arial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02C2A14-B70D-B0F1-9027-731AD95F80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5713" y="2055781"/>
            <a:ext cx="4516328" cy="1470025"/>
          </a:xfrm>
        </p:spPr>
        <p:txBody>
          <a:bodyPr>
            <a:normAutofit fontScale="90000"/>
          </a:bodyPr>
          <a:lstStyle/>
          <a:p>
            <a:r>
              <a:rPr lang="en-US" sz="2700" b="0" dirty="0"/>
              <a:t>CE/CZ4153 Tutorial</a:t>
            </a:r>
            <a:br>
              <a:rPr lang="en-US" dirty="0"/>
            </a:br>
            <a:r>
              <a:rPr lang="en-US" dirty="0" err="1"/>
              <a:t>dApp</a:t>
            </a:r>
            <a:r>
              <a:rPr lang="en-US" dirty="0"/>
              <a:t> Development</a:t>
            </a:r>
            <a:br>
              <a:rPr lang="en-US" dirty="0"/>
            </a:br>
            <a:r>
              <a:rPr lang="en-US" dirty="0"/>
              <a:t>Workshop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1FF231-0858-CF38-B1C2-D632E643FF8D}"/>
              </a:ext>
            </a:extLst>
          </p:cNvPr>
          <p:cNvSpPr txBox="1"/>
          <p:nvPr/>
        </p:nvSpPr>
        <p:spPr>
          <a:xfrm>
            <a:off x="466147" y="5085887"/>
            <a:ext cx="366850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zh-SG" sz="2400" dirty="0">
              <a:solidFill>
                <a:schemeClr val="bg1"/>
              </a:solidFill>
            </a:endParaRPr>
          </a:p>
          <a:p>
            <a:r>
              <a:rPr lang="en-US" altLang="zh-SG" sz="2400" b="1" dirty="0">
                <a:solidFill>
                  <a:schemeClr val="bg1"/>
                </a:solidFill>
              </a:rPr>
              <a:t>Zhang Chengxuan</a:t>
            </a:r>
          </a:p>
          <a:p>
            <a:r>
              <a:rPr lang="en-US" altLang="zh-SG" sz="2400" dirty="0">
                <a:solidFill>
                  <a:schemeClr val="bg1"/>
                </a:solidFill>
              </a:rPr>
              <a:t>chengxua001@e.ntu.edu.sg</a:t>
            </a:r>
          </a:p>
          <a:p>
            <a:r>
              <a:rPr lang="en-US" altLang="zh-SG" sz="2400">
                <a:solidFill>
                  <a:schemeClr val="bg1"/>
                </a:solidFill>
              </a:rPr>
              <a:t>2025.9.10</a:t>
            </a:r>
            <a:endParaRPr lang="zh-SG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9667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70BF8-DC2B-59E4-C952-9F165323D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is </a:t>
            </a:r>
            <a:r>
              <a:rPr lang="en-US" altLang="zh-CN" dirty="0" err="1"/>
              <a:t>dApp</a:t>
            </a:r>
            <a:r>
              <a:rPr lang="en-US" altLang="zh-CN" dirty="0"/>
              <a:t>?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24151-0193-9962-3542-3E8779E88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04927"/>
            <a:ext cx="10972800" cy="1512540"/>
          </a:xfrm>
        </p:spPr>
        <p:txBody>
          <a:bodyPr/>
          <a:lstStyle/>
          <a:p>
            <a:r>
              <a:rPr lang="en-US" altLang="zh-CN" dirty="0"/>
              <a:t>Decentralized applications powered by blockchain.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E9BC53-9C95-4249-3B6E-D2357A619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2</a:t>
            </a:fld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51CF2C2-F05F-2474-3C74-EC40BA19B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1322" y="1932675"/>
            <a:ext cx="5766347" cy="400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78503F8-F595-AE50-854B-EC3A4685F238}"/>
              </a:ext>
            </a:extLst>
          </p:cNvPr>
          <p:cNvSpPr txBox="1"/>
          <p:nvPr/>
        </p:nvSpPr>
        <p:spPr>
          <a:xfrm>
            <a:off x="5352627" y="6053204"/>
            <a:ext cx="683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Source: https://towardsdatascience.com/what-is-a-dapp-a455ac5f7def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6385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61488-3770-EF82-F415-053820839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Why developing </a:t>
            </a:r>
            <a:r>
              <a:rPr lang="en-US" altLang="zh-CN" dirty="0" err="1"/>
              <a:t>dApp</a:t>
            </a:r>
            <a:r>
              <a:rPr lang="en-US" altLang="zh-CN" dirty="0"/>
              <a:t>? Reliable Service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FC6FB-3DA9-ED20-85AB-72F1EB7BC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Traditional Network Applications</a:t>
            </a:r>
          </a:p>
          <a:p>
            <a:pPr lvl="1"/>
            <a:r>
              <a:rPr lang="en-US" altLang="zh-CN" b="1" dirty="0"/>
              <a:t>C/</a:t>
            </a:r>
            <a:r>
              <a:rPr lang="en-US" altLang="zh-CN" b="1" dirty="0">
                <a:solidFill>
                  <a:srgbClr val="FF0000"/>
                </a:solidFill>
              </a:rPr>
              <a:t>S</a:t>
            </a:r>
            <a:r>
              <a:rPr lang="en-US" altLang="zh-CN" b="1" dirty="0"/>
              <a:t> Architecture</a:t>
            </a:r>
            <a:r>
              <a:rPr lang="en-US" altLang="zh-CN" dirty="0"/>
              <a:t>, e.g., Zoom desktop App.</a:t>
            </a:r>
          </a:p>
          <a:p>
            <a:pPr lvl="1"/>
            <a:r>
              <a:rPr lang="en-US" altLang="zh-CN" b="1" dirty="0"/>
              <a:t>B/</a:t>
            </a:r>
            <a:r>
              <a:rPr lang="en-US" altLang="zh-CN" b="1" dirty="0">
                <a:solidFill>
                  <a:srgbClr val="FF0000"/>
                </a:solidFill>
              </a:rPr>
              <a:t>S</a:t>
            </a:r>
            <a:r>
              <a:rPr lang="en-US" altLang="zh-CN" b="1" dirty="0"/>
              <a:t> Architecture</a:t>
            </a:r>
            <a:r>
              <a:rPr lang="en-US" altLang="zh-CN" dirty="0"/>
              <a:t>, e.g., www.ntu.edu.sg</a:t>
            </a:r>
          </a:p>
          <a:p>
            <a:pPr lvl="1"/>
            <a:r>
              <a:rPr lang="en-US" altLang="zh-CN" b="1" dirty="0"/>
              <a:t>Issue</a:t>
            </a:r>
            <a:r>
              <a:rPr lang="en-US" altLang="zh-CN" dirty="0"/>
              <a:t>: distributed/centralized server may crash sometimes</a:t>
            </a:r>
          </a:p>
          <a:p>
            <a:r>
              <a:rPr lang="en-US" altLang="zh-CN" dirty="0"/>
              <a:t>Blockchains like Bitcoin or Ethereum have seamlessly worked for many years without any crash issue.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7D8C8-6AF3-9385-46C5-A137177D8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024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2022展望——DeFi、Web 3、NFT/Gaming、和多链">
            <a:extLst>
              <a:ext uri="{FF2B5EF4-FFF2-40B4-BE49-F238E27FC236}">
                <a16:creationId xmlns:a16="http://schemas.microsoft.com/office/drawing/2014/main" id="{F324730B-19C8-392B-0BC2-43673A8CCA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7272" y="1586469"/>
            <a:ext cx="7634585" cy="4651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26824BF-886A-6660-E021-4731033F6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Why developing </a:t>
            </a:r>
            <a:r>
              <a:rPr lang="en-US" altLang="zh-CN" dirty="0" err="1"/>
              <a:t>dApp</a:t>
            </a:r>
            <a:r>
              <a:rPr lang="en-US" altLang="zh-CN" dirty="0"/>
              <a:t>? New Opportunities!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CCC48-1213-973B-FC54-743FD6EB5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64807"/>
            <a:ext cx="10972800" cy="5038725"/>
          </a:xfrm>
        </p:spPr>
        <p:txBody>
          <a:bodyPr/>
          <a:lstStyle/>
          <a:p>
            <a:r>
              <a:rPr lang="en-US" altLang="zh-CN" dirty="0"/>
              <a:t>Blockchain is a network for value exchange among users.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05628-2D4D-0843-801D-18A0DF7FA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2C052D-C1AE-712F-10E9-B4AA9D3044AB}"/>
              </a:ext>
            </a:extLst>
          </p:cNvPr>
          <p:cNvSpPr txBox="1"/>
          <p:nvPr/>
        </p:nvSpPr>
        <p:spPr>
          <a:xfrm>
            <a:off x="6943749" y="6163538"/>
            <a:ext cx="5248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Source: https://www.btcfans.com/en-us/article/72488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52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8D654-B5E3-56FD-17E7-DDD9EAC5F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develop a </a:t>
            </a:r>
            <a:r>
              <a:rPr lang="en-US" altLang="zh-CN" dirty="0" err="1"/>
              <a:t>dApp</a:t>
            </a:r>
            <a:r>
              <a:rPr lang="en-US" altLang="zh-CN" dirty="0"/>
              <a:t>?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FD85A-BC15-6BEF-5AFA-52D81B459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 err="1"/>
              <a:t>dApp</a:t>
            </a:r>
            <a:r>
              <a:rPr lang="en-US" altLang="zh-CN" dirty="0"/>
              <a:t> = Smart contracts + </a:t>
            </a:r>
            <a:r>
              <a:rPr lang="en-US" altLang="zh-CN" dirty="0" err="1"/>
              <a:t>Javascript</a:t>
            </a:r>
            <a:r>
              <a:rPr lang="en-US" altLang="zh-CN" dirty="0"/>
              <a:t>/HTML</a:t>
            </a:r>
          </a:p>
          <a:p>
            <a:r>
              <a:rPr lang="en-US" altLang="zh-CN" b="1" dirty="0"/>
              <a:t>Backend</a:t>
            </a:r>
            <a:r>
              <a:rPr lang="en-US" altLang="zh-CN" dirty="0"/>
              <a:t> - Smart contracts implement business logic and are run on one or many blockchains.</a:t>
            </a:r>
          </a:p>
          <a:p>
            <a:r>
              <a:rPr lang="en-US" altLang="zh-CN" b="1" dirty="0"/>
              <a:t>Frontend </a:t>
            </a:r>
            <a:r>
              <a:rPr lang="en-US" altLang="zh-CN" dirty="0"/>
              <a:t>- </a:t>
            </a:r>
            <a:r>
              <a:rPr lang="en-US" altLang="zh-CN" dirty="0" err="1"/>
              <a:t>Javascript</a:t>
            </a:r>
            <a:r>
              <a:rPr lang="en-US" altLang="zh-CN" dirty="0"/>
              <a:t> / HTML implements the UI of the </a:t>
            </a:r>
            <a:r>
              <a:rPr lang="en-US" altLang="zh-CN" dirty="0" err="1"/>
              <a:t>dApp</a:t>
            </a:r>
            <a:r>
              <a:rPr lang="en-US" altLang="zh-CN" dirty="0"/>
              <a:t> and communicates with smart contracts through sending blockchain transactions.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061B5B-8D40-C232-F51F-60566A422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21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2828-0120-D7E9-A223-64BC70197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Lock </a:t>
            </a:r>
            <a:r>
              <a:rPr lang="en-US" altLang="zh-CN" dirty="0" err="1"/>
              <a:t>dApp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6F714-F76D-36D0-AEF0-7FD88BC96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Lock a certain amount of money with a given timestamp.</a:t>
            </a:r>
          </a:p>
          <a:p>
            <a:r>
              <a:rPr lang="en-US" altLang="zh-CN" dirty="0"/>
              <a:t>In the future, users can withdraw their money back.</a:t>
            </a:r>
          </a:p>
          <a:p>
            <a:r>
              <a:rPr lang="en-US" altLang="zh-CN" dirty="0"/>
              <a:t>Moreover, the owner can unlock the money if they want.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9B89C5-A2A3-7BC2-8799-EDC1C036A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614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47065-8B45-8F9A-E2F6-FB19A48BC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Lock </a:t>
            </a:r>
            <a:r>
              <a:rPr lang="en-US" altLang="zh-CN" dirty="0" err="1"/>
              <a:t>dApp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2B1D7-1EAF-9C4C-3C9A-79AC0DD7A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23AC49-448A-6ABC-7C19-9345C5B04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0605" y="75616"/>
            <a:ext cx="5928995" cy="6260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857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47065-8B45-8F9A-E2F6-FB19A48BC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Lock </a:t>
            </a:r>
            <a:r>
              <a:rPr lang="en-US" altLang="zh-CN" dirty="0" err="1"/>
              <a:t>dApp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2B1D7-1EAF-9C4C-3C9A-79AC0DD7A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23AC49-448A-6ABC-7C19-9345C5B04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0605" y="75616"/>
            <a:ext cx="5928995" cy="62602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7997FF-E3FE-4639-9E1F-459B31224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96" y="1303369"/>
            <a:ext cx="6003400" cy="23921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8446C86-D17C-6B12-4E44-F9881A571C5D}"/>
              </a:ext>
            </a:extLst>
          </p:cNvPr>
          <p:cNvSpPr txBox="1"/>
          <p:nvPr/>
        </p:nvSpPr>
        <p:spPr>
          <a:xfrm>
            <a:off x="2923993" y="2108963"/>
            <a:ext cx="3157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Solidity Version Later than 0.8.9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EF0C8A-007E-F253-E435-4C44EE64F7A7}"/>
              </a:ext>
            </a:extLst>
          </p:cNvPr>
          <p:cNvSpPr txBox="1"/>
          <p:nvPr/>
        </p:nvSpPr>
        <p:spPr>
          <a:xfrm>
            <a:off x="3736459" y="3429000"/>
            <a:ext cx="2344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Import External Library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ADE45E-84B0-31B9-52B0-E9659FFE728A}"/>
              </a:ext>
            </a:extLst>
          </p:cNvPr>
          <p:cNvSpPr/>
          <p:nvPr/>
        </p:nvSpPr>
        <p:spPr>
          <a:xfrm>
            <a:off x="6400800" y="75617"/>
            <a:ext cx="2536466" cy="902394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2723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47065-8B45-8F9A-E2F6-FB19A48BC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Lock </a:t>
            </a:r>
            <a:r>
              <a:rPr lang="en-US" altLang="zh-CN" dirty="0" err="1"/>
              <a:t>dApp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2B1D7-1EAF-9C4C-3C9A-79AC0DD7A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23AC49-448A-6ABC-7C19-9345C5B04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0605" y="75616"/>
            <a:ext cx="5928995" cy="62602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E7E0F6-906E-74CA-FC38-C37E58D91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825" y="1303369"/>
            <a:ext cx="5748359" cy="448453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1712331-3EE2-F9D1-E6BD-9C89821F5156}"/>
              </a:ext>
            </a:extLst>
          </p:cNvPr>
          <p:cNvSpPr/>
          <p:nvPr/>
        </p:nvSpPr>
        <p:spPr>
          <a:xfrm>
            <a:off x="6400799" y="1069535"/>
            <a:ext cx="2874397" cy="2484698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EED1A2-4FCC-B06B-48C7-B809C1CD65C8}"/>
              </a:ext>
            </a:extLst>
          </p:cNvPr>
          <p:cNvSpPr txBox="1"/>
          <p:nvPr/>
        </p:nvSpPr>
        <p:spPr>
          <a:xfrm>
            <a:off x="3973930" y="1158258"/>
            <a:ext cx="2136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Contract Name: Lock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37314A-B96B-C1D2-C02F-BC66C9EB4D3F}"/>
              </a:ext>
            </a:extLst>
          </p:cNvPr>
          <p:cNvSpPr txBox="1"/>
          <p:nvPr/>
        </p:nvSpPr>
        <p:spPr>
          <a:xfrm>
            <a:off x="3914264" y="1672701"/>
            <a:ext cx="2167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Variable Declarations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1BCFE6-B280-A122-9C6C-A17985C07683}"/>
              </a:ext>
            </a:extLst>
          </p:cNvPr>
          <p:cNvSpPr txBox="1"/>
          <p:nvPr/>
        </p:nvSpPr>
        <p:spPr>
          <a:xfrm>
            <a:off x="4246214" y="2661861"/>
            <a:ext cx="1835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Event Declaration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E96325-B5F8-FBA8-8CBA-8A46FA06FDB3}"/>
              </a:ext>
            </a:extLst>
          </p:cNvPr>
          <p:cNvSpPr txBox="1"/>
          <p:nvPr/>
        </p:nvSpPr>
        <p:spPr>
          <a:xfrm>
            <a:off x="3950919" y="4336935"/>
            <a:ext cx="1999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Condition Checking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287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3A4579A2-42F2-A51E-0D94-7B8D0C0C2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9" y="1280110"/>
            <a:ext cx="6034066" cy="41754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C47065-8B45-8F9A-E2F6-FB19A48BC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Lock </a:t>
            </a:r>
            <a:r>
              <a:rPr lang="en-US" altLang="zh-CN" dirty="0" err="1"/>
              <a:t>dApp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2B1D7-1EAF-9C4C-3C9A-79AC0DD7A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23AC49-448A-6ABC-7C19-9345C5B04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0605" y="75616"/>
            <a:ext cx="5928995" cy="626020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1712331-3EE2-F9D1-E6BD-9C89821F5156}"/>
              </a:ext>
            </a:extLst>
          </p:cNvPr>
          <p:cNvSpPr/>
          <p:nvPr/>
        </p:nvSpPr>
        <p:spPr>
          <a:xfrm>
            <a:off x="6528020" y="3545636"/>
            <a:ext cx="5462155" cy="2644454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EED1A2-4FCC-B06B-48C7-B809C1CD65C8}"/>
              </a:ext>
            </a:extLst>
          </p:cNvPr>
          <p:cNvSpPr txBox="1"/>
          <p:nvPr/>
        </p:nvSpPr>
        <p:spPr>
          <a:xfrm>
            <a:off x="3755503" y="5129969"/>
            <a:ext cx="2325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Transfer Token Balance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1BCFE6-B280-A122-9C6C-A17985C07683}"/>
              </a:ext>
            </a:extLst>
          </p:cNvPr>
          <p:cNvSpPr txBox="1"/>
          <p:nvPr/>
        </p:nvSpPr>
        <p:spPr>
          <a:xfrm>
            <a:off x="4495382" y="4546239"/>
            <a:ext cx="1184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Emit Event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E96325-B5F8-FBA8-8CBA-8A46FA06FDB3}"/>
              </a:ext>
            </a:extLst>
          </p:cNvPr>
          <p:cNvSpPr txBox="1"/>
          <p:nvPr/>
        </p:nvSpPr>
        <p:spPr>
          <a:xfrm>
            <a:off x="4026455" y="1797949"/>
            <a:ext cx="1999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Condition Checking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EA39F5-D89C-1801-FB05-A7A3FBB0150E}"/>
              </a:ext>
            </a:extLst>
          </p:cNvPr>
          <p:cNvSpPr txBox="1"/>
          <p:nvPr/>
        </p:nvSpPr>
        <p:spPr>
          <a:xfrm>
            <a:off x="4026456" y="3996675"/>
            <a:ext cx="1999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Condition Checking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2785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62CF8-1FD5-79D9-9519-71B7F6AD6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0727"/>
            <a:ext cx="10972800" cy="937531"/>
          </a:xfrm>
        </p:spPr>
        <p:txBody>
          <a:bodyPr anchor="ctr">
            <a:normAutofit/>
          </a:bodyPr>
          <a:lstStyle/>
          <a:p>
            <a:r>
              <a:rPr lang="en-US" altLang="zh-CN" dirty="0"/>
              <a:t>Let’s try to run it!!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8FBCC-CDFF-159B-B05D-A7401C7576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https://github.com/BlockchainCourseNTU/hello-dapp</a:t>
            </a:r>
          </a:p>
          <a:p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39A595-91ED-FC56-5832-0D7550A81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104" y="1600201"/>
            <a:ext cx="4377791" cy="4525963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6EDF99-9451-A1DC-E0FB-6A50D0EEA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4800" y="6492875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E6562B1-0B0F-0246-9532-09536BC2AE59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3507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72701-EA4D-F36C-DDDD-8FC150B27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Vote </a:t>
            </a:r>
            <a:r>
              <a:rPr lang="en-US" altLang="zh-CN" dirty="0" err="1"/>
              <a:t>dApp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825D4-D3C8-2C93-C047-9E90FE3D0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04926"/>
            <a:ext cx="10972800" cy="4249015"/>
          </a:xfrm>
        </p:spPr>
        <p:txBody>
          <a:bodyPr>
            <a:normAutofit/>
          </a:bodyPr>
          <a:lstStyle/>
          <a:p>
            <a:r>
              <a:rPr lang="en-US" altLang="zh-CN" sz="2800" dirty="0"/>
              <a:t>Allows creation of multiple elections with a defined duration and admin control.</a:t>
            </a:r>
          </a:p>
          <a:p>
            <a:r>
              <a:rPr lang="en-US" altLang="zh-CN" sz="2800" dirty="0"/>
              <a:t>Admin registers constituencies, voters, and candidates, ensuring no self-registration.</a:t>
            </a:r>
          </a:p>
          <a:p>
            <a:r>
              <a:rPr lang="en-US" altLang="zh-CN" sz="2800" dirty="0"/>
              <a:t>Voters cast a single vote for candidates within their constituency.</a:t>
            </a:r>
          </a:p>
          <a:p>
            <a:r>
              <a:rPr lang="en-US" altLang="zh-CN" sz="2800" dirty="0"/>
              <a:t>Admin closes the election after the set duration, ending voting.</a:t>
            </a:r>
          </a:p>
          <a:p>
            <a:r>
              <a:rPr lang="en-US" altLang="zh-CN" sz="2800" dirty="0"/>
              <a:t>Tracks and displays votes for each candidate by constituency.</a:t>
            </a:r>
            <a:endParaRPr lang="zh-CN" alt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0689D-6E17-C9C8-126D-8EE98287A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823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E9AE-F4CE-AC4E-D72E-0E940C831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Vote </a:t>
            </a:r>
            <a:r>
              <a:rPr lang="en-US" altLang="zh-CN" dirty="0" err="1"/>
              <a:t>dApp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B08973-48BC-EF68-CFCA-5D5525365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13</a:t>
            </a:fld>
            <a:endParaRPr lang="en-US"/>
          </a:p>
        </p:txBody>
      </p:sp>
      <p:sp>
        <p:nvSpPr>
          <p:cNvPr id="5" name="Flowchart: Document 4">
            <a:extLst>
              <a:ext uri="{FF2B5EF4-FFF2-40B4-BE49-F238E27FC236}">
                <a16:creationId xmlns:a16="http://schemas.microsoft.com/office/drawing/2014/main" id="{3C082D7A-1548-AD8B-F73D-274C57798B4B}"/>
              </a:ext>
            </a:extLst>
          </p:cNvPr>
          <p:cNvSpPr/>
          <p:nvPr/>
        </p:nvSpPr>
        <p:spPr>
          <a:xfrm>
            <a:off x="5005836" y="1258205"/>
            <a:ext cx="1968728" cy="1152486"/>
          </a:xfrm>
          <a:prstGeom prst="flowChartDocumen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Election Factory</a:t>
            </a:r>
            <a:endParaRPr lang="zh-CN" alt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1189EDB-A8B9-4645-C218-83BDBFF44D19}"/>
              </a:ext>
            </a:extLst>
          </p:cNvPr>
          <p:cNvCxnSpPr>
            <a:cxnSpLocks/>
          </p:cNvCxnSpPr>
          <p:nvPr/>
        </p:nvCxnSpPr>
        <p:spPr>
          <a:xfrm flipH="1">
            <a:off x="2479086" y="3063240"/>
            <a:ext cx="1711117" cy="11845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B76E576-78E3-EA0A-A18B-8CE6C8896DFD}"/>
              </a:ext>
            </a:extLst>
          </p:cNvPr>
          <p:cNvCxnSpPr>
            <a:cxnSpLocks/>
          </p:cNvCxnSpPr>
          <p:nvPr/>
        </p:nvCxnSpPr>
        <p:spPr>
          <a:xfrm flipH="1">
            <a:off x="4303222" y="3063240"/>
            <a:ext cx="702614" cy="11845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F96B28E-B713-12B3-2AA9-5E6000AC66B9}"/>
              </a:ext>
            </a:extLst>
          </p:cNvPr>
          <p:cNvCxnSpPr>
            <a:cxnSpLocks/>
          </p:cNvCxnSpPr>
          <p:nvPr/>
        </p:nvCxnSpPr>
        <p:spPr>
          <a:xfrm>
            <a:off x="5871638" y="3063240"/>
            <a:ext cx="166144" cy="11378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3B0F53F-D3B6-4B9B-3AD5-EC5ED4E34060}"/>
              </a:ext>
            </a:extLst>
          </p:cNvPr>
          <p:cNvCxnSpPr>
            <a:cxnSpLocks/>
          </p:cNvCxnSpPr>
          <p:nvPr/>
        </p:nvCxnSpPr>
        <p:spPr>
          <a:xfrm>
            <a:off x="6843511" y="3063240"/>
            <a:ext cx="1039379" cy="11378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lowchart: Document 20">
            <a:extLst>
              <a:ext uri="{FF2B5EF4-FFF2-40B4-BE49-F238E27FC236}">
                <a16:creationId xmlns:a16="http://schemas.microsoft.com/office/drawing/2014/main" id="{7D937E10-DB28-ECEA-4F3F-84C98A1ADCD5}"/>
              </a:ext>
            </a:extLst>
          </p:cNvPr>
          <p:cNvSpPr/>
          <p:nvPr/>
        </p:nvSpPr>
        <p:spPr>
          <a:xfrm>
            <a:off x="1575320" y="4546543"/>
            <a:ext cx="1252105" cy="670214"/>
          </a:xfrm>
          <a:prstGeom prst="flowChartDocumen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Election 1</a:t>
            </a:r>
            <a:endParaRPr lang="zh-CN" altLang="en-US" dirty="0"/>
          </a:p>
        </p:txBody>
      </p:sp>
      <p:sp>
        <p:nvSpPr>
          <p:cNvPr id="22" name="Flowchart: Document 21">
            <a:extLst>
              <a:ext uri="{FF2B5EF4-FFF2-40B4-BE49-F238E27FC236}">
                <a16:creationId xmlns:a16="http://schemas.microsoft.com/office/drawing/2014/main" id="{771AC3BE-0AA1-9A3F-6B3B-D24F1AE232F8}"/>
              </a:ext>
            </a:extLst>
          </p:cNvPr>
          <p:cNvSpPr/>
          <p:nvPr/>
        </p:nvSpPr>
        <p:spPr>
          <a:xfrm>
            <a:off x="3493525" y="4546543"/>
            <a:ext cx="1252105" cy="670214"/>
          </a:xfrm>
          <a:prstGeom prst="flowChartDocumen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Election 2</a:t>
            </a:r>
            <a:endParaRPr lang="zh-CN" altLang="en-US" dirty="0"/>
          </a:p>
        </p:txBody>
      </p:sp>
      <p:sp>
        <p:nvSpPr>
          <p:cNvPr id="23" name="Flowchart: Document 22">
            <a:extLst>
              <a:ext uri="{FF2B5EF4-FFF2-40B4-BE49-F238E27FC236}">
                <a16:creationId xmlns:a16="http://schemas.microsoft.com/office/drawing/2014/main" id="{FB09E36B-52CF-C5DE-7DB7-7C510E597FB9}"/>
              </a:ext>
            </a:extLst>
          </p:cNvPr>
          <p:cNvSpPr/>
          <p:nvPr/>
        </p:nvSpPr>
        <p:spPr>
          <a:xfrm>
            <a:off x="5411730" y="4546543"/>
            <a:ext cx="1252105" cy="670214"/>
          </a:xfrm>
          <a:prstGeom prst="flowChartDocumen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Election 3</a:t>
            </a:r>
            <a:endParaRPr lang="zh-CN" altLang="en-US" dirty="0"/>
          </a:p>
        </p:txBody>
      </p:sp>
      <p:sp>
        <p:nvSpPr>
          <p:cNvPr id="24" name="Flowchart: Document 23">
            <a:extLst>
              <a:ext uri="{FF2B5EF4-FFF2-40B4-BE49-F238E27FC236}">
                <a16:creationId xmlns:a16="http://schemas.microsoft.com/office/drawing/2014/main" id="{5CC921FF-6FB4-343C-68C6-6A1EF6AE00FB}"/>
              </a:ext>
            </a:extLst>
          </p:cNvPr>
          <p:cNvSpPr/>
          <p:nvPr/>
        </p:nvSpPr>
        <p:spPr>
          <a:xfrm>
            <a:off x="7329935" y="4546543"/>
            <a:ext cx="1252105" cy="670214"/>
          </a:xfrm>
          <a:prstGeom prst="flowChartDocumen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Election 4</a:t>
            </a:r>
            <a:endParaRPr lang="zh-CN" altLang="en-US" dirty="0"/>
          </a:p>
        </p:txBody>
      </p:sp>
      <p:sp>
        <p:nvSpPr>
          <p:cNvPr id="25" name="Flowchart: Document 24">
            <a:extLst>
              <a:ext uri="{FF2B5EF4-FFF2-40B4-BE49-F238E27FC236}">
                <a16:creationId xmlns:a16="http://schemas.microsoft.com/office/drawing/2014/main" id="{09F63913-4421-C05C-3088-B47E09269CE0}"/>
              </a:ext>
            </a:extLst>
          </p:cNvPr>
          <p:cNvSpPr/>
          <p:nvPr/>
        </p:nvSpPr>
        <p:spPr>
          <a:xfrm>
            <a:off x="9248140" y="4546543"/>
            <a:ext cx="1252105" cy="670214"/>
          </a:xfrm>
          <a:prstGeom prst="flowChartDocumen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… …</a:t>
            </a:r>
            <a:endParaRPr lang="zh-CN" altLang="en-US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B996696-1766-EF04-43D5-E7A2F1A4D417}"/>
              </a:ext>
            </a:extLst>
          </p:cNvPr>
          <p:cNvCxnSpPr>
            <a:cxnSpLocks/>
          </p:cNvCxnSpPr>
          <p:nvPr/>
        </p:nvCxnSpPr>
        <p:spPr>
          <a:xfrm>
            <a:off x="7557185" y="3063240"/>
            <a:ext cx="2317007" cy="11845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104C50CB-A866-DBE7-928C-81CBB4EDE565}"/>
              </a:ext>
            </a:extLst>
          </p:cNvPr>
          <p:cNvSpPr txBox="1"/>
          <p:nvPr/>
        </p:nvSpPr>
        <p:spPr>
          <a:xfrm>
            <a:off x="3416675" y="2593962"/>
            <a:ext cx="5076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rgbClr val="0070C0"/>
                </a:solidFill>
              </a:rPr>
              <a:t>createElection</a:t>
            </a:r>
            <a:r>
              <a:rPr lang="en-US" altLang="zh-CN" dirty="0">
                <a:solidFill>
                  <a:srgbClr val="0070C0"/>
                </a:solidFill>
              </a:rPr>
              <a:t>(_</a:t>
            </a:r>
            <a:r>
              <a:rPr lang="en-US" altLang="zh-CN" dirty="0" err="1">
                <a:solidFill>
                  <a:srgbClr val="0070C0"/>
                </a:solidFill>
              </a:rPr>
              <a:t>durationInMinutes</a:t>
            </a:r>
            <a:r>
              <a:rPr lang="en-US" altLang="zh-CN" dirty="0">
                <a:solidFill>
                  <a:srgbClr val="0070C0"/>
                </a:solidFill>
              </a:rPr>
              <a:t>, _</a:t>
            </a:r>
            <a:r>
              <a:rPr lang="en-US" altLang="zh-CN" dirty="0" err="1">
                <a:solidFill>
                  <a:srgbClr val="0070C0"/>
                </a:solidFill>
              </a:rPr>
              <a:t>electionName</a:t>
            </a:r>
            <a:r>
              <a:rPr lang="en-US" altLang="zh-CN" dirty="0">
                <a:solidFill>
                  <a:srgbClr val="0070C0"/>
                </a:solidFill>
              </a:rPr>
              <a:t>)</a:t>
            </a:r>
            <a:endParaRPr lang="zh-CN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9053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E42ED-3748-C92C-023E-1D03C23B8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14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C0B791-7F66-2906-54A7-9DC21C8CFCD8}"/>
              </a:ext>
            </a:extLst>
          </p:cNvPr>
          <p:cNvSpPr txBox="1"/>
          <p:nvPr/>
        </p:nvSpPr>
        <p:spPr>
          <a:xfrm>
            <a:off x="8552483" y="840636"/>
            <a:ext cx="307570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+mj-lt"/>
              </a:rPr>
              <a:t>Add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addConsituency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addCandidate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addVoter</a:t>
            </a:r>
            <a:endParaRPr lang="en-US" altLang="zh-CN" dirty="0"/>
          </a:p>
          <a:p>
            <a:r>
              <a:rPr lang="en-US" altLang="zh-CN" sz="2000" b="1" dirty="0">
                <a:latin typeface="+mj-lt"/>
              </a:rPr>
              <a:t>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getCandidatesIdList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getConsituencyCandidates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getCandidateConsituency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getConsituencyIdList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getVotersIdList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getConsituencyVoters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getVoterConsituency</a:t>
            </a:r>
            <a:endParaRPr lang="en-US" altLang="zh-CN" dirty="0"/>
          </a:p>
          <a:p>
            <a:r>
              <a:rPr lang="en-US" altLang="zh-CN" sz="2000" b="1" dirty="0">
                <a:latin typeface="+mj-lt"/>
              </a:rPr>
              <a:t>Vote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castVote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getVotes</a:t>
            </a:r>
            <a:endParaRPr lang="en-US" altLang="zh-CN" dirty="0"/>
          </a:p>
          <a:p>
            <a:r>
              <a:rPr lang="en-US" altLang="zh-CN" sz="2000" b="1" dirty="0">
                <a:latin typeface="+mj-lt"/>
              </a:rPr>
              <a:t>Close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closeElection</a:t>
            </a:r>
            <a:endParaRPr lang="zh-CN" altLang="en-US" dirty="0"/>
          </a:p>
        </p:txBody>
      </p:sp>
      <p:sp>
        <p:nvSpPr>
          <p:cNvPr id="8" name="Flowchart: Document 7">
            <a:extLst>
              <a:ext uri="{FF2B5EF4-FFF2-40B4-BE49-F238E27FC236}">
                <a16:creationId xmlns:a16="http://schemas.microsoft.com/office/drawing/2014/main" id="{487C511F-9449-7178-7711-FFA0B79B6AAC}"/>
              </a:ext>
            </a:extLst>
          </p:cNvPr>
          <p:cNvSpPr/>
          <p:nvPr/>
        </p:nvSpPr>
        <p:spPr>
          <a:xfrm>
            <a:off x="865186" y="739878"/>
            <a:ext cx="1923871" cy="1118526"/>
          </a:xfrm>
          <a:prstGeom prst="flowChartDocumen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/>
              <a:t>Election</a:t>
            </a:r>
            <a:endParaRPr lang="zh-CN" altLang="en-US" sz="3600" dirty="0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DD3A00EB-C914-FEA0-939C-2A7FA91D2D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2128" y="2925064"/>
            <a:ext cx="1886674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b="1" dirty="0">
                <a:latin typeface="Arial Unicode MS"/>
              </a:rPr>
              <a:t>Voter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CN" altLang="zh-CN" dirty="0">
                <a:latin typeface="Arial Unicode MS"/>
              </a:rPr>
              <a:t>voterId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CN" altLang="zh-CN" dirty="0">
                <a:latin typeface="Arial Unicode MS"/>
              </a:rPr>
              <a:t>name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CN" altLang="zh-CN" dirty="0">
                <a:latin typeface="Arial Unicode MS"/>
              </a:rPr>
              <a:t>email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CN" altLang="zh-CN" dirty="0">
                <a:latin typeface="Arial Unicode MS"/>
              </a:rPr>
              <a:t>phoneNo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CN" altLang="zh-CN" dirty="0">
                <a:latin typeface="Arial Unicode MS"/>
              </a:rPr>
              <a:t>consituencyId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CN" altLang="zh-CN" dirty="0">
                <a:latin typeface="Arial Unicode MS"/>
              </a:rPr>
              <a:t>age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CN" altLang="zh-CN" dirty="0">
                <a:latin typeface="Arial Unicode MS"/>
              </a:rPr>
              <a:t>voted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4DBD6574-F894-3358-C1B8-736E07B4D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0517" y="2925064"/>
            <a:ext cx="1923871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Candidate</a:t>
            </a:r>
            <a:endParaRPr kumimoji="0" lang="zh-CN" altLang="zh-CN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candidateId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name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email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phoneNo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consituencyId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party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7822F6EF-59F9-C8C2-2B72-28D0B49CF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6103" y="2925064"/>
            <a:ext cx="200785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Consituency</a:t>
            </a:r>
            <a:endParaRPr kumimoji="0" lang="zh-CN" altLang="zh-CN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consituencyId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name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candidates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voters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votes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(mapping of address to uint)</a:t>
            </a:r>
            <a:endParaRPr kumimoji="0" lang="zh-CN" altLang="zh-CN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winner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1CD4165-FBB3-A0A0-4414-6ECB80F3AB4F}"/>
              </a:ext>
            </a:extLst>
          </p:cNvPr>
          <p:cNvSpPr/>
          <p:nvPr/>
        </p:nvSpPr>
        <p:spPr>
          <a:xfrm>
            <a:off x="584827" y="2422271"/>
            <a:ext cx="7450332" cy="3283732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D84ECEF-E701-330B-0C50-D9D3F0BB19A6}"/>
              </a:ext>
            </a:extLst>
          </p:cNvPr>
          <p:cNvSpPr/>
          <p:nvPr/>
        </p:nvSpPr>
        <p:spPr>
          <a:xfrm>
            <a:off x="8315518" y="488986"/>
            <a:ext cx="3300247" cy="521701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B072C8-B063-F7F4-3030-37C93B9B0C32}"/>
              </a:ext>
            </a:extLst>
          </p:cNvPr>
          <p:cNvSpPr txBox="1"/>
          <p:nvPr/>
        </p:nvSpPr>
        <p:spPr>
          <a:xfrm>
            <a:off x="865186" y="2460883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Structs</a:t>
            </a:r>
            <a:endParaRPr lang="zh-CN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ADF50B-86C5-E435-EBF1-EA82D5ED945C}"/>
              </a:ext>
            </a:extLst>
          </p:cNvPr>
          <p:cNvSpPr txBox="1"/>
          <p:nvPr/>
        </p:nvSpPr>
        <p:spPr>
          <a:xfrm>
            <a:off x="8552483" y="506665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Functions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A183C2B-95D9-5EFC-0371-8D09720EE525}"/>
              </a:ext>
            </a:extLst>
          </p:cNvPr>
          <p:cNvSpPr/>
          <p:nvPr/>
        </p:nvSpPr>
        <p:spPr>
          <a:xfrm>
            <a:off x="350595" y="278296"/>
            <a:ext cx="11490810" cy="5661327"/>
          </a:xfrm>
          <a:prstGeom prst="roundRect">
            <a:avLst>
              <a:gd name="adj" fmla="val 10732"/>
            </a:avLst>
          </a:prstGeom>
          <a:noFill/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B53712-5F69-FF23-3D09-63B09AE6935E}"/>
              </a:ext>
            </a:extLst>
          </p:cNvPr>
          <p:cNvSpPr txBox="1"/>
          <p:nvPr/>
        </p:nvSpPr>
        <p:spPr>
          <a:xfrm>
            <a:off x="3828579" y="421144"/>
            <a:ext cx="1813521" cy="2123658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altLang="zh-CN" sz="2000" b="1" dirty="0"/>
              <a:t>Variables</a:t>
            </a:r>
          </a:p>
          <a:p>
            <a:r>
              <a:rPr lang="en-US" altLang="zh-CN" sz="1600" dirty="0"/>
              <a:t>admin</a:t>
            </a:r>
          </a:p>
          <a:p>
            <a:r>
              <a:rPr lang="en-US" altLang="zh-CN" sz="1600" dirty="0" err="1"/>
              <a:t>electionName</a:t>
            </a:r>
            <a:endParaRPr lang="en-US" altLang="zh-CN" sz="1600" dirty="0"/>
          </a:p>
          <a:p>
            <a:r>
              <a:rPr lang="en-US" altLang="zh-CN" sz="1600" dirty="0" err="1"/>
              <a:t>electionStatus</a:t>
            </a:r>
            <a:endParaRPr lang="en-US" altLang="zh-CN" sz="1600" dirty="0"/>
          </a:p>
          <a:p>
            <a:r>
              <a:rPr lang="en-US" altLang="zh-CN" sz="1600" dirty="0" err="1"/>
              <a:t>electionDuration</a:t>
            </a:r>
            <a:endParaRPr lang="en-US" altLang="zh-CN" sz="1600" dirty="0"/>
          </a:p>
          <a:p>
            <a:r>
              <a:rPr lang="en-US" altLang="zh-CN" sz="1600" dirty="0" err="1"/>
              <a:t>votersList</a:t>
            </a:r>
            <a:endParaRPr lang="en-US" altLang="zh-CN" sz="1600" dirty="0"/>
          </a:p>
          <a:p>
            <a:r>
              <a:rPr lang="en-US" altLang="zh-CN" sz="1600" dirty="0" err="1"/>
              <a:t>voterExist</a:t>
            </a:r>
            <a:endParaRPr lang="en-US" altLang="zh-CN" sz="1600" dirty="0"/>
          </a:p>
          <a:p>
            <a:endParaRPr lang="zh-CN" altLang="en-US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AB0E03-0499-FE15-8FCA-920B9AA019F7}"/>
              </a:ext>
            </a:extLst>
          </p:cNvPr>
          <p:cNvSpPr txBox="1"/>
          <p:nvPr/>
        </p:nvSpPr>
        <p:spPr>
          <a:xfrm>
            <a:off x="5654527" y="421144"/>
            <a:ext cx="226424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 err="1"/>
              <a:t>voterData</a:t>
            </a:r>
            <a:endParaRPr lang="en-US" altLang="zh-CN" sz="1600" dirty="0"/>
          </a:p>
          <a:p>
            <a:r>
              <a:rPr lang="en-US" altLang="zh-CN" sz="1600" dirty="0" err="1"/>
              <a:t>candidateList</a:t>
            </a:r>
            <a:endParaRPr lang="en-US" altLang="zh-CN" sz="1600" dirty="0"/>
          </a:p>
          <a:p>
            <a:r>
              <a:rPr lang="en-US" altLang="zh-CN" sz="1600" dirty="0" err="1"/>
              <a:t>candidateExist</a:t>
            </a:r>
            <a:endParaRPr lang="en-US" altLang="zh-CN" sz="1600" dirty="0"/>
          </a:p>
          <a:p>
            <a:r>
              <a:rPr lang="en-US" altLang="zh-CN" sz="1600" dirty="0" err="1"/>
              <a:t>candidateData</a:t>
            </a:r>
            <a:endParaRPr lang="en-US" altLang="zh-CN" sz="1600" dirty="0"/>
          </a:p>
          <a:p>
            <a:r>
              <a:rPr lang="en-US" altLang="zh-CN" sz="1600" dirty="0" err="1"/>
              <a:t>consituencyList</a:t>
            </a:r>
            <a:endParaRPr lang="en-US" altLang="zh-CN" sz="1600" dirty="0"/>
          </a:p>
          <a:p>
            <a:r>
              <a:rPr lang="en-US" altLang="zh-CN" sz="1600" dirty="0" err="1"/>
              <a:t>consituencyExist</a:t>
            </a:r>
            <a:endParaRPr lang="en-US" altLang="zh-CN" sz="1600" dirty="0"/>
          </a:p>
          <a:p>
            <a:r>
              <a:rPr lang="en-US" altLang="zh-CN" sz="1600" dirty="0" err="1"/>
              <a:t>consituencyData</a:t>
            </a:r>
            <a:r>
              <a:rPr lang="en-US" altLang="zh-CN" sz="16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C19B48-2D59-DC91-8AAD-E49F29A4D743}"/>
              </a:ext>
            </a:extLst>
          </p:cNvPr>
          <p:cNvSpPr txBox="1"/>
          <p:nvPr/>
        </p:nvSpPr>
        <p:spPr>
          <a:xfrm>
            <a:off x="1875073" y="6112010"/>
            <a:ext cx="10316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https://github.com/schadokar/election-ethereum-react-dapp/blob/master/ethereum/contracts/election.sol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0434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A74A8-537E-126F-5B75-91913630D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0727"/>
            <a:ext cx="10972800" cy="937531"/>
          </a:xfrm>
        </p:spPr>
        <p:txBody>
          <a:bodyPr anchor="ctr">
            <a:normAutofit/>
          </a:bodyPr>
          <a:lstStyle/>
          <a:p>
            <a:r>
              <a:rPr lang="en-US" altLang="zh-CN" dirty="0"/>
              <a:t>Let’s try to run it!!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82608-7D4B-97B1-8501-2AE2B083E8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https://github.com/schadokar/election-ethereum-react-dapp</a:t>
            </a:r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AF0208-4408-21E5-592A-46EF2E7C372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437" t="14235" r="15705" b="6733"/>
          <a:stretch/>
        </p:blipFill>
        <p:spPr>
          <a:xfrm>
            <a:off x="6692201" y="1673051"/>
            <a:ext cx="4054511" cy="3955621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A1AA46-D07C-8817-76A3-19C4D7A7A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4800" y="6492875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E6562B1-0B0F-0246-9532-09536BC2AE59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83436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AEB063EA-B6E8-4D2D-A19E-72665867951E}" vid="{67EFF024-3885-4F34-96D2-70AE64ED73D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201eaeb-90d1-45f0-b9e8-29b302db3b4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C6CA3FDC2EC741AE7478374A89F446" ma:contentTypeVersion="16" ma:contentTypeDescription="Create a new document." ma:contentTypeScope="" ma:versionID="f758e4d92fba5cd6fdd69e49d476e021">
  <xsd:schema xmlns:xsd="http://www.w3.org/2001/XMLSchema" xmlns:xs="http://www.w3.org/2001/XMLSchema" xmlns:p="http://schemas.microsoft.com/office/2006/metadata/properties" xmlns:ns3="25cbc1e5-5dc5-4c62-9744-e742888e6e90" xmlns:ns4="2201eaeb-90d1-45f0-b9e8-29b302db3b4b" targetNamespace="http://schemas.microsoft.com/office/2006/metadata/properties" ma:root="true" ma:fieldsID="c4a9fd74dfc4b0100693b25f63e85f3e" ns3:_="" ns4:_="">
    <xsd:import namespace="25cbc1e5-5dc5-4c62-9744-e742888e6e90"/>
    <xsd:import namespace="2201eaeb-90d1-45f0-b9e8-29b302db3b4b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LengthInSeconds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Location" minOccurs="0"/>
                <xsd:element ref="ns4:MediaServiceOCR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cbc1e5-5dc5-4c62-9744-e742888e6e9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1eaeb-90d1-45f0-b9e8-29b302db3b4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79E863A-CA42-4259-B587-1DF7CBA69840}">
  <ds:schemaRefs>
    <ds:schemaRef ds:uri="http://purl.org/dc/dcmitype/"/>
    <ds:schemaRef ds:uri="http://schemas.microsoft.com/office/2006/documentManagement/types"/>
    <ds:schemaRef ds:uri="25cbc1e5-5dc5-4c62-9744-e742888e6e90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2201eaeb-90d1-45f0-b9e8-29b302db3b4b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8C3471EC-26CE-4663-AA75-D1EE0655896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720DD5A-7E47-4059-B471-A3C6195F36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cbc1e5-5dc5-4c62-9744-e742888e6e90"/>
    <ds:schemaRef ds:uri="2201eaeb-90d1-45f0-b9e8-29b302db3b4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489a2b12-d97d-410e-8804-b602bba5fc03}" enabled="1" method="Privileged" siteId="{15ce9348-be2a-462b-8fc0-e1765a9b204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478</TotalTime>
  <Words>579</Words>
  <Application>Microsoft Office PowerPoint</Application>
  <PresentationFormat>宽屏</PresentationFormat>
  <Paragraphs>141</Paragraphs>
  <Slides>15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Arial Unicode MS</vt:lpstr>
      <vt:lpstr>Aptos</vt:lpstr>
      <vt:lpstr>Arial</vt:lpstr>
      <vt:lpstr>1_Office Theme</vt:lpstr>
      <vt:lpstr>CE/CZ4153 Tutorial dApp Development Workshop</vt:lpstr>
      <vt:lpstr>What is dApp?</vt:lpstr>
      <vt:lpstr>Why developing dApp? Reliable Service</vt:lpstr>
      <vt:lpstr>Why developing dApp? New Opportunities!</vt:lpstr>
      <vt:lpstr>How to develop a dApp?</vt:lpstr>
      <vt:lpstr>Lock dApp</vt:lpstr>
      <vt:lpstr>Lock dApp</vt:lpstr>
      <vt:lpstr>Lock dApp</vt:lpstr>
      <vt:lpstr>Lock dApp</vt:lpstr>
      <vt:lpstr>Lock dApp</vt:lpstr>
      <vt:lpstr>Let’s try to run it!!</vt:lpstr>
      <vt:lpstr>Vote dApp</vt:lpstr>
      <vt:lpstr>Vote dApp</vt:lpstr>
      <vt:lpstr>PowerPoint 演示文稿</vt:lpstr>
      <vt:lpstr>Let’s try to run it!!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#ZHANG CHENGXUAN#</dc:creator>
  <cp:lastModifiedBy>#ZHANG CHENGXUAN#</cp:lastModifiedBy>
  <cp:revision>7</cp:revision>
  <dcterms:created xsi:type="dcterms:W3CDTF">2024-05-23T13:59:21Z</dcterms:created>
  <dcterms:modified xsi:type="dcterms:W3CDTF">2025-09-10T03:56:18Z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0x0101009CC6CA3FDC2EC741AE7478374A89F446</vt:lpwstr>
  </property>
</Properties>
</file>